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20c832355442f7" /><Relationship Type="http://schemas.openxmlformats.org/officeDocument/2006/relationships/extended-properties" Target="/docProps/app.xml" Id="R32786cf4ca4e493e" /><Relationship Type="http://schemas.openxmlformats.org/officeDocument/2006/relationships/officeDocument" Target="/ppt/presentation.xml" Id="R8f0c942add0c42cf" /></Relationships>
</file>

<file path=ppt/presentation.xml><?xml version="1.0" encoding="utf-8"?>
<p:presentation xmlns:p="http://schemas.openxmlformats.org/presentationml/2006/main">
  <p:sldMasterIdLst>
    <p:sldMasterId xmlns:r="http://schemas.openxmlformats.org/officeDocument/2006/relationships" id="2147483648" r:id="Rddb477be907c4dea"/>
  </p:sldMasterIdLst>
  <p:notesMasterIdLst>
    <p:notesMasterId xmlns:r="http://schemas.openxmlformats.org/officeDocument/2006/relationships" r:id="R3610c9efbe9f4010"/>
  </p:notesMasterIdLst>
  <p:sldIdLst>
    <p:sldId xmlns:r="http://schemas.openxmlformats.org/officeDocument/2006/relationships" id="256" r:id="R717c7fe295e943b9"/>
    <p:sldId xmlns:r="http://schemas.openxmlformats.org/officeDocument/2006/relationships" id="257" r:id="R9d6f5dcaac644eb5"/>
    <p:sldId xmlns:r="http://schemas.openxmlformats.org/officeDocument/2006/relationships" id="258" r:id="R1a9c89ca429248eb"/>
    <p:sldId xmlns:r="http://schemas.openxmlformats.org/officeDocument/2006/relationships" id="259" r:id="Rec5c6b228f084183"/>
    <p:sldId xmlns:r="http://schemas.openxmlformats.org/officeDocument/2006/relationships" id="260" r:id="R4adfd0f2ce94482c"/>
    <p:sldId xmlns:r="http://schemas.openxmlformats.org/officeDocument/2006/relationships" id="261" r:id="Rd6c2aa2629c2478a"/>
    <p:sldId xmlns:r="http://schemas.openxmlformats.org/officeDocument/2006/relationships" id="262" r:id="R7da5e01365b44f46"/>
    <p:sldId xmlns:r="http://schemas.openxmlformats.org/officeDocument/2006/relationships" id="263" r:id="Rd0ef2fb84d5a4b44"/>
    <p:sldId xmlns:r="http://schemas.openxmlformats.org/officeDocument/2006/relationships" id="264" r:id="Rc906f88df4d54d01"/>
    <p:sldId xmlns:r="http://schemas.openxmlformats.org/officeDocument/2006/relationships" id="265" r:id="R132f760d2ddc48c5"/>
    <p:sldId xmlns:r="http://schemas.openxmlformats.org/officeDocument/2006/relationships" id="266" r:id="Rdfefa1ec6b364121"/>
    <p:sldId xmlns:r="http://schemas.openxmlformats.org/officeDocument/2006/relationships" id="267" r:id="Rc75ffb09ba5749b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74991a92fe4da1" /><Relationship Type="http://schemas.openxmlformats.org/officeDocument/2006/relationships/slideMaster" Target="/ppt/slideMasters/slideMaster1.xml" Id="Rddb477be907c4dea" /><Relationship Type="http://schemas.openxmlformats.org/officeDocument/2006/relationships/notesMaster" Target="/ppt/notesMasters/notesMaster1.xml" Id="R3610c9efbe9f4010" /><Relationship Type="http://schemas.openxmlformats.org/officeDocument/2006/relationships/presProps" Target="/ppt/presProps.xml" Id="R4c52794179684541" /><Relationship Type="http://schemas.openxmlformats.org/officeDocument/2006/relationships/tableStyles" Target="/ppt/tableStyles.xml" Id="R5759fc3d7d6b47c2" /><Relationship Type="http://schemas.openxmlformats.org/officeDocument/2006/relationships/slide" Target="/ppt/slides/slide1.xml" Id="R717c7fe295e943b9" /><Relationship Type="http://schemas.openxmlformats.org/officeDocument/2006/relationships/slide" Target="/ppt/slides/slide2.xml" Id="R9d6f5dcaac644eb5" /><Relationship Type="http://schemas.openxmlformats.org/officeDocument/2006/relationships/slide" Target="/ppt/slides/slide3.xml" Id="R1a9c89ca429248eb" /><Relationship Type="http://schemas.openxmlformats.org/officeDocument/2006/relationships/slide" Target="/ppt/slides/slide4.xml" Id="Rec5c6b228f084183" /><Relationship Type="http://schemas.openxmlformats.org/officeDocument/2006/relationships/slide" Target="/ppt/slides/slide5.xml" Id="R4adfd0f2ce94482c" /><Relationship Type="http://schemas.openxmlformats.org/officeDocument/2006/relationships/slide" Target="/ppt/slides/slide6.xml" Id="Rd6c2aa2629c2478a" /><Relationship Type="http://schemas.openxmlformats.org/officeDocument/2006/relationships/slide" Target="/ppt/slides/slide7.xml" Id="R7da5e01365b44f46" /><Relationship Type="http://schemas.openxmlformats.org/officeDocument/2006/relationships/slide" Target="/ppt/slides/slide8.xml" Id="Rd0ef2fb84d5a4b44" /><Relationship Type="http://schemas.openxmlformats.org/officeDocument/2006/relationships/slide" Target="/ppt/slides/slide9.xml" Id="Rc906f88df4d54d01" /><Relationship Type="http://schemas.openxmlformats.org/officeDocument/2006/relationships/slide" Target="/ppt/slides/slide10.xml" Id="R132f760d2ddc48c5" /><Relationship Type="http://schemas.openxmlformats.org/officeDocument/2006/relationships/slide" Target="/ppt/slides/slide11.xml" Id="Rdfefa1ec6b364121" /><Relationship Type="http://schemas.openxmlformats.org/officeDocument/2006/relationships/slide" Target="/ppt/slides/slide12.xml" Id="Rc75ffb09ba5749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d21887879d42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74857049124a49" /><Relationship Type="http://schemas.openxmlformats.org/officeDocument/2006/relationships/notesMaster" Target="/ppt/notesMasters/notesMaster1.xml" Id="Rc62066a5158c47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315f22fb3941ae" /><Relationship Type="http://schemas.openxmlformats.org/officeDocument/2006/relationships/notesMaster" Target="/ppt/notesMasters/notesMaster1.xml" Id="R7aa8429ccbe444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979f27bd3942d1" /><Relationship Type="http://schemas.openxmlformats.org/officeDocument/2006/relationships/notesMaster" Target="/ppt/notesMasters/notesMaster1.xml" Id="R8fe3b9dea05842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8627c09cdd481f" /><Relationship Type="http://schemas.openxmlformats.org/officeDocument/2006/relationships/notesMaster" Target="/ppt/notesMasters/notesMaster1.xml" Id="R34bb6964bfb84c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f64658abf446a4" /><Relationship Type="http://schemas.openxmlformats.org/officeDocument/2006/relationships/notesMaster" Target="/ppt/notesMasters/notesMaster1.xml" Id="Rf0ba9811b65343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f2503986524ad3" /><Relationship Type="http://schemas.openxmlformats.org/officeDocument/2006/relationships/notesMaster" Target="/ppt/notesMasters/notesMaster1.xml" Id="R2794f814c89f4a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97bbd54a774ee7" /><Relationship Type="http://schemas.openxmlformats.org/officeDocument/2006/relationships/notesMaster" Target="/ppt/notesMasters/notesMaster1.xml" Id="R0a4cd1ea333f4f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9bf156b8b644f2" /><Relationship Type="http://schemas.openxmlformats.org/officeDocument/2006/relationships/notesMaster" Target="/ppt/notesMasters/notesMaster1.xml" Id="Rde6d11c9691f4e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39588f10b34b5c" /><Relationship Type="http://schemas.openxmlformats.org/officeDocument/2006/relationships/notesMaster" Target="/ppt/notesMasters/notesMaster1.xml" Id="Ra5d4c77bb1bc4e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c6fae454b744eb" /><Relationship Type="http://schemas.openxmlformats.org/officeDocument/2006/relationships/notesMaster" Target="/ppt/notesMasters/notesMaster1.xml" Id="R27b7b0066f3042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37e719605d48d6" /><Relationship Type="http://schemas.openxmlformats.org/officeDocument/2006/relationships/notesMaster" Target="/ppt/notesMasters/notesMaster1.xml" Id="R4fb3406c6be947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e09adb04584fe0" /><Relationship Type="http://schemas.openxmlformats.org/officeDocument/2006/relationships/notesMaster" Target="/ppt/notesMasters/notesMaster1.xml" Id="R2e6d671c3aa540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Open with the gap between a compelling disease demo and a credible evidence chain. This project is intentionally presented as a research and educational system, not a crop doctor.</a:t>
            </a:r>
          </a:p>
          <a:p xmlns:a="http://schemas.openxmlformats.org/drawingml/2006/main">
            <a:r>
              <a:t>10-minute talk track: Frame the communication job: make every result traceable, keep the controlled-dataset boundary visible, and treat the attractive product moment as the end of an evidence chain rather than the starting point.</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Walk the verified classifier main line from audited data through serving, then point down to the amber VLM branch as a bounded exploratory extension rather than the next pipeline stage.</a:t>
            </a:r>
          </a:p>
          <a:p xmlns:a="http://schemas.openxmlformats.org/drawingml/2006/main">
            <a:r>
              <a:t>10-minute talk track: Explain the stable interfaces. Training, evaluation, inference, and Streamlit reuse label and preprocessing contracts, so the classifier proof chain is complete at Serve. Only then introduce the dashed amber VLM branch: it consumes bounded classifier context, remains exploratory, and does not replace or extend the classifier evidence claim.</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Lead with the 227 overlap finding. It changes the wording of every downstream metric without making the official split useless for model comparison.</a:t>
            </a:r>
          </a:p>
          <a:p xmlns:a="http://schemas.openxmlformats.org/drawingml/2006/main">
            <a:r>
              <a:t>10-minute talk track: Describe the audit process and distinction between sample-level and entity-level isolation. The safe conclusion is comparative performance under the published split, not real-field reliability or strict leakage freedom.</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Use the Pareto view to show why one model cannot answer both research accuracy and lightweight deployment questions.</a:t>
            </a:r>
          </a:p>
          <a:p xmlns:a="http://schemas.openxmlformats.org/drawingml/2006/main">
            <a:r>
              <a:t>10-minute talk track: ResNet50 reached 0.9830 test accuracy and 0.9743 Macro F1. MobileNetV2 offered 2.27 million parameters, 0.31G FLOPs, and measured batch-32 MPS throughput of 644.3 images per second excluding preprocessing.</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Show that the final model was selected by a controlled ablation program rather than by a single lucky score.</a:t>
            </a:r>
          </a:p>
          <a:p xmlns:a="http://schemas.openxmlformats.org/drawingml/2006/main">
            <a:r>
              <a:t>10-minute talk track: The selected ResNet50 combines label smoothing and a cosine schedule. Accuracy 0.9953 and Macro F1 0.9941 are a seed-42 official-split result and inherit the documented split limitation.</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Compare baseline and final attention patterns while keeping the interpretation boundary explicit: the heatmap shows relevance to a prediction, not a causal biological explanation.</a:t>
            </a:r>
          </a:p>
          <a:p xmlns:a="http://schemas.openxmlformats.org/drawingml/2006/main">
            <a:r>
              <a:t>10-minute talk track: The Week 4 atlas fixes 24 samples across correct and incorrect, high- and low-confidence groups. It also includes error analysis, attention review, and reproducibility checks so attractive examples are not cherry-picked.</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Use the reliability diagram to separate correctness from confidence quality. High accuracy does not guarantee well-calibrated probabilities.</a:t>
            </a:r>
          </a:p>
          <a:p xmlns:a="http://schemas.openxmlformats.org/drawingml/2006/main">
            <a:r>
              <a:t>10-minute talk track: Report ECE 0.0965, MCE 0.3348, and Brier 0.0140 as top-label calibration metrics. This is not full multiclass calibration and should not be presented as a guarantee for high-stakes decisions.</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Connect engineering evidence to the product experience: the same serving layer drives the local app and Apple container flow with Top-5 and Grad-CAM.</a:t>
            </a:r>
          </a:p>
          <a:p xmlns:a="http://schemas.openxmlformats.org/drawingml/2006/main">
            <a:r>
              <a:t>10-minute talk track: The 129.8 millisecond figure is one CPU-only Apple container fixed-example total, not a latency distribution. Keep the educational closed-set warning visible and avoid MPS claims inside the container.</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Show the progression from unconstrained to choice-based prompts. Format compliance and risk-word flags improved, but condition recognition stayed weak.</a:t>
            </a:r>
          </a:p>
          <a:p xmlns:a="http://schemas.openxmlformats.org/drawingml/2006/main">
            <a:r>
              <a:t>10-minute talk track: Original scored 0 of 15, short 10 of 15, choice 11 of 15, and few-shot choice 11 of 15. Plant and health-status questions drove the gains; disease condition remained at best 1 of 5.</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Treat refusal as a capability, not an error. The prototype only summarizes bounded educational evidence when confidence and scope allow it.</a:t>
            </a:r>
          </a:p>
          <a:p xmlns:a="http://schemas.openxmlformats.org/drawingml/2006/main">
            <a:r>
              <a:t>10-minute talk track: Walk through the four tested actions: educational summary, high-risk refusal, low-confidence refusal, and out-of-scope refusal. It does not provide pesticide, dosage, regulatory, or professional diagnostic guidance.</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Pause on the distinction between verified, smoke-tested, and pending. This vocabulary prevents a pipeline check from becoming an inflated research claim.</a:t>
            </a:r>
          </a:p>
          <a:p xmlns:a="http://schemas.openxmlformats.org/drawingml/2006/main">
            <a:r>
              <a:t>10-minute talk track: Classification, explainability, and demo work have direct evidence. Qwen and the assistant are smoke-tested prototypes. LoRA, per-entry manual VQA audit, field validation, and an entity-isolated study remain pending.</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5-minute talk track: Close by resolving the opening: the strongest contribution is the evidence chain and the discipline to state its limits.</a:t>
            </a:r>
          </a:p>
          <a:p xmlns:a="http://schemas.openxmlformats.org/drawingml/2006/main">
            <a:r>
              <a:t>10-minute talk track: Week 8 should add no major feature. Reproduce in a clean environment, audit public artifacts and claims, correct any drift, and make a deliberate release decision without overstating field or VLM capability.</a:t>
            </a:r>
          </a:p>
          <a:p xmlns:a="http://schemas.openxmlformats.org/drawingml/2006/main">
            <a:r>
              <a:t>Integrity reminder: cite the evidence path on the slide and do not extend these results to field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65e545628f4d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c914e75b4d4b6c" /><Relationship Type="http://schemas.openxmlformats.org/officeDocument/2006/relationships/slideLayout" Target="/ppt/slideLayouts/slideLayout1.xml" Id="Ra4ba3611281d4d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ba3611281d4d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3422f5054c4ff7" /><Relationship Type="http://schemas.openxmlformats.org/officeDocument/2006/relationships/image" Target="/ppt/media/image.png" Id="R9da685b34d914192" /><Relationship Type="http://schemas.openxmlformats.org/officeDocument/2006/relationships/notesSlide" Target="/ppt/notesSlides/notesSlide1.xml" Id="R35788eeea2e147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e2a0dca1d54317" /><Relationship Type="http://schemas.openxmlformats.org/officeDocument/2006/relationships/notesSlide" Target="/ppt/notesSlides/notesSlide2.xml" Id="Rcfd4017c43aa4e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ffba9861fd4108" /><Relationship Type="http://schemas.openxmlformats.org/officeDocument/2006/relationships/notesSlide" Target="/ppt/notesSlides/notesSlide3.xml" Id="Rdee50646ee4e4a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afd0f663d343d7" /><Relationship Type="http://schemas.openxmlformats.org/officeDocument/2006/relationships/image" Target="/ppt/media/image2.png" Id="R8613158a294948c6" /><Relationship Type="http://schemas.openxmlformats.org/officeDocument/2006/relationships/notesSlide" Target="/ppt/notesSlides/notesSlide4.xml" Id="R788d9f93f03740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880ff4c56546eb" /><Relationship Type="http://schemas.openxmlformats.org/officeDocument/2006/relationships/image" Target="/ppt/media/image3.png" Id="R3f350d159d2e4181" /><Relationship Type="http://schemas.openxmlformats.org/officeDocument/2006/relationships/notesSlide" Target="/ppt/notesSlides/notesSlide5.xml" Id="Rb307ecb29c1047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44fbd93de849fb" /><Relationship Type="http://schemas.openxmlformats.org/officeDocument/2006/relationships/image" Target="/ppt/media/image4.png" Id="Rf8542669e25d4895" /><Relationship Type="http://schemas.openxmlformats.org/officeDocument/2006/relationships/notesSlide" Target="/ppt/notesSlides/notesSlide6.xml" Id="Re8179c0c69b445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773477b29e4667" /><Relationship Type="http://schemas.openxmlformats.org/officeDocument/2006/relationships/image" Target="/ppt/media/image5.png" Id="R991231d9581c4a26" /><Relationship Type="http://schemas.openxmlformats.org/officeDocument/2006/relationships/notesSlide" Target="/ppt/notesSlides/notesSlide7.xml" Id="R3a26f30c56e94b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c5044ba9e04a3e" /><Relationship Type="http://schemas.openxmlformats.org/officeDocument/2006/relationships/image" Target="/ppt/media/image6.png" Id="R0a130cafd3eb47af" /><Relationship Type="http://schemas.openxmlformats.org/officeDocument/2006/relationships/notesSlide" Target="/ppt/notesSlides/notesSlide8.xml" Id="Rda31ce62e9154e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642219ac4a4d7e" /><Relationship Type="http://schemas.openxmlformats.org/officeDocument/2006/relationships/notesSlide" Target="/ppt/notesSlides/notesSlide9.xml" Id="R28c16278a92f41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d1980797b1453a" /><Relationship Type="http://schemas.openxmlformats.org/officeDocument/2006/relationships/notesSlide" Target="/ppt/notesSlides/notesSlide10.xml" Id="Re511438ff45f4d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6f47cb6c204620" /><Relationship Type="http://schemas.openxmlformats.org/officeDocument/2006/relationships/notesSlide" Target="/ppt/notesSlides/notesSlide11.xml" Id="Rdf716618107044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d9629a702b4cf2" /><Relationship Type="http://schemas.openxmlformats.org/officeDocument/2006/relationships/notesSlide" Target="/ppt/notesSlides/notesSlide12.xml" Id="R1f07c62b5d4b4682" /></Relationships>
</file>

<file path=ppt/slides/slide1.xml><?xml version="1.0" encoding="utf-8"?>
<p:sld xmlns:p="http://schemas.openxmlformats.org/presentationml/2006/main">
  <p:cSld>
    <p:bg>
      <p:bgPr>
        <a:solidFill xmlns:a="http://schemas.openxmlformats.org/drawingml/2006/main">
          <a:srgbClr val="05060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3599B1-11E2-4F31-8777-08CE64EEEE4D}"/>
              </a:ext>
            </a:extLst>
          </p:cNvPr>
          <p:cNvSpPr>
            <a:spLocks xmlns:a="http://schemas.openxmlformats.org/drawingml/2006/main" noGrp="1"/>
          </p:cNvSpPr>
          <p:nvPr/>
        </p:nvSpPr>
        <p:spPr>
          <a:xfrm xmlns:a="http://schemas.openxmlformats.org/drawingml/2006/main">
            <a:off x="685800" y="6667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0D158"/>
                </a:solidFill>
              </a:defRPr>
            </a:pPr>
            <a:r>
              <a:rPr sz="1350" b="1">
                <a:solidFill>
                  <a:srgbClr val="30D158"/>
                </a:solidFill>
              </a:rPr>
              <a:t>RESEARCH DEMO · PLANTVILLAGE</a:t>
            </a:r>
          </a:p>
        </p:txBody>
      </p:sp>
      <p:sp>
        <p:nvSpPr>
          <p:cNvPr id="2" name="">
            <a:extLst xmlns:a="http://schemas.openxmlformats.org/drawingml/2006/main">
              <a:ext uri="{FF2B5EF4-FFF2-40B4-BE49-F238E27FC236}">
                <a16:creationId xmlns:a16="http://schemas.microsoft.com/office/drawing/2014/main" id="{3D48C671-EC4C-4780-988A-7A2FEF3D1E09}"/>
              </a:ext>
            </a:extLst>
          </p:cNvPr>
          <p:cNvSpPr>
            <a:spLocks xmlns:a="http://schemas.openxmlformats.org/drawingml/2006/main" noGrp="1"/>
          </p:cNvSpPr>
          <p:nvPr/>
        </p:nvSpPr>
        <p:spPr>
          <a:xfrm xmlns:a="http://schemas.openxmlformats.org/drawingml/2006/main">
            <a:off x="685800" y="1352550"/>
            <a:ext cx="57150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250" b="1">
                <a:solidFill>
                  <a:srgbClr val="F5F5F7"/>
                </a:solidFill>
              </a:defRPr>
            </a:pPr>
            <a:r>
              <a:rPr sz="5250" b="1">
                <a:solidFill>
                  <a:srgbClr val="F5F5F7"/>
                </a:solidFill>
              </a:rPr>
              <a:t>Evidence before</a:t>
            </a:r>
          </a:p>
          <a:p xmlns:a="http://schemas.openxmlformats.org/drawingml/2006/main">
            <a:pPr algn="l">
              <a:defRPr sz="5250" b="1">
                <a:solidFill>
                  <a:srgbClr val="F5F5F7"/>
                </a:solidFill>
              </a:defRPr>
            </a:pPr>
            <a:r>
              <a:rPr sz="5250" b="1">
                <a:solidFill>
                  <a:srgbClr val="F5F5F7"/>
                </a:solidFill>
              </a:rPr>
              <a:t>diagnosis.</a:t>
            </a:r>
          </a:p>
        </p:txBody>
      </p:sp>
      <p:sp>
        <p:nvSpPr>
          <p:cNvPr id="3" name="">
            <a:extLst xmlns:a="http://schemas.openxmlformats.org/drawingml/2006/main">
              <a:ext uri="{FF2B5EF4-FFF2-40B4-BE49-F238E27FC236}">
                <a16:creationId xmlns:a16="http://schemas.microsoft.com/office/drawing/2014/main" id="{043F7049-F75F-413E-8008-ED36E93AEEE4}"/>
              </a:ext>
            </a:extLst>
          </p:cNvPr>
          <p:cNvSpPr>
            <a:spLocks xmlns:a="http://schemas.openxmlformats.org/drawingml/2006/main" noGrp="1"/>
          </p:cNvSpPr>
          <p:nvPr/>
        </p:nvSpPr>
        <p:spPr>
          <a:xfrm xmlns:a="http://schemas.openxmlformats.org/drawingml/2006/main">
            <a:off x="685800" y="4095750"/>
            <a:ext cx="5572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5F5F7"/>
                </a:solidFill>
              </a:defRPr>
            </a:pPr>
            <a:r>
              <a:rPr sz="1950" b="0">
                <a:solidFill>
                  <a:srgbClr val="F5F5F7"/>
                </a:solidFill>
              </a:rPr>
              <a:t>Reproducible classifier, explainability audit, deployable demo, and an exploratory VLM boundary test.</a:t>
            </a:r>
          </a:p>
        </p:txBody>
      </p:sp>
      <p:sp>
        <p:nvSpPr>
          <p:cNvPr id="4" name="">
            <a:extLst xmlns:a="http://schemas.openxmlformats.org/drawingml/2006/main">
              <a:ext uri="{FF2B5EF4-FFF2-40B4-BE49-F238E27FC236}">
                <a16:creationId xmlns:a16="http://schemas.microsoft.com/office/drawing/2014/main" id="{D0975966-8EB8-484B-B43A-64AB2431008A}"/>
              </a:ext>
            </a:extLst>
          </p:cNvPr>
          <p:cNvSpPr>
            <a:spLocks xmlns:a="http://schemas.openxmlformats.org/drawingml/2006/main" noGrp="1"/>
          </p:cNvSpPr>
          <p:nvPr/>
        </p:nvSpPr>
        <p:spPr>
          <a:xfrm xmlns:a="http://schemas.openxmlformats.org/drawingml/2006/main">
            <a:off x="685800" y="5429250"/>
            <a:ext cx="557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9F0A"/>
                </a:solidFill>
              </a:defRPr>
            </a:pPr>
            <a:r>
              <a:rPr sz="1500" b="1">
                <a:solidFill>
                  <a:srgbClr val="FF9F0A"/>
                </a:solidFill>
              </a:rPr>
              <a:t>Educational closed set · not field diagnosis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da685b34d914192"/>
          <a:srcRect xmlns:a="http://schemas.openxmlformats.org/drawingml/2006/main" l="20991" t="0" r="20991" b="0"/>
          <a:stretch xmlns:a="http://schemas.openxmlformats.org/drawingml/2006/main">
            <a:fillRect l="0" t="0" r="0" b="0"/>
          </a:stretch>
        </p:blipFill>
        <p:spPr>
          <a:xfrm xmlns:a="http://schemas.openxmlformats.org/drawingml/2006/main">
            <a:off x="6819900" y="742950"/>
            <a:ext cx="4686300" cy="5048250"/>
          </a:xfrm>
          <a:prstGeom xmlns:a="http://schemas.openxmlformats.org/drawingml/2006/main" prst="roundRect">
            <a:avLst>
              <a:gd name="adj" fmla="val 4878"/>
            </a:avLst>
          </a:prstGeom>
        </p:spPr>
      </p:pic>
      <p:sp>
        <p:nvSpPr>
          <p:cNvPr id="6" name="">
            <a:extLst xmlns:a="http://schemas.openxmlformats.org/drawingml/2006/main">
              <a:ext uri="{FF2B5EF4-FFF2-40B4-BE49-F238E27FC236}">
                <a16:creationId xmlns:a16="http://schemas.microsoft.com/office/drawing/2014/main" id="{2FBE2C35-58EE-4C08-B66A-95FD8CF0A909}"/>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1D1D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EFF28D-2B26-4F8A-B377-8CD9A92EC219}"/>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5F7"/>
                </a:solidFill>
              </a:defRPr>
            </a:pPr>
            <a:r>
              <a:rPr sz="1275" b="0">
                <a:solidFill>
                  <a:srgbClr val="F5F5F7"/>
                </a:solidFill>
              </a:rPr>
              <a:t>Evidence map: docs/week7_evidence_map.md</a:t>
            </a:r>
          </a:p>
        </p:txBody>
      </p:sp>
      <p:sp>
        <p:nvSpPr>
          <p:cNvPr id="8" name="">
            <a:extLst xmlns:a="http://schemas.openxmlformats.org/drawingml/2006/main">
              <a:ext uri="{FF2B5EF4-FFF2-40B4-BE49-F238E27FC236}">
                <a16:creationId xmlns:a16="http://schemas.microsoft.com/office/drawing/2014/main" id="{B61B11A8-AB4B-49A7-B44D-2FC81B7F6997}"/>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F5F5F7"/>
                </a:solidFill>
              </a:defRPr>
            </a:pPr>
            <a:r>
              <a:rPr sz="1275" b="1">
                <a:solidFill>
                  <a:srgbClr val="F5F5F7"/>
                </a:solidFill>
              </a:rPr>
              <a:t>01</a:t>
            </a:r>
          </a:p>
        </p:txBody>
      </p:sp>
    </p:spTree>
    <p:extLst>
      <p:ext uri="{BB962C8B-B14F-4D97-AF65-F5344CB8AC3E}">
        <p14:creationId xmlns:p14="http://schemas.microsoft.com/office/powerpoint/2010/main" val="856935237"/>
      </p:ext>
    </p:extLst>
  </p:cSld>
</p:sld>
</file>

<file path=ppt/slides/slide2.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ABCA53-EF08-4B62-99B3-080805E63D85}"/>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CLASSIFIER-FIRST SYSTEM</a:t>
            </a:r>
          </a:p>
        </p:txBody>
      </p:sp>
      <p:sp>
        <p:nvSpPr>
          <p:cNvPr id="2" name="">
            <a:extLst xmlns:a="http://schemas.openxmlformats.org/drawingml/2006/main">
              <a:ext uri="{FF2B5EF4-FFF2-40B4-BE49-F238E27FC236}">
                <a16:creationId xmlns:a16="http://schemas.microsoft.com/office/drawing/2014/main" id="{D481F702-DA1D-4EDF-8280-0706886CC96E}"/>
              </a:ext>
            </a:extLst>
          </p:cNvPr>
          <p:cNvSpPr>
            <a:spLocks xmlns:a="http://schemas.openxmlformats.org/drawingml/2006/main" noGrp="1"/>
          </p:cNvSpPr>
          <p:nvPr/>
        </p:nvSpPr>
        <p:spPr>
          <a:xfrm xmlns:a="http://schemas.openxmlformats.org/drawingml/2006/main">
            <a:off x="685800" y="76200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050608"/>
                </a:solidFill>
              </a:defRPr>
            </a:pPr>
            <a:r>
              <a:rPr sz="4650" b="1">
                <a:solidFill>
                  <a:srgbClr val="050608"/>
                </a:solidFill>
              </a:rPr>
              <a:t>The model is only one link in the evidence chain.</a:t>
            </a:r>
          </a:p>
        </p:txBody>
      </p:sp>
      <p:sp>
        <p:nvSpPr>
          <p:cNvPr id="3" name="">
            <a:extLst xmlns:a="http://schemas.openxmlformats.org/drawingml/2006/main">
              <a:ext uri="{FF2B5EF4-FFF2-40B4-BE49-F238E27FC236}">
                <a16:creationId xmlns:a16="http://schemas.microsoft.com/office/drawing/2014/main" id="{2F6C893F-3C09-4104-883D-72518A012303}"/>
              </a:ext>
            </a:extLst>
          </p:cNvPr>
          <p:cNvSpPr>
            <a:spLocks xmlns:a="http://schemas.openxmlformats.org/drawingml/2006/main" noGrp="1"/>
          </p:cNvSpPr>
          <p:nvPr/>
        </p:nvSpPr>
        <p:spPr>
          <a:xfrm xmlns:a="http://schemas.openxmlformats.org/drawingml/2006/main">
            <a:off x="723900" y="21431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VERIFIED CLASSIFIER MAIN LINE</a:t>
            </a:r>
          </a:p>
        </p:txBody>
      </p:sp>
      <p:sp>
        <p:nvSpPr>
          <p:cNvPr id="4" name="">
            <a:extLst xmlns:a="http://schemas.openxmlformats.org/drawingml/2006/main">
              <a:ext uri="{FF2B5EF4-FFF2-40B4-BE49-F238E27FC236}">
                <a16:creationId xmlns:a16="http://schemas.microsoft.com/office/drawing/2014/main" id="{E20144F6-44C4-4876-8024-9490343B0477}"/>
              </a:ext>
            </a:extLst>
          </p:cNvPr>
          <p:cNvSpPr>
            <a:spLocks xmlns:a="http://schemas.openxmlformats.org/drawingml/2006/main" noGrp="1"/>
          </p:cNvSpPr>
          <p:nvPr/>
        </p:nvSpPr>
        <p:spPr>
          <a:xfrm xmlns:a="http://schemas.openxmlformats.org/drawingml/2006/main">
            <a:off x="2305050" y="3190875"/>
            <a:ext cx="523875" cy="38100"/>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F76AAC-85ED-4D3E-88AA-9DAB62F6C00C}"/>
              </a:ext>
            </a:extLst>
          </p:cNvPr>
          <p:cNvSpPr>
            <a:spLocks xmlns:a="http://schemas.openxmlformats.org/drawingml/2006/main" noGrp="1"/>
          </p:cNvSpPr>
          <p:nvPr/>
        </p:nvSpPr>
        <p:spPr>
          <a:xfrm xmlns:a="http://schemas.openxmlformats.org/drawingml/2006/main">
            <a:off x="2724150" y="3086100"/>
            <a:ext cx="190500" cy="247650"/>
          </a:xfrm>
          <a:prstGeom xmlns:a="http://schemas.openxmlformats.org/drawingml/2006/main" prst="triangle">
            <a:avLst/>
          </a:prstGeom>
          <a:solidFill xmlns:a="http://schemas.openxmlformats.org/drawingml/2006/main">
            <a:srgbClr val="6E6E7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E020646-CD86-4EA7-A995-DE0DD72AD168}"/>
              </a:ext>
            </a:extLst>
          </p:cNvPr>
          <p:cNvSpPr>
            <a:spLocks xmlns:a="http://schemas.openxmlformats.org/drawingml/2006/main" noGrp="1"/>
          </p:cNvSpPr>
          <p:nvPr/>
        </p:nvSpPr>
        <p:spPr>
          <a:xfrm xmlns:a="http://schemas.openxmlformats.org/drawingml/2006/main">
            <a:off x="4486275" y="3190875"/>
            <a:ext cx="523875" cy="38100"/>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F43612-DAD7-4E48-9425-EAC2C292E5DA}"/>
              </a:ext>
            </a:extLst>
          </p:cNvPr>
          <p:cNvSpPr>
            <a:spLocks xmlns:a="http://schemas.openxmlformats.org/drawingml/2006/main" noGrp="1"/>
          </p:cNvSpPr>
          <p:nvPr/>
        </p:nvSpPr>
        <p:spPr>
          <a:xfrm xmlns:a="http://schemas.openxmlformats.org/drawingml/2006/main">
            <a:off x="4905375" y="3086100"/>
            <a:ext cx="190500" cy="247650"/>
          </a:xfrm>
          <a:prstGeom xmlns:a="http://schemas.openxmlformats.org/drawingml/2006/main" prst="triangle">
            <a:avLst/>
          </a:prstGeom>
          <a:solidFill xmlns:a="http://schemas.openxmlformats.org/drawingml/2006/main">
            <a:srgbClr val="6E6E7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37F378-0FB4-4F0C-9D0B-897B8B50E9D1}"/>
              </a:ext>
            </a:extLst>
          </p:cNvPr>
          <p:cNvSpPr>
            <a:spLocks xmlns:a="http://schemas.openxmlformats.org/drawingml/2006/main" noGrp="1"/>
          </p:cNvSpPr>
          <p:nvPr/>
        </p:nvSpPr>
        <p:spPr>
          <a:xfrm xmlns:a="http://schemas.openxmlformats.org/drawingml/2006/main">
            <a:off x="6667500" y="3190875"/>
            <a:ext cx="523875" cy="38100"/>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5E64E2F-C79C-48C8-B376-B23EFEA44798}"/>
              </a:ext>
            </a:extLst>
          </p:cNvPr>
          <p:cNvSpPr>
            <a:spLocks xmlns:a="http://schemas.openxmlformats.org/drawingml/2006/main" noGrp="1"/>
          </p:cNvSpPr>
          <p:nvPr/>
        </p:nvSpPr>
        <p:spPr>
          <a:xfrm xmlns:a="http://schemas.openxmlformats.org/drawingml/2006/main">
            <a:off x="7086600" y="3086100"/>
            <a:ext cx="190500" cy="247650"/>
          </a:xfrm>
          <a:prstGeom xmlns:a="http://schemas.openxmlformats.org/drawingml/2006/main" prst="triangle">
            <a:avLst/>
          </a:prstGeom>
          <a:solidFill xmlns:a="http://schemas.openxmlformats.org/drawingml/2006/main">
            <a:srgbClr val="6E6E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3109498-B9A3-40C9-832B-EF5855C65CF3}"/>
              </a:ext>
            </a:extLst>
          </p:cNvPr>
          <p:cNvSpPr>
            <a:spLocks xmlns:a="http://schemas.openxmlformats.org/drawingml/2006/main" noGrp="1"/>
          </p:cNvSpPr>
          <p:nvPr/>
        </p:nvSpPr>
        <p:spPr>
          <a:xfrm xmlns:a="http://schemas.openxmlformats.org/drawingml/2006/main">
            <a:off x="8848725" y="3190875"/>
            <a:ext cx="523875" cy="38100"/>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44BBD9-8EF3-46DA-B9EE-79044197850E}"/>
              </a:ext>
            </a:extLst>
          </p:cNvPr>
          <p:cNvSpPr>
            <a:spLocks xmlns:a="http://schemas.openxmlformats.org/drawingml/2006/main" noGrp="1"/>
          </p:cNvSpPr>
          <p:nvPr/>
        </p:nvSpPr>
        <p:spPr>
          <a:xfrm xmlns:a="http://schemas.openxmlformats.org/drawingml/2006/main">
            <a:off x="9267825" y="3086100"/>
            <a:ext cx="190500" cy="247650"/>
          </a:xfrm>
          <a:prstGeom xmlns:a="http://schemas.openxmlformats.org/drawingml/2006/main" prst="triangle">
            <a:avLst/>
          </a:prstGeom>
          <a:solidFill xmlns:a="http://schemas.openxmlformats.org/drawingml/2006/main">
            <a:srgbClr val="6E6E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7408380-57BA-4A5F-83AC-2BBC9AFA8C56}"/>
              </a:ext>
            </a:extLst>
          </p:cNvPr>
          <p:cNvSpPr>
            <a:spLocks xmlns:a="http://schemas.openxmlformats.org/drawingml/2006/main" noGrp="1"/>
          </p:cNvSpPr>
          <p:nvPr/>
        </p:nvSpPr>
        <p:spPr>
          <a:xfrm xmlns:a="http://schemas.openxmlformats.org/drawingml/2006/main">
            <a:off x="10239375" y="3762375"/>
            <a:ext cx="0" cy="590550"/>
          </a:xfrm>
          <a:prstGeom xmlns:a="http://schemas.openxmlformats.org/drawingml/2006/main" prst="line">
            <a:avLst/>
          </a:prstGeom>
          <a:noFill xmlns:a="http://schemas.openxmlformats.org/drawingml/2006/main"/>
          <a:ln xmlns:a="http://schemas.openxmlformats.org/drawingml/2006/main" w="28575">
            <a:solidFill>
              <a:srgbClr val="FF9F0A"/>
            </a:solidFill>
            <a:prstDash val="dash"/>
          </a:ln>
        </p:spPr>
      </p:sp>
      <p:sp>
        <p:nvSpPr>
          <p:cNvPr id="13" name="">
            <a:extLst xmlns:a="http://schemas.openxmlformats.org/drawingml/2006/main">
              <a:ext uri="{FF2B5EF4-FFF2-40B4-BE49-F238E27FC236}">
                <a16:creationId xmlns:a16="http://schemas.microsoft.com/office/drawing/2014/main" id="{EF188A56-EC62-4B78-ADBC-D5A0228E6861}"/>
              </a:ext>
            </a:extLst>
          </p:cNvPr>
          <p:cNvSpPr>
            <a:spLocks xmlns:a="http://schemas.openxmlformats.org/drawingml/2006/main" noGrp="1"/>
          </p:cNvSpPr>
          <p:nvPr/>
        </p:nvSpPr>
        <p:spPr>
          <a:xfrm xmlns:a="http://schemas.openxmlformats.org/drawingml/2006/main">
            <a:off x="10144125" y="4257675"/>
            <a:ext cx="190500" cy="247650"/>
          </a:xfrm>
          <a:prstGeom xmlns:a="http://schemas.openxmlformats.org/drawingml/2006/main" prst="triangle">
            <a:avLst/>
          </a:prstGeom>
          <a:solidFill xmlns:a="http://schemas.openxmlformats.org/drawingml/2006/main">
            <a:srgbClr val="FF9F0A"/>
          </a:solidFill>
          <a:ln xmlns:a="http://schemas.openxmlformats.org/drawingml/2006/main" w="0">
            <a:noFill/>
            <a:prstDash val="solid"/>
          </a:ln>
        </p:spPr>
      </p:sp>
      <p:sp>
        <p:nvSpPr>
          <p:cNvPr id="14" name="architecture-data-audit">
            <a:extLst xmlns:a="http://schemas.openxmlformats.org/drawingml/2006/main">
              <a:ext uri="{FF2B5EF4-FFF2-40B4-BE49-F238E27FC236}">
                <a16:creationId xmlns:a16="http://schemas.microsoft.com/office/drawing/2014/main" id="{08A3672E-6C6B-4E98-BE5A-70D3EF5EFBC5}"/>
              </a:ext>
            </a:extLst>
          </p:cNvPr>
          <p:cNvSpPr>
            <a:spLocks xmlns:a="http://schemas.openxmlformats.org/drawingml/2006/main" noGrp="1"/>
          </p:cNvSpPr>
          <p:nvPr/>
        </p:nvSpPr>
        <p:spPr>
          <a:xfrm xmlns:a="http://schemas.openxmlformats.org/drawingml/2006/main">
            <a:off x="723900" y="2628900"/>
            <a:ext cx="1581150" cy="1133475"/>
          </a:xfrm>
          <a:prstGeom xmlns:a="http://schemas.openxmlformats.org/drawingml/2006/main" prst="roundRect">
            <a:avLst>
              <a:gd name="adj" fmla="val 13445"/>
            </a:avLst>
          </a:prstGeom>
          <a:solidFill xmlns:a="http://schemas.openxmlformats.org/drawingml/2006/main">
            <a:srgbClr val="F5F5F7"/>
          </a:solidFill>
          <a:ln xmlns:a="http://schemas.openxmlformats.org/drawingml/2006/main" w="9525">
            <a:solidFill>
              <a:srgbClr val="6E6E73"/>
            </a:solidFill>
            <a:prstDash val="solid"/>
          </a:ln>
        </p:spPr>
      </p:sp>
      <p:sp>
        <p:nvSpPr>
          <p:cNvPr id="15" name="">
            <a:extLst xmlns:a="http://schemas.openxmlformats.org/drawingml/2006/main">
              <a:ext uri="{FF2B5EF4-FFF2-40B4-BE49-F238E27FC236}">
                <a16:creationId xmlns:a16="http://schemas.microsoft.com/office/drawing/2014/main" id="{16CA049E-B734-4696-A28F-00D5F841C41E}"/>
              </a:ext>
            </a:extLst>
          </p:cNvPr>
          <p:cNvSpPr>
            <a:spLocks xmlns:a="http://schemas.openxmlformats.org/drawingml/2006/main" noGrp="1"/>
          </p:cNvSpPr>
          <p:nvPr/>
        </p:nvSpPr>
        <p:spPr>
          <a:xfrm xmlns:a="http://schemas.openxmlformats.org/drawingml/2006/main">
            <a:off x="866775" y="2771775"/>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1D1F"/>
                </a:solidFill>
              </a:defRPr>
            </a:pPr>
            <a:r>
              <a:rPr sz="1650" b="1">
                <a:solidFill>
                  <a:srgbClr val="1D1D1F"/>
                </a:solidFill>
              </a:rPr>
              <a:t>Data</a:t>
            </a:r>
          </a:p>
          <a:p xmlns:a="http://schemas.openxmlformats.org/drawingml/2006/main">
            <a:pPr algn="ctr">
              <a:defRPr sz="1650" b="1">
                <a:solidFill>
                  <a:srgbClr val="1D1D1F"/>
                </a:solidFill>
              </a:defRPr>
            </a:pPr>
            <a:r>
              <a:rPr sz="1650" b="1">
                <a:solidFill>
                  <a:srgbClr val="1D1D1F"/>
                </a:solidFill>
              </a:rPr>
              <a:t>Audit</a:t>
            </a:r>
          </a:p>
        </p:txBody>
      </p:sp>
      <p:sp>
        <p:nvSpPr>
          <p:cNvPr id="16" name="">
            <a:extLst xmlns:a="http://schemas.openxmlformats.org/drawingml/2006/main">
              <a:ext uri="{FF2B5EF4-FFF2-40B4-BE49-F238E27FC236}">
                <a16:creationId xmlns:a16="http://schemas.microsoft.com/office/drawing/2014/main" id="{8AB4C8E3-9817-454F-9675-9A8F15C94223}"/>
              </a:ext>
            </a:extLst>
          </p:cNvPr>
          <p:cNvSpPr>
            <a:spLocks xmlns:a="http://schemas.openxmlformats.org/drawingml/2006/main" noGrp="1"/>
          </p:cNvSpPr>
          <p:nvPr/>
        </p:nvSpPr>
        <p:spPr>
          <a:xfrm xmlns:a="http://schemas.openxmlformats.org/drawingml/2006/main">
            <a:off x="838200" y="32766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E6E73"/>
                </a:solidFill>
              </a:defRPr>
            </a:pPr>
            <a:r>
              <a:rPr sz="1275" b="0">
                <a:solidFill>
                  <a:srgbClr val="6E6E73"/>
                </a:solidFill>
              </a:rPr>
              <a:t>split · EDA</a:t>
            </a:r>
          </a:p>
        </p:txBody>
      </p:sp>
      <p:sp>
        <p:nvSpPr>
          <p:cNvPr id="17" name="architecture-train">
            <a:extLst xmlns:a="http://schemas.openxmlformats.org/drawingml/2006/main">
              <a:ext uri="{FF2B5EF4-FFF2-40B4-BE49-F238E27FC236}">
                <a16:creationId xmlns:a16="http://schemas.microsoft.com/office/drawing/2014/main" id="{4E96D917-5B7B-4D76-B079-2DEEA7DD7A45}"/>
              </a:ext>
            </a:extLst>
          </p:cNvPr>
          <p:cNvSpPr>
            <a:spLocks xmlns:a="http://schemas.openxmlformats.org/drawingml/2006/main" noGrp="1"/>
          </p:cNvSpPr>
          <p:nvPr/>
        </p:nvSpPr>
        <p:spPr>
          <a:xfrm xmlns:a="http://schemas.openxmlformats.org/drawingml/2006/main">
            <a:off x="2905125" y="2628900"/>
            <a:ext cx="1581150" cy="1133475"/>
          </a:xfrm>
          <a:prstGeom xmlns:a="http://schemas.openxmlformats.org/drawingml/2006/main" prst="roundRect">
            <a:avLst>
              <a:gd name="adj" fmla="val 13445"/>
            </a:avLst>
          </a:prstGeom>
          <a:solidFill xmlns:a="http://schemas.openxmlformats.org/drawingml/2006/main">
            <a:srgbClr val="F5F5F7"/>
          </a:solidFill>
          <a:ln xmlns:a="http://schemas.openxmlformats.org/drawingml/2006/main" w="9525">
            <a:solidFill>
              <a:srgbClr val="6E6E73"/>
            </a:solidFill>
            <a:prstDash val="solid"/>
          </a:ln>
        </p:spPr>
      </p:sp>
      <p:sp>
        <p:nvSpPr>
          <p:cNvPr id="18" name="">
            <a:extLst xmlns:a="http://schemas.openxmlformats.org/drawingml/2006/main">
              <a:ext uri="{FF2B5EF4-FFF2-40B4-BE49-F238E27FC236}">
                <a16:creationId xmlns:a16="http://schemas.microsoft.com/office/drawing/2014/main" id="{3D0E2AF8-5780-43AA-8D8F-1B7E151F4710}"/>
              </a:ext>
            </a:extLst>
          </p:cNvPr>
          <p:cNvSpPr>
            <a:spLocks xmlns:a="http://schemas.openxmlformats.org/drawingml/2006/main" noGrp="1"/>
          </p:cNvSpPr>
          <p:nvPr/>
        </p:nvSpPr>
        <p:spPr>
          <a:xfrm xmlns:a="http://schemas.openxmlformats.org/drawingml/2006/main">
            <a:off x="3048000" y="2771775"/>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1D1F"/>
                </a:solidFill>
              </a:defRPr>
            </a:pPr>
            <a:r>
              <a:rPr sz="1650" b="1">
                <a:solidFill>
                  <a:srgbClr val="1D1D1F"/>
                </a:solidFill>
              </a:rPr>
              <a:t>Train</a:t>
            </a:r>
          </a:p>
        </p:txBody>
      </p:sp>
      <p:sp>
        <p:nvSpPr>
          <p:cNvPr id="19" name="">
            <a:extLst xmlns:a="http://schemas.openxmlformats.org/drawingml/2006/main">
              <a:ext uri="{FF2B5EF4-FFF2-40B4-BE49-F238E27FC236}">
                <a16:creationId xmlns:a16="http://schemas.microsoft.com/office/drawing/2014/main" id="{F0E775F5-3BB3-4161-8AE5-DB29259D842A}"/>
              </a:ext>
            </a:extLst>
          </p:cNvPr>
          <p:cNvSpPr>
            <a:spLocks xmlns:a="http://schemas.openxmlformats.org/drawingml/2006/main" noGrp="1"/>
          </p:cNvSpPr>
          <p:nvPr/>
        </p:nvSpPr>
        <p:spPr>
          <a:xfrm xmlns:a="http://schemas.openxmlformats.org/drawingml/2006/main">
            <a:off x="3019425" y="32766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E6E73"/>
                </a:solidFill>
              </a:defRPr>
            </a:pPr>
            <a:r>
              <a:rPr sz="1275" b="0">
                <a:solidFill>
                  <a:srgbClr val="6E6E73"/>
                </a:solidFill>
              </a:rPr>
              <a:t>shared protocol</a:t>
            </a:r>
          </a:p>
        </p:txBody>
      </p:sp>
      <p:sp>
        <p:nvSpPr>
          <p:cNvPr id="20" name="architecture-evaluate">
            <a:extLst xmlns:a="http://schemas.openxmlformats.org/drawingml/2006/main">
              <a:ext uri="{FF2B5EF4-FFF2-40B4-BE49-F238E27FC236}">
                <a16:creationId xmlns:a16="http://schemas.microsoft.com/office/drawing/2014/main" id="{FEA23EB5-4AEF-433B-A42F-8482E57C6E8C}"/>
              </a:ext>
            </a:extLst>
          </p:cNvPr>
          <p:cNvSpPr>
            <a:spLocks xmlns:a="http://schemas.openxmlformats.org/drawingml/2006/main" noGrp="1"/>
          </p:cNvSpPr>
          <p:nvPr/>
        </p:nvSpPr>
        <p:spPr>
          <a:xfrm xmlns:a="http://schemas.openxmlformats.org/drawingml/2006/main">
            <a:off x="5086350" y="2628900"/>
            <a:ext cx="1581150" cy="1133475"/>
          </a:xfrm>
          <a:prstGeom xmlns:a="http://schemas.openxmlformats.org/drawingml/2006/main" prst="roundRect">
            <a:avLst>
              <a:gd name="adj" fmla="val 13445"/>
            </a:avLst>
          </a:prstGeom>
          <a:solidFill xmlns:a="http://schemas.openxmlformats.org/drawingml/2006/main">
            <a:srgbClr val="F5F5F7"/>
          </a:solidFill>
          <a:ln xmlns:a="http://schemas.openxmlformats.org/drawingml/2006/main" w="9525">
            <a:solidFill>
              <a:srgbClr val="6E6E73"/>
            </a:solidFill>
            <a:prstDash val="solid"/>
          </a:ln>
        </p:spPr>
      </p:sp>
      <p:sp>
        <p:nvSpPr>
          <p:cNvPr id="21" name="">
            <a:extLst xmlns:a="http://schemas.openxmlformats.org/drawingml/2006/main">
              <a:ext uri="{FF2B5EF4-FFF2-40B4-BE49-F238E27FC236}">
                <a16:creationId xmlns:a16="http://schemas.microsoft.com/office/drawing/2014/main" id="{88D783B1-013C-480D-B024-AD0ECF406A91}"/>
              </a:ext>
            </a:extLst>
          </p:cNvPr>
          <p:cNvSpPr>
            <a:spLocks xmlns:a="http://schemas.openxmlformats.org/drawingml/2006/main" noGrp="1"/>
          </p:cNvSpPr>
          <p:nvPr/>
        </p:nvSpPr>
        <p:spPr>
          <a:xfrm xmlns:a="http://schemas.openxmlformats.org/drawingml/2006/main">
            <a:off x="5229225" y="2771775"/>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1D1F"/>
                </a:solidFill>
              </a:defRPr>
            </a:pPr>
            <a:r>
              <a:rPr sz="1650" b="1">
                <a:solidFill>
                  <a:srgbClr val="1D1D1F"/>
                </a:solidFill>
              </a:rPr>
              <a:t>Evaluate</a:t>
            </a:r>
          </a:p>
        </p:txBody>
      </p:sp>
      <p:sp>
        <p:nvSpPr>
          <p:cNvPr id="22" name="">
            <a:extLst xmlns:a="http://schemas.openxmlformats.org/drawingml/2006/main">
              <a:ext uri="{FF2B5EF4-FFF2-40B4-BE49-F238E27FC236}">
                <a16:creationId xmlns:a16="http://schemas.microsoft.com/office/drawing/2014/main" id="{5D4F3040-5A96-4F2B-9285-2F4F4EA8C67F}"/>
              </a:ext>
            </a:extLst>
          </p:cNvPr>
          <p:cNvSpPr>
            <a:spLocks xmlns:a="http://schemas.openxmlformats.org/drawingml/2006/main" noGrp="1"/>
          </p:cNvSpPr>
          <p:nvPr/>
        </p:nvSpPr>
        <p:spPr>
          <a:xfrm xmlns:a="http://schemas.openxmlformats.org/drawingml/2006/main">
            <a:off x="5200650" y="32766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E6E73"/>
                </a:solidFill>
              </a:defRPr>
            </a:pPr>
            <a:r>
              <a:rPr sz="1275" b="0">
                <a:solidFill>
                  <a:srgbClr val="6E6E73"/>
                </a:solidFill>
              </a:rPr>
              <a:t>metrics · speed</a:t>
            </a:r>
          </a:p>
        </p:txBody>
      </p:sp>
      <p:sp>
        <p:nvSpPr>
          <p:cNvPr id="23" name="architecture-explain">
            <a:extLst xmlns:a="http://schemas.openxmlformats.org/drawingml/2006/main">
              <a:ext uri="{FF2B5EF4-FFF2-40B4-BE49-F238E27FC236}">
                <a16:creationId xmlns:a16="http://schemas.microsoft.com/office/drawing/2014/main" id="{2DC69D6F-91F9-4EF5-A0F3-115494AC339A}"/>
              </a:ext>
            </a:extLst>
          </p:cNvPr>
          <p:cNvSpPr>
            <a:spLocks xmlns:a="http://schemas.openxmlformats.org/drawingml/2006/main" noGrp="1"/>
          </p:cNvSpPr>
          <p:nvPr/>
        </p:nvSpPr>
        <p:spPr>
          <a:xfrm xmlns:a="http://schemas.openxmlformats.org/drawingml/2006/main">
            <a:off x="7267575" y="2628900"/>
            <a:ext cx="1581150" cy="1133475"/>
          </a:xfrm>
          <a:prstGeom xmlns:a="http://schemas.openxmlformats.org/drawingml/2006/main" prst="roundRect">
            <a:avLst>
              <a:gd name="adj" fmla="val 13445"/>
            </a:avLst>
          </a:prstGeom>
          <a:solidFill xmlns:a="http://schemas.openxmlformats.org/drawingml/2006/main">
            <a:srgbClr val="F5F5F7"/>
          </a:solidFill>
          <a:ln xmlns:a="http://schemas.openxmlformats.org/drawingml/2006/main" w="9525">
            <a:solidFill>
              <a:srgbClr val="6E6E73"/>
            </a:solidFill>
            <a:prstDash val="solid"/>
          </a:ln>
        </p:spPr>
      </p:sp>
      <p:sp>
        <p:nvSpPr>
          <p:cNvPr id="24" name="">
            <a:extLst xmlns:a="http://schemas.openxmlformats.org/drawingml/2006/main">
              <a:ext uri="{FF2B5EF4-FFF2-40B4-BE49-F238E27FC236}">
                <a16:creationId xmlns:a16="http://schemas.microsoft.com/office/drawing/2014/main" id="{76DAFA97-8501-4558-9AC2-0FE406CE7851}"/>
              </a:ext>
            </a:extLst>
          </p:cNvPr>
          <p:cNvSpPr>
            <a:spLocks xmlns:a="http://schemas.openxmlformats.org/drawingml/2006/main" noGrp="1"/>
          </p:cNvSpPr>
          <p:nvPr/>
        </p:nvSpPr>
        <p:spPr>
          <a:xfrm xmlns:a="http://schemas.openxmlformats.org/drawingml/2006/main">
            <a:off x="7410450" y="2771775"/>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D1D1F"/>
                </a:solidFill>
              </a:defRPr>
            </a:pPr>
            <a:r>
              <a:rPr sz="1650" b="1">
                <a:solidFill>
                  <a:srgbClr val="1D1D1F"/>
                </a:solidFill>
              </a:rPr>
              <a:t>Explain</a:t>
            </a:r>
          </a:p>
        </p:txBody>
      </p:sp>
      <p:sp>
        <p:nvSpPr>
          <p:cNvPr id="25" name="">
            <a:extLst xmlns:a="http://schemas.openxmlformats.org/drawingml/2006/main">
              <a:ext uri="{FF2B5EF4-FFF2-40B4-BE49-F238E27FC236}">
                <a16:creationId xmlns:a16="http://schemas.microsoft.com/office/drawing/2014/main" id="{BED4FC70-A9F6-4E3C-8E29-A3557DE32D0E}"/>
              </a:ext>
            </a:extLst>
          </p:cNvPr>
          <p:cNvSpPr>
            <a:spLocks xmlns:a="http://schemas.openxmlformats.org/drawingml/2006/main" noGrp="1"/>
          </p:cNvSpPr>
          <p:nvPr/>
        </p:nvSpPr>
        <p:spPr>
          <a:xfrm xmlns:a="http://schemas.openxmlformats.org/drawingml/2006/main">
            <a:off x="7381875" y="32766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E6E73"/>
                </a:solidFill>
              </a:defRPr>
            </a:pPr>
            <a:r>
              <a:rPr sz="1275" b="0">
                <a:solidFill>
                  <a:srgbClr val="6E6E73"/>
                </a:solidFill>
              </a:rPr>
              <a:t>Grad-CAM</a:t>
            </a:r>
          </a:p>
        </p:txBody>
      </p:sp>
      <p:sp>
        <p:nvSpPr>
          <p:cNvPr id="26" name="architecture-serve">
            <a:extLst xmlns:a="http://schemas.openxmlformats.org/drawingml/2006/main">
              <a:ext uri="{FF2B5EF4-FFF2-40B4-BE49-F238E27FC236}">
                <a16:creationId xmlns:a16="http://schemas.microsoft.com/office/drawing/2014/main" id="{2ABC7425-9733-4A1C-81C5-20D777209167}"/>
              </a:ext>
            </a:extLst>
          </p:cNvPr>
          <p:cNvSpPr>
            <a:spLocks xmlns:a="http://schemas.openxmlformats.org/drawingml/2006/main" noGrp="1"/>
          </p:cNvSpPr>
          <p:nvPr/>
        </p:nvSpPr>
        <p:spPr>
          <a:xfrm xmlns:a="http://schemas.openxmlformats.org/drawingml/2006/main">
            <a:off x="9448800" y="2628900"/>
            <a:ext cx="1581150" cy="1133475"/>
          </a:xfrm>
          <a:prstGeom xmlns:a="http://schemas.openxmlformats.org/drawingml/2006/main" prst="roundRect">
            <a:avLst>
              <a:gd name="adj" fmla="val 13445"/>
            </a:avLst>
          </a:prstGeom>
          <a:solidFill xmlns:a="http://schemas.openxmlformats.org/drawingml/2006/main">
            <a:srgbClr val="F5F5F7"/>
          </a:solidFill>
          <a:ln xmlns:a="http://schemas.openxmlformats.org/drawingml/2006/main" w="9525">
            <a:solidFill>
              <a:srgbClr val="0071E3"/>
            </a:solidFill>
            <a:prstDash val="solid"/>
          </a:ln>
        </p:spPr>
      </p:sp>
      <p:sp>
        <p:nvSpPr>
          <p:cNvPr id="27" name="">
            <a:extLst xmlns:a="http://schemas.openxmlformats.org/drawingml/2006/main">
              <a:ext uri="{FF2B5EF4-FFF2-40B4-BE49-F238E27FC236}">
                <a16:creationId xmlns:a16="http://schemas.microsoft.com/office/drawing/2014/main" id="{34A58D21-A7B8-4C88-BEE3-A99BBEC8EAB1}"/>
              </a:ext>
            </a:extLst>
          </p:cNvPr>
          <p:cNvSpPr>
            <a:spLocks xmlns:a="http://schemas.openxmlformats.org/drawingml/2006/main" noGrp="1"/>
          </p:cNvSpPr>
          <p:nvPr/>
        </p:nvSpPr>
        <p:spPr>
          <a:xfrm xmlns:a="http://schemas.openxmlformats.org/drawingml/2006/main">
            <a:off x="9591675" y="2771775"/>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71E3"/>
                </a:solidFill>
              </a:defRPr>
            </a:pPr>
            <a:r>
              <a:rPr sz="1650" b="1">
                <a:solidFill>
                  <a:srgbClr val="0071E3"/>
                </a:solidFill>
              </a:rPr>
              <a:t>Serve</a:t>
            </a:r>
          </a:p>
        </p:txBody>
      </p:sp>
      <p:sp>
        <p:nvSpPr>
          <p:cNvPr id="28" name="">
            <a:extLst xmlns:a="http://schemas.openxmlformats.org/drawingml/2006/main">
              <a:ext uri="{FF2B5EF4-FFF2-40B4-BE49-F238E27FC236}">
                <a16:creationId xmlns:a16="http://schemas.microsoft.com/office/drawing/2014/main" id="{8965C986-654A-439F-9472-7366CD1C8255}"/>
              </a:ext>
            </a:extLst>
          </p:cNvPr>
          <p:cNvSpPr>
            <a:spLocks xmlns:a="http://schemas.openxmlformats.org/drawingml/2006/main" noGrp="1"/>
          </p:cNvSpPr>
          <p:nvPr/>
        </p:nvSpPr>
        <p:spPr>
          <a:xfrm xmlns:a="http://schemas.openxmlformats.org/drawingml/2006/main">
            <a:off x="9563100" y="32766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E6E73"/>
                </a:solidFill>
              </a:defRPr>
            </a:pPr>
            <a:r>
              <a:rPr sz="1275" b="0">
                <a:solidFill>
                  <a:srgbClr val="6E6E73"/>
                </a:solidFill>
              </a:rPr>
              <a:t>Top-5 · demo</a:t>
            </a:r>
          </a:p>
        </p:txBody>
      </p:sp>
      <p:sp>
        <p:nvSpPr>
          <p:cNvPr id="29" name="">
            <a:extLst xmlns:a="http://schemas.openxmlformats.org/drawingml/2006/main">
              <a:ext uri="{FF2B5EF4-FFF2-40B4-BE49-F238E27FC236}">
                <a16:creationId xmlns:a16="http://schemas.microsoft.com/office/drawing/2014/main" id="{5417CEBC-CC20-4608-AA72-F18FAB08B80C}"/>
              </a:ext>
            </a:extLst>
          </p:cNvPr>
          <p:cNvSpPr>
            <a:spLocks xmlns:a="http://schemas.openxmlformats.org/drawingml/2006/main" noGrp="1"/>
          </p:cNvSpPr>
          <p:nvPr/>
        </p:nvSpPr>
        <p:spPr>
          <a:xfrm xmlns:a="http://schemas.openxmlformats.org/drawingml/2006/main">
            <a:off x="723900" y="4229100"/>
            <a:ext cx="733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0071E3"/>
                </a:solidFill>
              </a:defRPr>
            </a:pPr>
            <a:r>
              <a:rPr sz="2250" b="1">
                <a:solidFill>
                  <a:srgbClr val="0071E3"/>
                </a:solidFill>
              </a:rPr>
              <a:t>Shared labels · preprocessing · evidence trail</a:t>
            </a:r>
          </a:p>
        </p:txBody>
      </p:sp>
      <p:sp>
        <p:nvSpPr>
          <p:cNvPr id="30" name="">
            <a:extLst xmlns:a="http://schemas.openxmlformats.org/drawingml/2006/main">
              <a:ext uri="{FF2B5EF4-FFF2-40B4-BE49-F238E27FC236}">
                <a16:creationId xmlns:a16="http://schemas.microsoft.com/office/drawing/2014/main" id="{BF2EF01D-48DA-4D76-84E0-B9AC095B011F}"/>
              </a:ext>
            </a:extLst>
          </p:cNvPr>
          <p:cNvSpPr>
            <a:spLocks xmlns:a="http://schemas.openxmlformats.org/drawingml/2006/main" noGrp="1"/>
          </p:cNvSpPr>
          <p:nvPr/>
        </p:nvSpPr>
        <p:spPr>
          <a:xfrm xmlns:a="http://schemas.openxmlformats.org/drawingml/2006/main">
            <a:off x="723900" y="4772025"/>
            <a:ext cx="733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6E6E73"/>
                </a:solidFill>
              </a:defRPr>
            </a:pPr>
            <a:r>
              <a:rPr sz="1875" b="0">
                <a:solidFill>
                  <a:srgbClr val="6E6E73"/>
                </a:solidFill>
              </a:rPr>
              <a:t>The classifier remains complete without the VLM.</a:t>
            </a:r>
          </a:p>
        </p:txBody>
      </p:sp>
      <p:sp>
        <p:nvSpPr>
          <p:cNvPr id="31" name="">
            <a:extLst xmlns:a="http://schemas.openxmlformats.org/drawingml/2006/main">
              <a:ext uri="{FF2B5EF4-FFF2-40B4-BE49-F238E27FC236}">
                <a16:creationId xmlns:a16="http://schemas.microsoft.com/office/drawing/2014/main" id="{14D2BC69-A9D1-45DF-8318-922C060FF948}"/>
              </a:ext>
            </a:extLst>
          </p:cNvPr>
          <p:cNvSpPr>
            <a:spLocks xmlns:a="http://schemas.openxmlformats.org/drawingml/2006/main" noGrp="1"/>
          </p:cNvSpPr>
          <p:nvPr/>
        </p:nvSpPr>
        <p:spPr>
          <a:xfrm xmlns:a="http://schemas.openxmlformats.org/drawingml/2006/main">
            <a:off x="8448675" y="40290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9F0A"/>
                </a:solidFill>
              </a:defRPr>
            </a:pPr>
            <a:r>
              <a:rPr sz="1200" b="1">
                <a:solidFill>
                  <a:srgbClr val="FF9F0A"/>
                </a:solidFill>
              </a:rPr>
              <a:t>BOUNDED CONTEXT</a:t>
            </a:r>
          </a:p>
        </p:txBody>
      </p:sp>
      <p:sp>
        <p:nvSpPr>
          <p:cNvPr id="32" name="architecture-vlm-branch">
            <a:extLst xmlns:a="http://schemas.openxmlformats.org/drawingml/2006/main">
              <a:ext uri="{FF2B5EF4-FFF2-40B4-BE49-F238E27FC236}">
                <a16:creationId xmlns:a16="http://schemas.microsoft.com/office/drawing/2014/main" id="{1BBDDD1C-2118-4F56-AD63-907CDEF038F2}"/>
              </a:ext>
            </a:extLst>
          </p:cNvPr>
          <p:cNvSpPr>
            <a:spLocks xmlns:a="http://schemas.openxmlformats.org/drawingml/2006/main" noGrp="1"/>
          </p:cNvSpPr>
          <p:nvPr/>
        </p:nvSpPr>
        <p:spPr>
          <a:xfrm xmlns:a="http://schemas.openxmlformats.org/drawingml/2006/main">
            <a:off x="9448800" y="4505325"/>
            <a:ext cx="1581150" cy="914400"/>
          </a:xfrm>
          <a:prstGeom xmlns:a="http://schemas.openxmlformats.org/drawingml/2006/main" prst="roundRect">
            <a:avLst>
              <a:gd name="adj" fmla="val 16667"/>
            </a:avLst>
          </a:prstGeom>
          <a:solidFill xmlns:a="http://schemas.openxmlformats.org/drawingml/2006/main">
            <a:srgbClr val="F5F5F7"/>
          </a:solidFill>
          <a:ln xmlns:a="http://schemas.openxmlformats.org/drawingml/2006/main" w="9525">
            <a:solidFill>
              <a:srgbClr val="FF9F0A"/>
            </a:solidFill>
            <a:prstDash val="solid"/>
          </a:ln>
        </p:spPr>
      </p:sp>
      <p:sp>
        <p:nvSpPr>
          <p:cNvPr id="33" name="">
            <a:extLst xmlns:a="http://schemas.openxmlformats.org/drawingml/2006/main">
              <a:ext uri="{FF2B5EF4-FFF2-40B4-BE49-F238E27FC236}">
                <a16:creationId xmlns:a16="http://schemas.microsoft.com/office/drawing/2014/main" id="{697E6F1E-3521-4089-A668-1416B71C66AB}"/>
              </a:ext>
            </a:extLst>
          </p:cNvPr>
          <p:cNvSpPr>
            <a:spLocks xmlns:a="http://schemas.openxmlformats.org/drawingml/2006/main" noGrp="1"/>
          </p:cNvSpPr>
          <p:nvPr/>
        </p:nvSpPr>
        <p:spPr>
          <a:xfrm xmlns:a="http://schemas.openxmlformats.org/drawingml/2006/main">
            <a:off x="9591675" y="4638675"/>
            <a:ext cx="129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9F0A"/>
                </a:solidFill>
              </a:defRPr>
            </a:pPr>
            <a:r>
              <a:rPr sz="1800" b="1">
                <a:solidFill>
                  <a:srgbClr val="FF9F0A"/>
                </a:solidFill>
              </a:rPr>
              <a:t>VLM</a:t>
            </a:r>
          </a:p>
        </p:txBody>
      </p:sp>
      <p:sp>
        <p:nvSpPr>
          <p:cNvPr id="34" name="">
            <a:extLst xmlns:a="http://schemas.openxmlformats.org/drawingml/2006/main">
              <a:ext uri="{FF2B5EF4-FFF2-40B4-BE49-F238E27FC236}">
                <a16:creationId xmlns:a16="http://schemas.microsoft.com/office/drawing/2014/main" id="{5803409D-5805-4D71-891E-B7A1A3F8BE17}"/>
              </a:ext>
            </a:extLst>
          </p:cNvPr>
          <p:cNvSpPr>
            <a:spLocks xmlns:a="http://schemas.openxmlformats.org/drawingml/2006/main" noGrp="1"/>
          </p:cNvSpPr>
          <p:nvPr/>
        </p:nvSpPr>
        <p:spPr>
          <a:xfrm xmlns:a="http://schemas.openxmlformats.org/drawingml/2006/main">
            <a:off x="9591675" y="50387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9F0A"/>
                </a:solidFill>
              </a:defRPr>
            </a:pPr>
            <a:r>
              <a:rPr sz="1350" b="1">
                <a:solidFill>
                  <a:srgbClr val="FF9F0A"/>
                </a:solidFill>
              </a:rPr>
              <a:t>Exploratory</a:t>
            </a:r>
          </a:p>
        </p:txBody>
      </p:sp>
      <p:sp>
        <p:nvSpPr>
          <p:cNvPr id="35" name="">
            <a:extLst xmlns:a="http://schemas.openxmlformats.org/drawingml/2006/main">
              <a:ext uri="{FF2B5EF4-FFF2-40B4-BE49-F238E27FC236}">
                <a16:creationId xmlns:a16="http://schemas.microsoft.com/office/drawing/2014/main" id="{31E67B33-6CA2-4839-9BF5-F2B59B3F406E}"/>
              </a:ext>
            </a:extLst>
          </p:cNvPr>
          <p:cNvSpPr>
            <a:spLocks xmlns:a="http://schemas.openxmlformats.org/drawingml/2006/main" noGrp="1"/>
          </p:cNvSpPr>
          <p:nvPr/>
        </p:nvSpPr>
        <p:spPr>
          <a:xfrm xmlns:a="http://schemas.openxmlformats.org/drawingml/2006/main">
            <a:off x="723900" y="5286375"/>
            <a:ext cx="733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6E6E73"/>
                </a:solidFill>
              </a:defRPr>
            </a:pPr>
            <a:r>
              <a:rPr sz="1650" b="0">
                <a:solidFill>
                  <a:srgbClr val="6E6E73"/>
                </a:solidFill>
              </a:rPr>
              <a:t>Secondary branch—not part of the classifier proof chain.</a:t>
            </a:r>
          </a:p>
        </p:txBody>
      </p:sp>
      <p:sp>
        <p:nvSpPr>
          <p:cNvPr id="36" name="">
            <a:extLst xmlns:a="http://schemas.openxmlformats.org/drawingml/2006/main">
              <a:ext uri="{FF2B5EF4-FFF2-40B4-BE49-F238E27FC236}">
                <a16:creationId xmlns:a16="http://schemas.microsoft.com/office/drawing/2014/main" id="{E5A97DED-B049-49BC-86B9-0AADCCD3C8D5}"/>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E4911AF-2CC8-410C-B2E5-050E36B093FC}"/>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Architecture contract: docs/week7_showcase_architecture.md</a:t>
            </a:r>
          </a:p>
        </p:txBody>
      </p:sp>
      <p:sp>
        <p:nvSpPr>
          <p:cNvPr id="38" name="">
            <a:extLst xmlns:a="http://schemas.openxmlformats.org/drawingml/2006/main">
              <a:ext uri="{FF2B5EF4-FFF2-40B4-BE49-F238E27FC236}">
                <a16:creationId xmlns:a16="http://schemas.microsoft.com/office/drawing/2014/main" id="{3EE6B096-8EE6-4EE0-A332-C8A97EA8E98B}"/>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02</a:t>
            </a:r>
          </a:p>
        </p:txBody>
      </p:sp>
    </p:spTree>
    <p:extLst>
      <p:ext uri="{BB962C8B-B14F-4D97-AF65-F5344CB8AC3E}">
        <p14:creationId xmlns:p14="http://schemas.microsoft.com/office/powerpoint/2010/main" val="1342091378"/>
      </p:ext>
    </p:extLst>
  </p:cSld>
</p:sld>
</file>

<file path=ppt/slides/slide3.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4B1AC4-CFF0-498D-9F38-7F67CF7EFA42}"/>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DATA AUDIT</a:t>
            </a:r>
          </a:p>
        </p:txBody>
      </p:sp>
      <p:sp>
        <p:nvSpPr>
          <p:cNvPr id="2" name="">
            <a:extLst xmlns:a="http://schemas.openxmlformats.org/drawingml/2006/main">
              <a:ext uri="{FF2B5EF4-FFF2-40B4-BE49-F238E27FC236}">
                <a16:creationId xmlns:a16="http://schemas.microsoft.com/office/drawing/2014/main" id="{FFBD2778-DEF4-421D-A890-94648E22EEB3}"/>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050608"/>
                </a:solidFill>
              </a:defRPr>
            </a:pPr>
            <a:r>
              <a:rPr sz="4500" b="1">
                <a:solidFill>
                  <a:srgbClr val="050608"/>
                </a:solidFill>
              </a:rPr>
              <a:t>The official split is useful—and not entity isolated.</a:t>
            </a:r>
          </a:p>
        </p:txBody>
      </p:sp>
      <p:sp>
        <p:nvSpPr>
          <p:cNvPr id="3" name="">
            <a:extLst xmlns:a="http://schemas.openxmlformats.org/drawingml/2006/main">
              <a:ext uri="{FF2B5EF4-FFF2-40B4-BE49-F238E27FC236}">
                <a16:creationId xmlns:a16="http://schemas.microsoft.com/office/drawing/2014/main" id="{52157618-C044-4D56-BB80-91D4D513B1E5}"/>
              </a:ext>
            </a:extLst>
          </p:cNvPr>
          <p:cNvSpPr>
            <a:spLocks xmlns:a="http://schemas.openxmlformats.org/drawingml/2006/main" noGrp="1"/>
          </p:cNvSpPr>
          <p:nvPr/>
        </p:nvSpPr>
        <p:spPr>
          <a:xfrm xmlns:a="http://schemas.openxmlformats.org/drawingml/2006/main">
            <a:off x="685800" y="22479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000" b="1">
                <a:solidFill>
                  <a:srgbClr val="FF453A"/>
                </a:solidFill>
              </a:defRPr>
            </a:pPr>
            <a:r>
              <a:rPr sz="6000" b="1">
                <a:solidFill>
                  <a:srgbClr val="FF453A"/>
                </a:solidFill>
              </a:rPr>
              <a:t>227</a:t>
            </a:r>
          </a:p>
        </p:txBody>
      </p:sp>
      <p:sp>
        <p:nvSpPr>
          <p:cNvPr id="4" name="">
            <a:extLst xmlns:a="http://schemas.openxmlformats.org/drawingml/2006/main">
              <a:ext uri="{FF2B5EF4-FFF2-40B4-BE49-F238E27FC236}">
                <a16:creationId xmlns:a16="http://schemas.microsoft.com/office/drawing/2014/main" id="{83EFE653-8523-4831-88AC-51EEA38D4E57}"/>
              </a:ext>
            </a:extLst>
          </p:cNvPr>
          <p:cNvSpPr>
            <a:spLocks xmlns:a="http://schemas.openxmlformats.org/drawingml/2006/main" noGrp="1"/>
          </p:cNvSpPr>
          <p:nvPr/>
        </p:nvSpPr>
        <p:spPr>
          <a:xfrm xmlns:a="http://schemas.openxmlformats.org/drawingml/2006/main">
            <a:off x="685800" y="31432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1D1F"/>
                </a:solidFill>
              </a:defRPr>
            </a:pPr>
            <a:r>
              <a:rPr sz="2025" b="1">
                <a:solidFill>
                  <a:srgbClr val="1D1D1F"/>
                </a:solidFill>
              </a:rPr>
              <a:t>overlapping leaf_id values across train and test</a:t>
            </a:r>
          </a:p>
        </p:txBody>
      </p:sp>
      <p:sp>
        <p:nvSpPr>
          <p:cNvPr id="5" name="">
            <a:extLst xmlns:a="http://schemas.openxmlformats.org/drawingml/2006/main">
              <a:ext uri="{FF2B5EF4-FFF2-40B4-BE49-F238E27FC236}">
                <a16:creationId xmlns:a16="http://schemas.microsoft.com/office/drawing/2014/main" id="{5FFC40B8-274F-49CA-BA8B-91C32CB17399}"/>
              </a:ext>
            </a:extLst>
          </p:cNvPr>
          <p:cNvSpPr>
            <a:spLocks xmlns:a="http://schemas.openxmlformats.org/drawingml/2006/main" noGrp="1"/>
          </p:cNvSpPr>
          <p:nvPr/>
        </p:nvSpPr>
        <p:spPr>
          <a:xfrm xmlns:a="http://schemas.openxmlformats.org/drawingml/2006/main">
            <a:off x="6191250" y="2333625"/>
            <a:ext cx="38100" cy="2857500"/>
          </a:xfrm>
          <a:prstGeom xmlns:a="http://schemas.openxmlformats.org/drawingml/2006/main" prst="rect">
            <a:avLst/>
          </a:prstGeom>
          <a:solidFill xmlns:a="http://schemas.openxmlformats.org/drawingml/2006/main">
            <a:srgbClr val="FF45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526B2F-6C77-4927-87E6-BACE654A871E}"/>
              </a:ext>
            </a:extLst>
          </p:cNvPr>
          <p:cNvSpPr>
            <a:spLocks xmlns:a="http://schemas.openxmlformats.org/drawingml/2006/main" noGrp="1"/>
          </p:cNvSpPr>
          <p:nvPr/>
        </p:nvSpPr>
        <p:spPr>
          <a:xfrm xmlns:a="http://schemas.openxmlformats.org/drawingml/2006/main">
            <a:off x="6762750" y="23431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D1D1F"/>
                </a:solidFill>
              </a:defRPr>
            </a:pPr>
            <a:r>
              <a:rPr sz="2250" b="1">
                <a:solidFill>
                  <a:srgbClr val="1D1D1F"/>
                </a:solidFill>
              </a:rPr>
              <a:t>Safe interpretation</a:t>
            </a:r>
          </a:p>
        </p:txBody>
      </p:sp>
      <p:sp>
        <p:nvSpPr>
          <p:cNvPr id="7" name="">
            <a:extLst xmlns:a="http://schemas.openxmlformats.org/drawingml/2006/main">
              <a:ext uri="{FF2B5EF4-FFF2-40B4-BE49-F238E27FC236}">
                <a16:creationId xmlns:a16="http://schemas.microsoft.com/office/drawing/2014/main" id="{A518E896-9A34-4538-ABAD-AC9BE1497ED3}"/>
              </a:ext>
            </a:extLst>
          </p:cNvPr>
          <p:cNvSpPr>
            <a:spLocks xmlns:a="http://schemas.openxmlformats.org/drawingml/2006/main" noGrp="1"/>
          </p:cNvSpPr>
          <p:nvPr/>
        </p:nvSpPr>
        <p:spPr>
          <a:xfrm xmlns:a="http://schemas.openxmlformats.org/drawingml/2006/main">
            <a:off x="6762750" y="3009900"/>
            <a:ext cx="4191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0">
                <a:solidFill>
                  <a:srgbClr val="1D1D1F"/>
                </a:solidFill>
              </a:defRPr>
            </a:pPr>
            <a:r>
              <a:rPr sz="2250" b="0">
                <a:solidFill>
                  <a:srgbClr val="1D1D1F"/>
                </a:solidFill>
              </a:rPr>
              <a:t>Strong official-split results support controlled comparisons.</a:t>
            </a:r>
          </a:p>
        </p:txBody>
      </p:sp>
      <p:sp>
        <p:nvSpPr>
          <p:cNvPr id="8" name="">
            <a:extLst xmlns:a="http://schemas.openxmlformats.org/drawingml/2006/main">
              <a:ext uri="{FF2B5EF4-FFF2-40B4-BE49-F238E27FC236}">
                <a16:creationId xmlns:a16="http://schemas.microsoft.com/office/drawing/2014/main" id="{6F0EBA60-E591-4508-9C62-904FC18EAD08}"/>
              </a:ext>
            </a:extLst>
          </p:cNvPr>
          <p:cNvSpPr>
            <a:spLocks xmlns:a="http://schemas.openxmlformats.org/drawingml/2006/main" noGrp="1"/>
          </p:cNvSpPr>
          <p:nvPr/>
        </p:nvSpPr>
        <p:spPr>
          <a:xfrm xmlns:a="http://schemas.openxmlformats.org/drawingml/2006/main">
            <a:off x="6762750" y="4095750"/>
            <a:ext cx="4191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453A"/>
                </a:solidFill>
              </a:defRPr>
            </a:pPr>
            <a:r>
              <a:rPr sz="2250" b="1">
                <a:solidFill>
                  <a:srgbClr val="FF453A"/>
                </a:solidFill>
              </a:rPr>
              <a:t>They do not prove leakage-free entity separation or field generalization.</a:t>
            </a:r>
          </a:p>
        </p:txBody>
      </p:sp>
      <p:sp>
        <p:nvSpPr>
          <p:cNvPr id="9" name="">
            <a:extLst xmlns:a="http://schemas.openxmlformats.org/drawingml/2006/main">
              <a:ext uri="{FF2B5EF4-FFF2-40B4-BE49-F238E27FC236}">
                <a16:creationId xmlns:a16="http://schemas.microsoft.com/office/drawing/2014/main" id="{DFABD247-AF1F-4EF7-B0C9-C384056A202B}"/>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598E8B-ED44-4232-927B-9311ECCFFCCD}"/>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Evidence: reports/data_audit.md · outputs/plantvillage/audit.json</a:t>
            </a:r>
          </a:p>
        </p:txBody>
      </p:sp>
      <p:sp>
        <p:nvSpPr>
          <p:cNvPr id="11" name="">
            <a:extLst xmlns:a="http://schemas.openxmlformats.org/drawingml/2006/main">
              <a:ext uri="{FF2B5EF4-FFF2-40B4-BE49-F238E27FC236}">
                <a16:creationId xmlns:a16="http://schemas.microsoft.com/office/drawing/2014/main" id="{23D265D7-C4DA-4FE9-9E6A-6A92F530682A}"/>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03</a:t>
            </a:r>
          </a:p>
        </p:txBody>
      </p:sp>
    </p:spTree>
    <p:extLst>
      <p:ext uri="{BB962C8B-B14F-4D97-AF65-F5344CB8AC3E}">
        <p14:creationId xmlns:p14="http://schemas.microsoft.com/office/powerpoint/2010/main" val="241290716"/>
      </p:ext>
    </p:extLst>
  </p:cSld>
</p:sld>
</file>

<file path=ppt/slides/slide4.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30BC16-4EA1-4084-8CA6-E920864B48D5}"/>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WEEK 2 BENCHMARK</a:t>
            </a:r>
          </a:p>
        </p:txBody>
      </p:sp>
      <p:sp>
        <p:nvSpPr>
          <p:cNvPr id="2" name="">
            <a:extLst xmlns:a="http://schemas.openxmlformats.org/drawingml/2006/main">
              <a:ext uri="{FF2B5EF4-FFF2-40B4-BE49-F238E27FC236}">
                <a16:creationId xmlns:a16="http://schemas.microsoft.com/office/drawing/2014/main" id="{5B80DD3A-7EA9-4FF5-86AA-B453F94AB84B}"/>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050608"/>
                </a:solidFill>
              </a:defRPr>
            </a:pPr>
            <a:r>
              <a:rPr sz="4500" b="1">
                <a:solidFill>
                  <a:srgbClr val="050608"/>
                </a:solidFill>
              </a:rPr>
              <a:t>Accuracy and deployability need different winners.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613158a294948c6"/>
          <a:stretch xmlns:a="http://schemas.openxmlformats.org/drawingml/2006/main"/>
        </p:blipFill>
        <p:spPr>
          <a:xfrm xmlns:a="http://schemas.openxmlformats.org/drawingml/2006/main">
            <a:off x="5429250" y="2125874"/>
            <a:ext cx="6076950" cy="3511127"/>
          </a:xfrm>
          <a:prstGeom xmlns:a="http://schemas.openxmlformats.org/drawingml/2006/main" prst="roundRect">
            <a:avLst>
              <a:gd name="adj" fmla="val 3951"/>
            </a:avLst>
          </a:prstGeom>
        </p:spPr>
      </p:pic>
      <p:sp>
        <p:nvSpPr>
          <p:cNvPr id="4" name="">
            <a:extLst xmlns:a="http://schemas.openxmlformats.org/drawingml/2006/main">
              <a:ext uri="{FF2B5EF4-FFF2-40B4-BE49-F238E27FC236}">
                <a16:creationId xmlns:a16="http://schemas.microsoft.com/office/drawing/2014/main" id="{9D25F11D-B9FF-4869-95AB-4F69C2088B61}"/>
              </a:ext>
            </a:extLst>
          </p:cNvPr>
          <p:cNvSpPr>
            <a:spLocks xmlns:a="http://schemas.openxmlformats.org/drawingml/2006/main" noGrp="1"/>
          </p:cNvSpPr>
          <p:nvPr/>
        </p:nvSpPr>
        <p:spPr>
          <a:xfrm xmlns:a="http://schemas.openxmlformats.org/drawingml/2006/main">
            <a:off x="685800" y="228600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D1D1F"/>
                </a:solidFill>
              </a:defRPr>
            </a:pPr>
            <a:r>
              <a:rPr sz="2550" b="1">
                <a:solidFill>
                  <a:srgbClr val="1D1D1F"/>
                </a:solidFill>
              </a:rPr>
              <a:t>ResNet50</a:t>
            </a:r>
          </a:p>
        </p:txBody>
      </p:sp>
      <p:sp>
        <p:nvSpPr>
          <p:cNvPr id="5" name="">
            <a:extLst xmlns:a="http://schemas.openxmlformats.org/drawingml/2006/main">
              <a:ext uri="{FF2B5EF4-FFF2-40B4-BE49-F238E27FC236}">
                <a16:creationId xmlns:a16="http://schemas.microsoft.com/office/drawing/2014/main" id="{9CCA5EE0-98FA-4F20-B01B-2C17B991D2C5}"/>
              </a:ext>
            </a:extLst>
          </p:cNvPr>
          <p:cNvSpPr>
            <a:spLocks xmlns:a="http://schemas.openxmlformats.org/drawingml/2006/main" noGrp="1"/>
          </p:cNvSpPr>
          <p:nvPr/>
        </p:nvSpPr>
        <p:spPr>
          <a:xfrm xmlns:a="http://schemas.openxmlformats.org/drawingml/2006/main">
            <a:off x="685800" y="2781300"/>
            <a:ext cx="4095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0071E3"/>
                </a:solidFill>
              </a:defRPr>
            </a:pPr>
            <a:r>
              <a:rPr sz="5400" b="1">
                <a:solidFill>
                  <a:srgbClr val="0071E3"/>
                </a:solidFill>
              </a:rPr>
              <a:t>0.9830</a:t>
            </a:r>
          </a:p>
        </p:txBody>
      </p:sp>
      <p:sp>
        <p:nvSpPr>
          <p:cNvPr id="6" name="">
            <a:extLst xmlns:a="http://schemas.openxmlformats.org/drawingml/2006/main">
              <a:ext uri="{FF2B5EF4-FFF2-40B4-BE49-F238E27FC236}">
                <a16:creationId xmlns:a16="http://schemas.microsoft.com/office/drawing/2014/main" id="{C308A4A8-0102-4F67-893B-7B0F992A1CEC}"/>
              </a:ext>
            </a:extLst>
          </p:cNvPr>
          <p:cNvSpPr>
            <a:spLocks xmlns:a="http://schemas.openxmlformats.org/drawingml/2006/main" noGrp="1"/>
          </p:cNvSpPr>
          <p:nvPr/>
        </p:nvSpPr>
        <p:spPr>
          <a:xfrm xmlns:a="http://schemas.openxmlformats.org/drawingml/2006/main">
            <a:off x="685800" y="36004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6E6E73"/>
                </a:solidFill>
              </a:defRPr>
            </a:pPr>
            <a:r>
              <a:rPr sz="1950" b="0">
                <a:solidFill>
                  <a:srgbClr val="6E6E73"/>
                </a:solidFill>
              </a:rPr>
              <a:t>best accuracy candidate</a:t>
            </a:r>
          </a:p>
        </p:txBody>
      </p:sp>
      <p:sp>
        <p:nvSpPr>
          <p:cNvPr id="7" name="">
            <a:extLst xmlns:a="http://schemas.openxmlformats.org/drawingml/2006/main">
              <a:ext uri="{FF2B5EF4-FFF2-40B4-BE49-F238E27FC236}">
                <a16:creationId xmlns:a16="http://schemas.microsoft.com/office/drawing/2014/main" id="{E1B92423-08F9-433E-B2CF-50F35454E409}"/>
              </a:ext>
            </a:extLst>
          </p:cNvPr>
          <p:cNvSpPr>
            <a:spLocks xmlns:a="http://schemas.openxmlformats.org/drawingml/2006/main" noGrp="1"/>
          </p:cNvSpPr>
          <p:nvPr/>
        </p:nvSpPr>
        <p:spPr>
          <a:xfrm xmlns:a="http://schemas.openxmlformats.org/drawingml/2006/main">
            <a:off x="685800" y="445770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D1D1F"/>
                </a:solidFill>
              </a:defRPr>
            </a:pPr>
            <a:r>
              <a:rPr sz="2550" b="1">
                <a:solidFill>
                  <a:srgbClr val="1D1D1F"/>
                </a:solidFill>
              </a:rPr>
              <a:t>MobileNetV2</a:t>
            </a:r>
          </a:p>
        </p:txBody>
      </p:sp>
      <p:sp>
        <p:nvSpPr>
          <p:cNvPr id="8" name="">
            <a:extLst xmlns:a="http://schemas.openxmlformats.org/drawingml/2006/main">
              <a:ext uri="{FF2B5EF4-FFF2-40B4-BE49-F238E27FC236}">
                <a16:creationId xmlns:a16="http://schemas.microsoft.com/office/drawing/2014/main" id="{D21514B7-31AE-4EA3-BE55-D78D52760AA8}"/>
              </a:ext>
            </a:extLst>
          </p:cNvPr>
          <p:cNvSpPr>
            <a:spLocks xmlns:a="http://schemas.openxmlformats.org/drawingml/2006/main" noGrp="1"/>
          </p:cNvSpPr>
          <p:nvPr/>
        </p:nvSpPr>
        <p:spPr>
          <a:xfrm xmlns:a="http://schemas.openxmlformats.org/drawingml/2006/main">
            <a:off x="685800" y="4914900"/>
            <a:ext cx="409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30D158"/>
                </a:solidFill>
              </a:defRPr>
            </a:pPr>
            <a:r>
              <a:rPr sz="3600" b="1">
                <a:solidFill>
                  <a:srgbClr val="30D158"/>
                </a:solidFill>
              </a:rPr>
              <a:t>2.27M · 0.31G</a:t>
            </a:r>
          </a:p>
        </p:txBody>
      </p:sp>
      <p:sp>
        <p:nvSpPr>
          <p:cNvPr id="9" name="">
            <a:extLst xmlns:a="http://schemas.openxmlformats.org/drawingml/2006/main">
              <a:ext uri="{FF2B5EF4-FFF2-40B4-BE49-F238E27FC236}">
                <a16:creationId xmlns:a16="http://schemas.microsoft.com/office/drawing/2014/main" id="{929F2C8D-53D2-4CC2-979C-4F3BB39DB9D5}"/>
              </a:ext>
            </a:extLst>
          </p:cNvPr>
          <p:cNvSpPr>
            <a:spLocks xmlns:a="http://schemas.openxmlformats.org/drawingml/2006/main" noGrp="1"/>
          </p:cNvSpPr>
          <p:nvPr/>
        </p:nvSpPr>
        <p:spPr>
          <a:xfrm xmlns:a="http://schemas.openxmlformats.org/drawingml/2006/main">
            <a:off x="685800" y="55245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6E6E73"/>
                </a:solidFill>
              </a:defRPr>
            </a:pPr>
            <a:r>
              <a:rPr sz="1950" b="0">
                <a:solidFill>
                  <a:srgbClr val="6E6E73"/>
                </a:solidFill>
              </a:rPr>
              <a:t>lightweight deployment candidate</a:t>
            </a:r>
          </a:p>
        </p:txBody>
      </p:sp>
      <p:sp>
        <p:nvSpPr>
          <p:cNvPr id="10" name="">
            <a:extLst xmlns:a="http://schemas.openxmlformats.org/drawingml/2006/main">
              <a:ext uri="{FF2B5EF4-FFF2-40B4-BE49-F238E27FC236}">
                <a16:creationId xmlns:a16="http://schemas.microsoft.com/office/drawing/2014/main" id="{8666A3B9-A742-487C-BD80-217293691731}"/>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9B26B8-45AB-43AB-B965-2D7E6CE20F53}"/>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Evidence: reports/week2_benchmark_progress.md · official split, shared protocol</a:t>
            </a:r>
          </a:p>
        </p:txBody>
      </p:sp>
      <p:sp>
        <p:nvSpPr>
          <p:cNvPr id="12" name="">
            <a:extLst xmlns:a="http://schemas.openxmlformats.org/drawingml/2006/main">
              <a:ext uri="{FF2B5EF4-FFF2-40B4-BE49-F238E27FC236}">
                <a16:creationId xmlns:a16="http://schemas.microsoft.com/office/drawing/2014/main" id="{4054BA0E-7EB6-4D3B-AFC5-D8234AF9E746}"/>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04</a:t>
            </a:r>
          </a:p>
        </p:txBody>
      </p:sp>
    </p:spTree>
    <p:extLst>
      <p:ext uri="{BB962C8B-B14F-4D97-AF65-F5344CB8AC3E}">
        <p14:creationId xmlns:p14="http://schemas.microsoft.com/office/powerpoint/2010/main" val="1326820128"/>
      </p:ext>
    </p:extLst>
  </p:cSld>
</p:sld>
</file>

<file path=ppt/slides/slide5.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7AB705-3CEC-4678-ACE4-8C0755759421}"/>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WEEK 3 DECISION</a:t>
            </a:r>
          </a:p>
        </p:txBody>
      </p:sp>
      <p:sp>
        <p:nvSpPr>
          <p:cNvPr id="2" name="">
            <a:extLst xmlns:a="http://schemas.openxmlformats.org/drawingml/2006/main">
              <a:ext uri="{FF2B5EF4-FFF2-40B4-BE49-F238E27FC236}">
                <a16:creationId xmlns:a16="http://schemas.microsoft.com/office/drawing/2014/main" id="{4355A032-54A9-4CED-9AE3-5286E2CB3517}"/>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050608"/>
                </a:solidFill>
              </a:defRPr>
            </a:pPr>
            <a:r>
              <a:rPr sz="4500" b="1">
                <a:solidFill>
                  <a:srgbClr val="050608"/>
                </a:solidFill>
              </a:rPr>
              <a:t>Controlled ablation selected the final classifier.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f350d159d2e4181"/>
          <a:stretch xmlns:a="http://schemas.openxmlformats.org/drawingml/2006/main"/>
        </p:blipFill>
        <p:spPr>
          <a:xfrm xmlns:a="http://schemas.openxmlformats.org/drawingml/2006/main">
            <a:off x="5219700" y="2005013"/>
            <a:ext cx="6286500" cy="3667125"/>
          </a:xfrm>
          <a:prstGeom xmlns:a="http://schemas.openxmlformats.org/drawingml/2006/main" prst="roundRect">
            <a:avLst>
              <a:gd name="adj" fmla="val 4103"/>
            </a:avLst>
          </a:prstGeom>
        </p:spPr>
      </p:pic>
      <p:sp>
        <p:nvSpPr>
          <p:cNvPr id="4" name="">
            <a:extLst xmlns:a="http://schemas.openxmlformats.org/drawingml/2006/main">
              <a:ext uri="{FF2B5EF4-FFF2-40B4-BE49-F238E27FC236}">
                <a16:creationId xmlns:a16="http://schemas.microsoft.com/office/drawing/2014/main" id="{A3F17214-1C1F-4731-9F96-5885D8054FBA}"/>
              </a:ext>
            </a:extLst>
          </p:cNvPr>
          <p:cNvSpPr>
            <a:spLocks xmlns:a="http://schemas.openxmlformats.org/drawingml/2006/main" noGrp="1"/>
          </p:cNvSpPr>
          <p:nvPr/>
        </p:nvSpPr>
        <p:spPr>
          <a:xfrm xmlns:a="http://schemas.openxmlformats.org/drawingml/2006/main">
            <a:off x="685800" y="2286000"/>
            <a:ext cx="381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000" b="1">
                <a:solidFill>
                  <a:srgbClr val="0071E3"/>
                </a:solidFill>
              </a:defRPr>
            </a:pPr>
            <a:r>
              <a:rPr sz="6000" b="1">
                <a:solidFill>
                  <a:srgbClr val="0071E3"/>
                </a:solidFill>
              </a:rPr>
              <a:t>0.9953</a:t>
            </a:r>
          </a:p>
        </p:txBody>
      </p:sp>
      <p:sp>
        <p:nvSpPr>
          <p:cNvPr id="5" name="">
            <a:extLst xmlns:a="http://schemas.openxmlformats.org/drawingml/2006/main">
              <a:ext uri="{FF2B5EF4-FFF2-40B4-BE49-F238E27FC236}">
                <a16:creationId xmlns:a16="http://schemas.microsoft.com/office/drawing/2014/main" id="{80EDD5C3-56A9-4419-9985-72C7DE04D542}"/>
              </a:ext>
            </a:extLst>
          </p:cNvPr>
          <p:cNvSpPr>
            <a:spLocks xmlns:a="http://schemas.openxmlformats.org/drawingml/2006/main" noGrp="1"/>
          </p:cNvSpPr>
          <p:nvPr/>
        </p:nvSpPr>
        <p:spPr>
          <a:xfrm xmlns:a="http://schemas.openxmlformats.org/drawingml/2006/main">
            <a:off x="685800" y="3181350"/>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1D1F"/>
                </a:solidFill>
              </a:defRPr>
            </a:pPr>
            <a:r>
              <a:rPr sz="2025" b="1">
                <a:solidFill>
                  <a:srgbClr val="1D1D1F"/>
                </a:solidFill>
              </a:rPr>
              <a:t>Test Accuracy</a:t>
            </a:r>
          </a:p>
        </p:txBody>
      </p:sp>
      <p:sp>
        <p:nvSpPr>
          <p:cNvPr id="6" name="">
            <a:extLst xmlns:a="http://schemas.openxmlformats.org/drawingml/2006/main">
              <a:ext uri="{FF2B5EF4-FFF2-40B4-BE49-F238E27FC236}">
                <a16:creationId xmlns:a16="http://schemas.microsoft.com/office/drawing/2014/main" id="{1788EA74-58EB-4AE0-91B2-1A7B7593CD3D}"/>
              </a:ext>
            </a:extLst>
          </p:cNvPr>
          <p:cNvSpPr>
            <a:spLocks xmlns:a="http://schemas.openxmlformats.org/drawingml/2006/main" noGrp="1"/>
          </p:cNvSpPr>
          <p:nvPr/>
        </p:nvSpPr>
        <p:spPr>
          <a:xfrm xmlns:a="http://schemas.openxmlformats.org/drawingml/2006/main">
            <a:off x="685800" y="4238625"/>
            <a:ext cx="381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000" b="1">
                <a:solidFill>
                  <a:srgbClr val="30D158"/>
                </a:solidFill>
              </a:defRPr>
            </a:pPr>
            <a:r>
              <a:rPr sz="6000" b="1">
                <a:solidFill>
                  <a:srgbClr val="30D158"/>
                </a:solidFill>
              </a:rPr>
              <a:t>0.9941</a:t>
            </a:r>
          </a:p>
        </p:txBody>
      </p:sp>
      <p:sp>
        <p:nvSpPr>
          <p:cNvPr id="7" name="">
            <a:extLst xmlns:a="http://schemas.openxmlformats.org/drawingml/2006/main">
              <a:ext uri="{FF2B5EF4-FFF2-40B4-BE49-F238E27FC236}">
                <a16:creationId xmlns:a16="http://schemas.microsoft.com/office/drawing/2014/main" id="{4F822146-CAB2-4AB7-B586-423593E44E34}"/>
              </a:ext>
            </a:extLst>
          </p:cNvPr>
          <p:cNvSpPr>
            <a:spLocks xmlns:a="http://schemas.openxmlformats.org/drawingml/2006/main" noGrp="1"/>
          </p:cNvSpPr>
          <p:nvPr/>
        </p:nvSpPr>
        <p:spPr>
          <a:xfrm xmlns:a="http://schemas.openxmlformats.org/drawingml/2006/main">
            <a:off x="685800" y="5133975"/>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D1D1F"/>
                </a:solidFill>
              </a:defRPr>
            </a:pPr>
            <a:r>
              <a:rPr sz="2025" b="1">
                <a:solidFill>
                  <a:srgbClr val="1D1D1F"/>
                </a:solidFill>
              </a:rPr>
              <a:t>Macro F1</a:t>
            </a:r>
          </a:p>
        </p:txBody>
      </p:sp>
      <p:sp>
        <p:nvSpPr>
          <p:cNvPr id="8" name="">
            <a:extLst xmlns:a="http://schemas.openxmlformats.org/drawingml/2006/main">
              <a:ext uri="{FF2B5EF4-FFF2-40B4-BE49-F238E27FC236}">
                <a16:creationId xmlns:a16="http://schemas.microsoft.com/office/drawing/2014/main" id="{CF975998-E3A9-4767-8939-1654A7714E9C}"/>
              </a:ext>
            </a:extLst>
          </p:cNvPr>
          <p:cNvSpPr>
            <a:spLocks xmlns:a="http://schemas.openxmlformats.org/drawingml/2006/main" noGrp="1"/>
          </p:cNvSpPr>
          <p:nvPr/>
        </p:nvSpPr>
        <p:spPr>
          <a:xfrm xmlns:a="http://schemas.openxmlformats.org/drawingml/2006/main">
            <a:off x="5334000" y="5562600"/>
            <a:ext cx="600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D1D1F"/>
                </a:solidFill>
              </a:defRPr>
            </a:pPr>
            <a:r>
              <a:rPr sz="1875" b="1">
                <a:solidFill>
                  <a:srgbClr val="1D1D1F"/>
                </a:solidFill>
              </a:rPr>
              <a:t>ResNet50 + Label Smoothing + Cosine Scheduler</a:t>
            </a:r>
          </a:p>
        </p:txBody>
      </p:sp>
      <p:sp>
        <p:nvSpPr>
          <p:cNvPr id="9" name="">
            <a:extLst xmlns:a="http://schemas.openxmlformats.org/drawingml/2006/main">
              <a:ext uri="{FF2B5EF4-FFF2-40B4-BE49-F238E27FC236}">
                <a16:creationId xmlns:a16="http://schemas.microsoft.com/office/drawing/2014/main" id="{C64B29B6-D4CD-4DEF-B71D-1CE8BBB5B65E}"/>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F7B1DA-BCDD-4F25-AA00-282CCE539013}"/>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Evidence: reports/week3_final_model_decision.md · seed 42 · official split</a:t>
            </a:r>
          </a:p>
        </p:txBody>
      </p:sp>
      <p:sp>
        <p:nvSpPr>
          <p:cNvPr id="11" name="">
            <a:extLst xmlns:a="http://schemas.openxmlformats.org/drawingml/2006/main">
              <a:ext uri="{FF2B5EF4-FFF2-40B4-BE49-F238E27FC236}">
                <a16:creationId xmlns:a16="http://schemas.microsoft.com/office/drawing/2014/main" id="{01316870-99C6-4671-9BA8-8BA610F8D0F2}"/>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05</a:t>
            </a:r>
          </a:p>
        </p:txBody>
      </p:sp>
    </p:spTree>
    <p:extLst>
      <p:ext uri="{BB962C8B-B14F-4D97-AF65-F5344CB8AC3E}">
        <p14:creationId xmlns:p14="http://schemas.microsoft.com/office/powerpoint/2010/main" val="2101803385"/>
      </p:ext>
    </p:extLst>
  </p:cSld>
</p:sld>
</file>

<file path=ppt/slides/slide6.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F2F95F-19D0-4740-88F1-0E6D05D8AE03}"/>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WEEK 4 EXPLAINABILITY</a:t>
            </a:r>
          </a:p>
        </p:txBody>
      </p:sp>
      <p:sp>
        <p:nvSpPr>
          <p:cNvPr id="2" name="">
            <a:extLst xmlns:a="http://schemas.openxmlformats.org/drawingml/2006/main">
              <a:ext uri="{FF2B5EF4-FFF2-40B4-BE49-F238E27FC236}">
                <a16:creationId xmlns:a16="http://schemas.microsoft.com/office/drawing/2014/main" id="{B0D266D4-B35C-40A8-BA9F-3B6EE7A5BF8B}"/>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050608"/>
                </a:solidFill>
              </a:defRPr>
            </a:pPr>
            <a:r>
              <a:rPr sz="4800" b="1">
                <a:solidFill>
                  <a:srgbClr val="050608"/>
                </a:solidFill>
              </a:rPr>
              <a:t>Grad-CAM shows relevance, not causality.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8542669e25d4895"/>
          <a:srcRect xmlns:a="http://schemas.openxmlformats.org/drawingml/2006/main" l="0" t="46419" r="0" b="46419"/>
          <a:stretch xmlns:a="http://schemas.openxmlformats.org/drawingml/2006/main">
            <a:fillRect l="0" t="0" r="0" b="0"/>
          </a:stretch>
        </p:blipFill>
        <p:spPr>
          <a:xfrm xmlns:a="http://schemas.openxmlformats.org/drawingml/2006/main">
            <a:off x="685800" y="2381250"/>
            <a:ext cx="8191500" cy="3143250"/>
          </a:xfrm>
          <a:prstGeom xmlns:a="http://schemas.openxmlformats.org/drawingml/2006/main" prst="roundRect">
            <a:avLst>
              <a:gd name="adj" fmla="val 4848"/>
            </a:avLst>
          </a:prstGeom>
        </p:spPr>
      </p:pic>
      <p:sp>
        <p:nvSpPr>
          <p:cNvPr id="4" name="">
            <a:extLst xmlns:a="http://schemas.openxmlformats.org/drawingml/2006/main">
              <a:ext uri="{FF2B5EF4-FFF2-40B4-BE49-F238E27FC236}">
                <a16:creationId xmlns:a16="http://schemas.microsoft.com/office/drawing/2014/main" id="{1454631F-E28D-4220-9358-05E07371986D}"/>
              </a:ext>
            </a:extLst>
          </p:cNvPr>
          <p:cNvSpPr>
            <a:spLocks xmlns:a="http://schemas.openxmlformats.org/drawingml/2006/main" noGrp="1"/>
          </p:cNvSpPr>
          <p:nvPr/>
        </p:nvSpPr>
        <p:spPr>
          <a:xfrm xmlns:a="http://schemas.openxmlformats.org/drawingml/2006/main">
            <a:off x="9382125" y="226695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0" b="1">
                <a:solidFill>
                  <a:srgbClr val="0071E3"/>
                </a:solidFill>
              </a:defRPr>
            </a:pPr>
            <a:r>
              <a:rPr sz="6900" b="1">
                <a:solidFill>
                  <a:srgbClr val="0071E3"/>
                </a:solidFill>
              </a:rPr>
              <a:t>24</a:t>
            </a:r>
          </a:p>
        </p:txBody>
      </p:sp>
      <p:sp>
        <p:nvSpPr>
          <p:cNvPr id="5" name="">
            <a:extLst xmlns:a="http://schemas.openxmlformats.org/drawingml/2006/main">
              <a:ext uri="{FF2B5EF4-FFF2-40B4-BE49-F238E27FC236}">
                <a16:creationId xmlns:a16="http://schemas.microsoft.com/office/drawing/2014/main" id="{55C7D286-EB11-4972-A3F9-A92AADE28711}"/>
              </a:ext>
            </a:extLst>
          </p:cNvPr>
          <p:cNvSpPr>
            <a:spLocks xmlns:a="http://schemas.openxmlformats.org/drawingml/2006/main" noGrp="1"/>
          </p:cNvSpPr>
          <p:nvPr/>
        </p:nvSpPr>
        <p:spPr>
          <a:xfrm xmlns:a="http://schemas.openxmlformats.org/drawingml/2006/main">
            <a:off x="9239250" y="3286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1D1D1F"/>
                </a:solidFill>
              </a:defRPr>
            </a:pPr>
            <a:r>
              <a:rPr sz="2250" b="1">
                <a:solidFill>
                  <a:srgbClr val="1D1D1F"/>
                </a:solidFill>
              </a:rPr>
              <a:t>fixed samples</a:t>
            </a:r>
          </a:p>
        </p:txBody>
      </p:sp>
      <p:sp>
        <p:nvSpPr>
          <p:cNvPr id="6" name="">
            <a:extLst xmlns:a="http://schemas.openxmlformats.org/drawingml/2006/main">
              <a:ext uri="{FF2B5EF4-FFF2-40B4-BE49-F238E27FC236}">
                <a16:creationId xmlns:a16="http://schemas.microsoft.com/office/drawing/2014/main" id="{422A74CE-82EC-4FAE-A073-F59625F51193}"/>
              </a:ext>
            </a:extLst>
          </p:cNvPr>
          <p:cNvSpPr>
            <a:spLocks xmlns:a="http://schemas.openxmlformats.org/drawingml/2006/main" noGrp="1"/>
          </p:cNvSpPr>
          <p:nvPr/>
        </p:nvSpPr>
        <p:spPr>
          <a:xfrm xmlns:a="http://schemas.openxmlformats.org/drawingml/2006/main">
            <a:off x="9353550" y="4048125"/>
            <a:ext cx="2152650" cy="38100"/>
          </a:xfrm>
          <a:prstGeom xmlns:a="http://schemas.openxmlformats.org/drawingml/2006/main" prst="rect">
            <a:avLst/>
          </a:prstGeom>
          <a:solidFill xmlns:a="http://schemas.openxmlformats.org/drawingml/2006/main">
            <a:srgbClr val="FF9F0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9553C34-987C-4167-88D1-32E86D3B163D}"/>
              </a:ext>
            </a:extLst>
          </p:cNvPr>
          <p:cNvSpPr>
            <a:spLocks xmlns:a="http://schemas.openxmlformats.org/drawingml/2006/main" noGrp="1"/>
          </p:cNvSpPr>
          <p:nvPr/>
        </p:nvSpPr>
        <p:spPr>
          <a:xfrm xmlns:a="http://schemas.openxmlformats.org/drawingml/2006/main">
            <a:off x="9239250" y="430530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FF9F0A"/>
                </a:solidFill>
              </a:defRPr>
            </a:pPr>
            <a:r>
              <a:rPr sz="2250" b="1">
                <a:solidFill>
                  <a:srgbClr val="FF9F0A"/>
                </a:solidFill>
              </a:rPr>
              <a:t>Localization aid</a:t>
            </a:r>
          </a:p>
          <a:p xmlns:a="http://schemas.openxmlformats.org/drawingml/2006/main">
            <a:pPr algn="ctr">
              <a:defRPr sz="2250" b="1">
                <a:solidFill>
                  <a:srgbClr val="FF9F0A"/>
                </a:solidFill>
              </a:defRPr>
            </a:pPr>
            <a:r>
              <a:rPr sz="2250" b="1">
                <a:solidFill>
                  <a:srgbClr val="FF9F0A"/>
                </a:solidFill>
              </a:rPr>
              <a:t>≠ causal proof</a:t>
            </a:r>
          </a:p>
        </p:txBody>
      </p:sp>
      <p:sp>
        <p:nvSpPr>
          <p:cNvPr id="8" name="">
            <a:extLst xmlns:a="http://schemas.openxmlformats.org/drawingml/2006/main">
              <a:ext uri="{FF2B5EF4-FFF2-40B4-BE49-F238E27FC236}">
                <a16:creationId xmlns:a16="http://schemas.microsoft.com/office/drawing/2014/main" id="{610C4A23-EB63-4E40-9195-2A9BC84FDC48}"/>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9DCDF13-3B67-4187-AB93-CADB5B486FC7}"/>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Evidence: reports/week4_consistency_audit.md · 24 fixed Grad-CAM samples</a:t>
            </a:r>
          </a:p>
        </p:txBody>
      </p:sp>
      <p:sp>
        <p:nvSpPr>
          <p:cNvPr id="10" name="">
            <a:extLst xmlns:a="http://schemas.openxmlformats.org/drawingml/2006/main">
              <a:ext uri="{FF2B5EF4-FFF2-40B4-BE49-F238E27FC236}">
                <a16:creationId xmlns:a16="http://schemas.microsoft.com/office/drawing/2014/main" id="{986CAEB0-2135-47B3-89E6-8673F14C9CA2}"/>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06</a:t>
            </a:r>
          </a:p>
        </p:txBody>
      </p:sp>
    </p:spTree>
    <p:extLst>
      <p:ext uri="{BB962C8B-B14F-4D97-AF65-F5344CB8AC3E}">
        <p14:creationId xmlns:p14="http://schemas.microsoft.com/office/powerpoint/2010/main" val="288512573"/>
      </p:ext>
    </p:extLst>
  </p:cSld>
</p:sld>
</file>

<file path=ppt/slides/slide7.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F22796-6CD3-491C-B1AB-6429E5BDD6BA}"/>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CALIBRATION</a:t>
            </a:r>
          </a:p>
        </p:txBody>
      </p:sp>
      <p:sp>
        <p:nvSpPr>
          <p:cNvPr id="2" name="">
            <a:extLst xmlns:a="http://schemas.openxmlformats.org/drawingml/2006/main">
              <a:ext uri="{FF2B5EF4-FFF2-40B4-BE49-F238E27FC236}">
                <a16:creationId xmlns:a16="http://schemas.microsoft.com/office/drawing/2014/main" id="{126280F5-4AD4-4290-9B7B-0218A2DD539A}"/>
              </a:ext>
            </a:extLst>
          </p:cNvPr>
          <p:cNvSpPr>
            <a:spLocks xmlns:a="http://schemas.openxmlformats.org/drawingml/2006/main" noGrp="1"/>
          </p:cNvSpPr>
          <p:nvPr/>
        </p:nvSpPr>
        <p:spPr>
          <a:xfrm xmlns:a="http://schemas.openxmlformats.org/drawingml/2006/main">
            <a:off x="685800" y="762000"/>
            <a:ext cx="108204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050608"/>
                </a:solidFill>
              </a:defRPr>
            </a:pPr>
            <a:r>
              <a:rPr sz="4050" b="1">
                <a:solidFill>
                  <a:srgbClr val="050608"/>
                </a:solidFill>
              </a:rPr>
              <a:t>High accuracy still needs confidence auditing.</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91231d9581c4a26"/>
          <a:stretch xmlns:a="http://schemas.openxmlformats.org/drawingml/2006/main"/>
        </p:blipFill>
        <p:spPr>
          <a:xfrm xmlns:a="http://schemas.openxmlformats.org/drawingml/2006/main">
            <a:off x="1924050" y="2857500"/>
            <a:ext cx="3714750" cy="3095625"/>
          </a:xfrm>
          <a:prstGeom xmlns:a="http://schemas.openxmlformats.org/drawingml/2006/main" prst="roundRect">
            <a:avLst>
              <a:gd name="adj" fmla="val 4923"/>
            </a:avLst>
          </a:prstGeom>
        </p:spPr>
      </p:pic>
      <p:sp>
        <p:nvSpPr>
          <p:cNvPr id="4" name="">
            <a:extLst xmlns:a="http://schemas.openxmlformats.org/drawingml/2006/main">
              <a:ext uri="{FF2B5EF4-FFF2-40B4-BE49-F238E27FC236}">
                <a16:creationId xmlns:a16="http://schemas.microsoft.com/office/drawing/2014/main" id="{48ACF659-ABEA-4A29-96C0-62707DD92EFD}"/>
              </a:ext>
            </a:extLst>
          </p:cNvPr>
          <p:cNvSpPr>
            <a:spLocks xmlns:a="http://schemas.openxmlformats.org/drawingml/2006/main" noGrp="1"/>
          </p:cNvSpPr>
          <p:nvPr/>
        </p:nvSpPr>
        <p:spPr>
          <a:xfrm xmlns:a="http://schemas.openxmlformats.org/drawingml/2006/main">
            <a:off x="7543800" y="29051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0071E3"/>
                </a:solidFill>
              </a:defRPr>
            </a:pPr>
            <a:r>
              <a:rPr sz="3750" b="1">
                <a:solidFill>
                  <a:srgbClr val="0071E3"/>
                </a:solidFill>
              </a:rPr>
              <a:t>0.0965</a:t>
            </a:r>
          </a:p>
        </p:txBody>
      </p:sp>
      <p:sp>
        <p:nvSpPr>
          <p:cNvPr id="5" name="">
            <a:extLst xmlns:a="http://schemas.openxmlformats.org/drawingml/2006/main">
              <a:ext uri="{FF2B5EF4-FFF2-40B4-BE49-F238E27FC236}">
                <a16:creationId xmlns:a16="http://schemas.microsoft.com/office/drawing/2014/main" id="{739011E8-07FC-46BB-90EB-C9A318200339}"/>
              </a:ext>
            </a:extLst>
          </p:cNvPr>
          <p:cNvSpPr>
            <a:spLocks xmlns:a="http://schemas.openxmlformats.org/drawingml/2006/main" noGrp="1"/>
          </p:cNvSpPr>
          <p:nvPr/>
        </p:nvSpPr>
        <p:spPr>
          <a:xfrm xmlns:a="http://schemas.openxmlformats.org/drawingml/2006/main">
            <a:off x="7620000" y="34385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6E6E73"/>
                </a:solidFill>
              </a:defRPr>
            </a:pPr>
            <a:r>
              <a:rPr sz="1650" b="1">
                <a:solidFill>
                  <a:srgbClr val="6E6E73"/>
                </a:solidFill>
              </a:rPr>
              <a:t>ECE</a:t>
            </a:r>
          </a:p>
        </p:txBody>
      </p:sp>
      <p:sp>
        <p:nvSpPr>
          <p:cNvPr id="6" name="">
            <a:extLst xmlns:a="http://schemas.openxmlformats.org/drawingml/2006/main">
              <a:ext uri="{FF2B5EF4-FFF2-40B4-BE49-F238E27FC236}">
                <a16:creationId xmlns:a16="http://schemas.microsoft.com/office/drawing/2014/main" id="{1B38822A-C1C4-4F58-BA41-737DFB2A63EA}"/>
              </a:ext>
            </a:extLst>
          </p:cNvPr>
          <p:cNvSpPr>
            <a:spLocks xmlns:a="http://schemas.openxmlformats.org/drawingml/2006/main" noGrp="1"/>
          </p:cNvSpPr>
          <p:nvPr/>
        </p:nvSpPr>
        <p:spPr>
          <a:xfrm xmlns:a="http://schemas.openxmlformats.org/drawingml/2006/main">
            <a:off x="7543800" y="38195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F9F0A"/>
                </a:solidFill>
              </a:defRPr>
            </a:pPr>
            <a:r>
              <a:rPr sz="3750" b="1">
                <a:solidFill>
                  <a:srgbClr val="FF9F0A"/>
                </a:solidFill>
              </a:rPr>
              <a:t>0.3348</a:t>
            </a:r>
          </a:p>
        </p:txBody>
      </p:sp>
      <p:sp>
        <p:nvSpPr>
          <p:cNvPr id="7" name="">
            <a:extLst xmlns:a="http://schemas.openxmlformats.org/drawingml/2006/main">
              <a:ext uri="{FF2B5EF4-FFF2-40B4-BE49-F238E27FC236}">
                <a16:creationId xmlns:a16="http://schemas.microsoft.com/office/drawing/2014/main" id="{67DB08D1-CFA3-44CC-8E5D-9D4EC9C3D5F1}"/>
              </a:ext>
            </a:extLst>
          </p:cNvPr>
          <p:cNvSpPr>
            <a:spLocks xmlns:a="http://schemas.openxmlformats.org/drawingml/2006/main" noGrp="1"/>
          </p:cNvSpPr>
          <p:nvPr/>
        </p:nvSpPr>
        <p:spPr>
          <a:xfrm xmlns:a="http://schemas.openxmlformats.org/drawingml/2006/main">
            <a:off x="7620000" y="43529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6E6E73"/>
                </a:solidFill>
              </a:defRPr>
            </a:pPr>
            <a:r>
              <a:rPr sz="1650" b="1">
                <a:solidFill>
                  <a:srgbClr val="6E6E73"/>
                </a:solidFill>
              </a:rPr>
              <a:t>MCE</a:t>
            </a:r>
          </a:p>
        </p:txBody>
      </p:sp>
      <p:sp>
        <p:nvSpPr>
          <p:cNvPr id="8" name="">
            <a:extLst xmlns:a="http://schemas.openxmlformats.org/drawingml/2006/main">
              <a:ext uri="{FF2B5EF4-FFF2-40B4-BE49-F238E27FC236}">
                <a16:creationId xmlns:a16="http://schemas.microsoft.com/office/drawing/2014/main" id="{F5FE13E9-5DA8-4FA9-A2EB-B11D37388629}"/>
              </a:ext>
            </a:extLst>
          </p:cNvPr>
          <p:cNvSpPr>
            <a:spLocks xmlns:a="http://schemas.openxmlformats.org/drawingml/2006/main" noGrp="1"/>
          </p:cNvSpPr>
          <p:nvPr/>
        </p:nvSpPr>
        <p:spPr>
          <a:xfrm xmlns:a="http://schemas.openxmlformats.org/drawingml/2006/main">
            <a:off x="7543800" y="47339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0071E3"/>
                </a:solidFill>
              </a:defRPr>
            </a:pPr>
            <a:r>
              <a:rPr sz="3750" b="1">
                <a:solidFill>
                  <a:srgbClr val="0071E3"/>
                </a:solidFill>
              </a:rPr>
              <a:t>0.0140</a:t>
            </a:r>
          </a:p>
        </p:txBody>
      </p:sp>
      <p:sp>
        <p:nvSpPr>
          <p:cNvPr id="9" name="">
            <a:extLst xmlns:a="http://schemas.openxmlformats.org/drawingml/2006/main">
              <a:ext uri="{FF2B5EF4-FFF2-40B4-BE49-F238E27FC236}">
                <a16:creationId xmlns:a16="http://schemas.microsoft.com/office/drawing/2014/main" id="{C7F98219-4E05-4DA3-AEA9-C729C3FB3A2A}"/>
              </a:ext>
            </a:extLst>
          </p:cNvPr>
          <p:cNvSpPr>
            <a:spLocks xmlns:a="http://schemas.openxmlformats.org/drawingml/2006/main" noGrp="1"/>
          </p:cNvSpPr>
          <p:nvPr/>
        </p:nvSpPr>
        <p:spPr>
          <a:xfrm xmlns:a="http://schemas.openxmlformats.org/drawingml/2006/main">
            <a:off x="7620000" y="52673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6E6E73"/>
                </a:solidFill>
              </a:defRPr>
            </a:pPr>
            <a:r>
              <a:rPr sz="1650" b="1">
                <a:solidFill>
                  <a:srgbClr val="6E6E73"/>
                </a:solidFill>
              </a:rPr>
              <a:t>Brier</a:t>
            </a:r>
          </a:p>
        </p:txBody>
      </p:sp>
      <p:sp>
        <p:nvSpPr>
          <p:cNvPr id="10" name="">
            <a:extLst xmlns:a="http://schemas.openxmlformats.org/drawingml/2006/main">
              <a:ext uri="{FF2B5EF4-FFF2-40B4-BE49-F238E27FC236}">
                <a16:creationId xmlns:a16="http://schemas.microsoft.com/office/drawing/2014/main" id="{128BA642-C4CA-4B5F-9CD9-5E1B68BCA7B0}"/>
              </a:ext>
            </a:extLst>
          </p:cNvPr>
          <p:cNvSpPr>
            <a:spLocks xmlns:a="http://schemas.openxmlformats.org/drawingml/2006/main" noGrp="1"/>
          </p:cNvSpPr>
          <p:nvPr/>
        </p:nvSpPr>
        <p:spPr>
          <a:xfrm xmlns:a="http://schemas.openxmlformats.org/drawingml/2006/main">
            <a:off x="7524750" y="57150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453A"/>
                </a:solidFill>
              </a:defRPr>
            </a:pPr>
            <a:r>
              <a:rPr sz="1650" b="1">
                <a:solidFill>
                  <a:srgbClr val="FF453A"/>
                </a:solidFill>
              </a:rPr>
              <a:t>Top-label calibration only</a:t>
            </a:r>
          </a:p>
        </p:txBody>
      </p:sp>
      <p:sp>
        <p:nvSpPr>
          <p:cNvPr id="11" name="">
            <a:extLst xmlns:a="http://schemas.openxmlformats.org/drawingml/2006/main">
              <a:ext uri="{FF2B5EF4-FFF2-40B4-BE49-F238E27FC236}">
                <a16:creationId xmlns:a16="http://schemas.microsoft.com/office/drawing/2014/main" id="{5D7D487E-DF3D-4E17-848E-30C1C0311267}"/>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BAF698-24B2-42F1-8C64-CC3EE67EA748}"/>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Evidence: reports/week4_calibration.md · outputs/plantvillage/week4_explainability/calibration.json</a:t>
            </a:r>
          </a:p>
        </p:txBody>
      </p:sp>
      <p:sp>
        <p:nvSpPr>
          <p:cNvPr id="13" name="">
            <a:extLst xmlns:a="http://schemas.openxmlformats.org/drawingml/2006/main">
              <a:ext uri="{FF2B5EF4-FFF2-40B4-BE49-F238E27FC236}">
                <a16:creationId xmlns:a16="http://schemas.microsoft.com/office/drawing/2014/main" id="{44441F46-BFFB-459E-98B7-7E9A6450AD34}"/>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07</a:t>
            </a:r>
          </a:p>
        </p:txBody>
      </p:sp>
    </p:spTree>
    <p:extLst>
      <p:ext uri="{BB962C8B-B14F-4D97-AF65-F5344CB8AC3E}">
        <p14:creationId xmlns:p14="http://schemas.microsoft.com/office/powerpoint/2010/main" val="392624638"/>
      </p:ext>
    </p:extLst>
  </p:cSld>
</p:sld>
</file>

<file path=ppt/slides/slide8.xml><?xml version="1.0" encoding="utf-8"?>
<p:sld xmlns:p="http://schemas.openxmlformats.org/presentationml/2006/main">
  <p:cSld>
    <p:bg>
      <p:bgPr>
        <a:solidFill xmlns:a="http://schemas.openxmlformats.org/drawingml/2006/main">
          <a:srgbClr val="05060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E10D9E-1C02-43C7-AB37-4E823886F249}"/>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0D158"/>
                </a:solidFill>
              </a:defRPr>
            </a:pPr>
            <a:r>
              <a:rPr sz="1350" b="1">
                <a:solidFill>
                  <a:srgbClr val="30D158"/>
                </a:solidFill>
              </a:rPr>
              <a:t>WEEK 5 DEMO</a:t>
            </a:r>
          </a:p>
        </p:txBody>
      </p:sp>
      <p:sp>
        <p:nvSpPr>
          <p:cNvPr id="2" name="">
            <a:extLst xmlns:a="http://schemas.openxmlformats.org/drawingml/2006/main">
              <a:ext uri="{FF2B5EF4-FFF2-40B4-BE49-F238E27FC236}">
                <a16:creationId xmlns:a16="http://schemas.microsoft.com/office/drawing/2014/main" id="{44466061-D89B-4686-9341-AFB3E125841F}"/>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F5F5F7"/>
                </a:solidFill>
              </a:defRPr>
            </a:pPr>
            <a:r>
              <a:rPr sz="4500" b="1">
                <a:solidFill>
                  <a:srgbClr val="F5F5F7"/>
                </a:solidFill>
              </a:rPr>
              <a:t>The same serving layer powers the product moment.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a130cafd3eb47af"/>
          <a:srcRect xmlns:a="http://schemas.openxmlformats.org/drawingml/2006/main" l="3634" t="0" r="3634" b="0"/>
          <a:stretch xmlns:a="http://schemas.openxmlformats.org/drawingml/2006/main">
            <a:fillRect l="0" t="0" r="0" b="0"/>
          </a:stretch>
        </p:blipFill>
        <p:spPr>
          <a:xfrm xmlns:a="http://schemas.openxmlformats.org/drawingml/2006/main">
            <a:off x="5429250" y="1809750"/>
            <a:ext cx="6076950" cy="4095750"/>
          </a:xfrm>
          <a:prstGeom xmlns:a="http://schemas.openxmlformats.org/drawingml/2006/main" prst="roundRect">
            <a:avLst>
              <a:gd name="adj" fmla="val 3721"/>
            </a:avLst>
          </a:prstGeom>
        </p:spPr>
      </p:pic>
      <p:sp>
        <p:nvSpPr>
          <p:cNvPr id="4" name="">
            <a:extLst xmlns:a="http://schemas.openxmlformats.org/drawingml/2006/main">
              <a:ext uri="{FF2B5EF4-FFF2-40B4-BE49-F238E27FC236}">
                <a16:creationId xmlns:a16="http://schemas.microsoft.com/office/drawing/2014/main" id="{BBC7EAEE-EAA8-4F75-B793-0DBEC62691EC}"/>
              </a:ext>
            </a:extLst>
          </p:cNvPr>
          <p:cNvSpPr>
            <a:spLocks xmlns:a="http://schemas.openxmlformats.org/drawingml/2006/main" noGrp="1"/>
          </p:cNvSpPr>
          <p:nvPr/>
        </p:nvSpPr>
        <p:spPr>
          <a:xfrm xmlns:a="http://schemas.openxmlformats.org/drawingml/2006/main">
            <a:off x="685800" y="2381250"/>
            <a:ext cx="3905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F5F5F7"/>
                </a:solidFill>
              </a:defRPr>
            </a:pPr>
            <a:r>
              <a:rPr sz="4200" b="1">
                <a:solidFill>
                  <a:srgbClr val="F5F5F7"/>
                </a:solidFill>
              </a:rPr>
              <a:t>Top-5</a:t>
            </a:r>
          </a:p>
        </p:txBody>
      </p:sp>
      <p:sp>
        <p:nvSpPr>
          <p:cNvPr id="5" name="">
            <a:extLst xmlns:a="http://schemas.openxmlformats.org/drawingml/2006/main">
              <a:ext uri="{FF2B5EF4-FFF2-40B4-BE49-F238E27FC236}">
                <a16:creationId xmlns:a16="http://schemas.microsoft.com/office/drawing/2014/main" id="{08FC1F45-030D-44BC-BACC-88B0D6443534}"/>
              </a:ext>
            </a:extLst>
          </p:cNvPr>
          <p:cNvSpPr>
            <a:spLocks xmlns:a="http://schemas.openxmlformats.org/drawingml/2006/main" noGrp="1"/>
          </p:cNvSpPr>
          <p:nvPr/>
        </p:nvSpPr>
        <p:spPr>
          <a:xfrm xmlns:a="http://schemas.openxmlformats.org/drawingml/2006/main">
            <a:off x="685800" y="3000375"/>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F5F5F7"/>
                </a:solidFill>
              </a:defRPr>
            </a:pPr>
            <a:r>
              <a:rPr sz="2100" b="0">
                <a:solidFill>
                  <a:srgbClr val="F5F5F7"/>
                </a:solidFill>
              </a:rPr>
              <a:t>probabilities with shared labels</a:t>
            </a:r>
          </a:p>
        </p:txBody>
      </p:sp>
      <p:sp>
        <p:nvSpPr>
          <p:cNvPr id="6" name="">
            <a:extLst xmlns:a="http://schemas.openxmlformats.org/drawingml/2006/main">
              <a:ext uri="{FF2B5EF4-FFF2-40B4-BE49-F238E27FC236}">
                <a16:creationId xmlns:a16="http://schemas.microsoft.com/office/drawing/2014/main" id="{F75A8F68-0A35-45A0-A110-D46B3868BF21}"/>
              </a:ext>
            </a:extLst>
          </p:cNvPr>
          <p:cNvSpPr>
            <a:spLocks xmlns:a="http://schemas.openxmlformats.org/drawingml/2006/main" noGrp="1"/>
          </p:cNvSpPr>
          <p:nvPr/>
        </p:nvSpPr>
        <p:spPr>
          <a:xfrm xmlns:a="http://schemas.openxmlformats.org/drawingml/2006/main">
            <a:off x="685800" y="3829050"/>
            <a:ext cx="3905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30D158"/>
                </a:solidFill>
              </a:defRPr>
            </a:pPr>
            <a:r>
              <a:rPr sz="4200" b="1">
                <a:solidFill>
                  <a:srgbClr val="30D158"/>
                </a:solidFill>
              </a:rPr>
              <a:t>Grad-CAM</a:t>
            </a:r>
          </a:p>
        </p:txBody>
      </p:sp>
      <p:sp>
        <p:nvSpPr>
          <p:cNvPr id="7" name="">
            <a:extLst xmlns:a="http://schemas.openxmlformats.org/drawingml/2006/main">
              <a:ext uri="{FF2B5EF4-FFF2-40B4-BE49-F238E27FC236}">
                <a16:creationId xmlns:a16="http://schemas.microsoft.com/office/drawing/2014/main" id="{DC011FFA-0782-4DE8-AEAE-ABE5DB04DD23}"/>
              </a:ext>
            </a:extLst>
          </p:cNvPr>
          <p:cNvSpPr>
            <a:spLocks xmlns:a="http://schemas.openxmlformats.org/drawingml/2006/main" noGrp="1"/>
          </p:cNvSpPr>
          <p:nvPr/>
        </p:nvSpPr>
        <p:spPr>
          <a:xfrm xmlns:a="http://schemas.openxmlformats.org/drawingml/2006/main">
            <a:off x="685800" y="445770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F5F5F7"/>
                </a:solidFill>
              </a:defRPr>
            </a:pPr>
            <a:r>
              <a:rPr sz="2100" b="0">
                <a:solidFill>
                  <a:srgbClr val="F5F5F7"/>
                </a:solidFill>
              </a:rPr>
              <a:t>fixed-example evidence path</a:t>
            </a:r>
          </a:p>
        </p:txBody>
      </p:sp>
      <p:sp>
        <p:nvSpPr>
          <p:cNvPr id="8" name="">
            <a:extLst xmlns:a="http://schemas.openxmlformats.org/drawingml/2006/main">
              <a:ext uri="{FF2B5EF4-FFF2-40B4-BE49-F238E27FC236}">
                <a16:creationId xmlns:a16="http://schemas.microsoft.com/office/drawing/2014/main" id="{C91B392B-F176-4712-9E58-9F176CBFAD26}"/>
              </a:ext>
            </a:extLst>
          </p:cNvPr>
          <p:cNvSpPr>
            <a:spLocks xmlns:a="http://schemas.openxmlformats.org/drawingml/2006/main" noGrp="1"/>
          </p:cNvSpPr>
          <p:nvPr/>
        </p:nvSpPr>
        <p:spPr>
          <a:xfrm xmlns:a="http://schemas.openxmlformats.org/drawingml/2006/main">
            <a:off x="685800" y="53530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9F0A"/>
                </a:solidFill>
              </a:defRPr>
            </a:pPr>
            <a:r>
              <a:rPr sz="2550" b="1">
                <a:solidFill>
                  <a:srgbClr val="FF9F0A"/>
                </a:solidFill>
              </a:rPr>
              <a:t>129.8 ms</a:t>
            </a:r>
          </a:p>
        </p:txBody>
      </p:sp>
      <p:sp>
        <p:nvSpPr>
          <p:cNvPr id="9" name="">
            <a:extLst xmlns:a="http://schemas.openxmlformats.org/drawingml/2006/main">
              <a:ext uri="{FF2B5EF4-FFF2-40B4-BE49-F238E27FC236}">
                <a16:creationId xmlns:a16="http://schemas.microsoft.com/office/drawing/2014/main" id="{83F67237-3471-4925-8964-E236A405AD83}"/>
              </a:ext>
            </a:extLst>
          </p:cNvPr>
          <p:cNvSpPr>
            <a:spLocks xmlns:a="http://schemas.openxmlformats.org/drawingml/2006/main" noGrp="1"/>
          </p:cNvSpPr>
          <p:nvPr/>
        </p:nvSpPr>
        <p:spPr>
          <a:xfrm xmlns:a="http://schemas.openxmlformats.org/drawingml/2006/main">
            <a:off x="2857500" y="54102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5F5F7"/>
                </a:solidFill>
              </a:defRPr>
            </a:pPr>
            <a:r>
              <a:rPr sz="1500" b="0">
                <a:solidFill>
                  <a:srgbClr val="F5F5F7"/>
                </a:solidFill>
              </a:rPr>
              <a:t>Apple container fixed-example total</a:t>
            </a:r>
          </a:p>
        </p:txBody>
      </p:sp>
      <p:sp>
        <p:nvSpPr>
          <p:cNvPr id="10" name="">
            <a:extLst xmlns:a="http://schemas.openxmlformats.org/drawingml/2006/main">
              <a:ext uri="{FF2B5EF4-FFF2-40B4-BE49-F238E27FC236}">
                <a16:creationId xmlns:a16="http://schemas.microsoft.com/office/drawing/2014/main" id="{3AE30F44-1CEB-4567-BFE9-0881B9DAE5F2}"/>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1D1D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6222C92-F1A2-4711-BA80-D2305CEB1636}"/>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5F7"/>
                </a:solidFill>
              </a:defRPr>
            </a:pPr>
            <a:r>
              <a:rPr sz="1275" b="0">
                <a:solidFill>
                  <a:srgbClr val="F5F5F7"/>
                </a:solidFill>
              </a:rPr>
              <a:t>Evidence: outputs/plantvillage/week5_demo/container_e2e.json · one sample, not a benchmark</a:t>
            </a:r>
          </a:p>
        </p:txBody>
      </p:sp>
      <p:sp>
        <p:nvSpPr>
          <p:cNvPr id="12" name="">
            <a:extLst xmlns:a="http://schemas.openxmlformats.org/drawingml/2006/main">
              <a:ext uri="{FF2B5EF4-FFF2-40B4-BE49-F238E27FC236}">
                <a16:creationId xmlns:a16="http://schemas.microsoft.com/office/drawing/2014/main" id="{BBA0A341-48FF-4A1C-A21A-6512B036D521}"/>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F5F5F7"/>
                </a:solidFill>
              </a:defRPr>
            </a:pPr>
            <a:r>
              <a:rPr sz="1275" b="1">
                <a:solidFill>
                  <a:srgbClr val="F5F5F7"/>
                </a:solidFill>
              </a:rPr>
              <a:t>08</a:t>
            </a:r>
          </a:p>
        </p:txBody>
      </p:sp>
    </p:spTree>
    <p:extLst>
      <p:ext uri="{BB962C8B-B14F-4D97-AF65-F5344CB8AC3E}">
        <p14:creationId xmlns:p14="http://schemas.microsoft.com/office/powerpoint/2010/main" val="747320492"/>
      </p:ext>
    </p:extLst>
  </p:cSld>
</p:sld>
</file>

<file path=ppt/slides/slide9.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D01427-6B5F-41A4-ACB5-73D4B08B8790}"/>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WEEK 6 QWEN3-VL SMOKE</a:t>
            </a:r>
          </a:p>
        </p:txBody>
      </p:sp>
      <p:sp>
        <p:nvSpPr>
          <p:cNvPr id="2" name="">
            <a:extLst xmlns:a="http://schemas.openxmlformats.org/drawingml/2006/main">
              <a:ext uri="{FF2B5EF4-FFF2-40B4-BE49-F238E27FC236}">
                <a16:creationId xmlns:a16="http://schemas.microsoft.com/office/drawing/2014/main" id="{D88EA47B-93F0-48D9-8FDA-A01E39B20B60}"/>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050608"/>
                </a:solidFill>
              </a:defRPr>
            </a:pPr>
            <a:r>
              <a:rPr sz="4200" b="1">
                <a:solidFill>
                  <a:srgbClr val="050608"/>
                </a:solidFill>
              </a:rPr>
              <a:t>Prompt constraints reduced format risk, not disease ambiguity.</a:t>
            </a:r>
          </a:p>
        </p:txBody>
      </p:sp>
      <p:sp>
        <p:nvSpPr>
          <p:cNvPr id="3" name="">
            <a:extLst xmlns:a="http://schemas.openxmlformats.org/drawingml/2006/main">
              <a:ext uri="{FF2B5EF4-FFF2-40B4-BE49-F238E27FC236}">
                <a16:creationId xmlns:a16="http://schemas.microsoft.com/office/drawing/2014/main" id="{C13CF032-7991-4510-8ED7-ABCEAD5FB39C}"/>
              </a:ext>
            </a:extLst>
          </p:cNvPr>
          <p:cNvSpPr>
            <a:spLocks xmlns:a="http://schemas.openxmlformats.org/drawingml/2006/main" noGrp="1"/>
          </p:cNvSpPr>
          <p:nvPr/>
        </p:nvSpPr>
        <p:spPr>
          <a:xfrm xmlns:a="http://schemas.openxmlformats.org/drawingml/2006/main">
            <a:off x="685800" y="21907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1D1F"/>
                </a:solidFill>
              </a:defRPr>
            </a:pPr>
            <a:r>
              <a:rPr sz="2100" b="1">
                <a:solidFill>
                  <a:srgbClr val="1D1D1F"/>
                </a:solidFill>
              </a:rPr>
              <a:t>Original</a:t>
            </a:r>
          </a:p>
        </p:txBody>
      </p:sp>
      <p:sp>
        <p:nvSpPr>
          <p:cNvPr id="4" name="">
            <a:extLst xmlns:a="http://schemas.openxmlformats.org/drawingml/2006/main">
              <a:ext uri="{FF2B5EF4-FFF2-40B4-BE49-F238E27FC236}">
                <a16:creationId xmlns:a16="http://schemas.microsoft.com/office/drawing/2014/main" id="{012E1ABF-5DD3-4576-B996-F9248F69F2B8}"/>
              </a:ext>
            </a:extLst>
          </p:cNvPr>
          <p:cNvSpPr>
            <a:spLocks xmlns:a="http://schemas.openxmlformats.org/drawingml/2006/main" noGrp="1"/>
          </p:cNvSpPr>
          <p:nvPr/>
        </p:nvSpPr>
        <p:spPr>
          <a:xfrm xmlns:a="http://schemas.openxmlformats.org/drawingml/2006/main">
            <a:off x="3286125" y="2238375"/>
            <a:ext cx="5334000" cy="238125"/>
          </a:xfrm>
          <a:prstGeom xmlns:a="http://schemas.openxmlformats.org/drawingml/2006/main" prst="roundRect">
            <a:avLst>
              <a:gd name="adj" fmla="val 50000"/>
            </a:avLst>
          </a:prstGeom>
          <a:solidFill xmlns:a="http://schemas.openxmlformats.org/drawingml/2006/main">
            <a:srgbClr val="6E6E7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AD1454-0D32-4548-A9E4-1DDEDB8982A6}"/>
              </a:ext>
            </a:extLst>
          </p:cNvPr>
          <p:cNvSpPr>
            <a:spLocks xmlns:a="http://schemas.openxmlformats.org/drawingml/2006/main" noGrp="1"/>
          </p:cNvSpPr>
          <p:nvPr/>
        </p:nvSpPr>
        <p:spPr>
          <a:xfrm xmlns:a="http://schemas.openxmlformats.org/drawingml/2006/main">
            <a:off x="8858250" y="216217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D1D1F"/>
                </a:solidFill>
              </a:defRPr>
            </a:pPr>
            <a:r>
              <a:rPr sz="2550" b="1">
                <a:solidFill>
                  <a:srgbClr val="1D1D1F"/>
                </a:solidFill>
              </a:rPr>
              <a:t>0/15</a:t>
            </a:r>
          </a:p>
        </p:txBody>
      </p:sp>
      <p:sp>
        <p:nvSpPr>
          <p:cNvPr id="6" name="">
            <a:extLst xmlns:a="http://schemas.openxmlformats.org/drawingml/2006/main">
              <a:ext uri="{FF2B5EF4-FFF2-40B4-BE49-F238E27FC236}">
                <a16:creationId xmlns:a16="http://schemas.microsoft.com/office/drawing/2014/main" id="{5BDBA09C-7A42-4C9F-B7E8-1933C458A101}"/>
              </a:ext>
            </a:extLst>
          </p:cNvPr>
          <p:cNvSpPr>
            <a:spLocks xmlns:a="http://schemas.openxmlformats.org/drawingml/2006/main" noGrp="1"/>
          </p:cNvSpPr>
          <p:nvPr/>
        </p:nvSpPr>
        <p:spPr>
          <a:xfrm xmlns:a="http://schemas.openxmlformats.org/drawingml/2006/main">
            <a:off x="685800" y="30289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1D1F"/>
                </a:solidFill>
              </a:defRPr>
            </a:pPr>
            <a:r>
              <a:rPr sz="2100" b="1">
                <a:solidFill>
                  <a:srgbClr val="1D1D1F"/>
                </a:solidFill>
              </a:rPr>
              <a:t>Short</a:t>
            </a:r>
          </a:p>
        </p:txBody>
      </p:sp>
      <p:sp>
        <p:nvSpPr>
          <p:cNvPr id="7" name="">
            <a:extLst xmlns:a="http://schemas.openxmlformats.org/drawingml/2006/main">
              <a:ext uri="{FF2B5EF4-FFF2-40B4-BE49-F238E27FC236}">
                <a16:creationId xmlns:a16="http://schemas.microsoft.com/office/drawing/2014/main" id="{905BACD4-4F17-447E-9A9B-DB76B11E5953}"/>
              </a:ext>
            </a:extLst>
          </p:cNvPr>
          <p:cNvSpPr>
            <a:spLocks xmlns:a="http://schemas.openxmlformats.org/drawingml/2006/main" noGrp="1"/>
          </p:cNvSpPr>
          <p:nvPr/>
        </p:nvSpPr>
        <p:spPr>
          <a:xfrm xmlns:a="http://schemas.openxmlformats.org/drawingml/2006/main">
            <a:off x="3286125" y="3076575"/>
            <a:ext cx="5334000" cy="238125"/>
          </a:xfrm>
          <a:prstGeom xmlns:a="http://schemas.openxmlformats.org/drawingml/2006/main" prst="roundRect">
            <a:avLst>
              <a:gd name="adj" fmla="val 50000"/>
            </a:avLst>
          </a:prstGeom>
          <a:solidFill xmlns:a="http://schemas.openxmlformats.org/drawingml/2006/main">
            <a:srgbClr val="6E6E7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EC1B01-0707-460C-8AC8-AD7E1CACB402}"/>
              </a:ext>
            </a:extLst>
          </p:cNvPr>
          <p:cNvSpPr>
            <a:spLocks xmlns:a="http://schemas.openxmlformats.org/drawingml/2006/main" noGrp="1"/>
          </p:cNvSpPr>
          <p:nvPr/>
        </p:nvSpPr>
        <p:spPr>
          <a:xfrm xmlns:a="http://schemas.openxmlformats.org/drawingml/2006/main">
            <a:off x="3286125" y="3076575"/>
            <a:ext cx="3556000" cy="238125"/>
          </a:xfrm>
          <a:prstGeom xmlns:a="http://schemas.openxmlformats.org/drawingml/2006/main" prst="roundRect">
            <a:avLst>
              <a:gd name="adj" fmla="val 50000"/>
            </a:avLst>
          </a:prstGeom>
          <a:solidFill xmlns:a="http://schemas.openxmlformats.org/drawingml/2006/main">
            <a:srgbClr val="0071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F63FA9-4BD0-4458-BC7C-F4C97B7AD0D9}"/>
              </a:ext>
            </a:extLst>
          </p:cNvPr>
          <p:cNvSpPr>
            <a:spLocks xmlns:a="http://schemas.openxmlformats.org/drawingml/2006/main" noGrp="1"/>
          </p:cNvSpPr>
          <p:nvPr/>
        </p:nvSpPr>
        <p:spPr>
          <a:xfrm xmlns:a="http://schemas.openxmlformats.org/drawingml/2006/main">
            <a:off x="8858250" y="300037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D1D1F"/>
                </a:solidFill>
              </a:defRPr>
            </a:pPr>
            <a:r>
              <a:rPr sz="2550" b="1">
                <a:solidFill>
                  <a:srgbClr val="1D1D1F"/>
                </a:solidFill>
              </a:rPr>
              <a:t>10/15</a:t>
            </a:r>
          </a:p>
        </p:txBody>
      </p:sp>
      <p:sp>
        <p:nvSpPr>
          <p:cNvPr id="10" name="">
            <a:extLst xmlns:a="http://schemas.openxmlformats.org/drawingml/2006/main">
              <a:ext uri="{FF2B5EF4-FFF2-40B4-BE49-F238E27FC236}">
                <a16:creationId xmlns:a16="http://schemas.microsoft.com/office/drawing/2014/main" id="{33FD29C3-FE41-4982-87DA-F39C7732D42B}"/>
              </a:ext>
            </a:extLst>
          </p:cNvPr>
          <p:cNvSpPr>
            <a:spLocks xmlns:a="http://schemas.openxmlformats.org/drawingml/2006/main" noGrp="1"/>
          </p:cNvSpPr>
          <p:nvPr/>
        </p:nvSpPr>
        <p:spPr>
          <a:xfrm xmlns:a="http://schemas.openxmlformats.org/drawingml/2006/main">
            <a:off x="685800" y="38671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1D1F"/>
                </a:solidFill>
              </a:defRPr>
            </a:pPr>
            <a:r>
              <a:rPr sz="2100" b="1">
                <a:solidFill>
                  <a:srgbClr val="1D1D1F"/>
                </a:solidFill>
              </a:rPr>
              <a:t>Choice</a:t>
            </a:r>
          </a:p>
        </p:txBody>
      </p:sp>
      <p:sp>
        <p:nvSpPr>
          <p:cNvPr id="11" name="">
            <a:extLst xmlns:a="http://schemas.openxmlformats.org/drawingml/2006/main">
              <a:ext uri="{FF2B5EF4-FFF2-40B4-BE49-F238E27FC236}">
                <a16:creationId xmlns:a16="http://schemas.microsoft.com/office/drawing/2014/main" id="{052CDD3F-01B4-4F78-A958-62E66AB3158A}"/>
              </a:ext>
            </a:extLst>
          </p:cNvPr>
          <p:cNvSpPr>
            <a:spLocks xmlns:a="http://schemas.openxmlformats.org/drawingml/2006/main" noGrp="1"/>
          </p:cNvSpPr>
          <p:nvPr/>
        </p:nvSpPr>
        <p:spPr>
          <a:xfrm xmlns:a="http://schemas.openxmlformats.org/drawingml/2006/main">
            <a:off x="3286125" y="3914775"/>
            <a:ext cx="5334000" cy="238125"/>
          </a:xfrm>
          <a:prstGeom xmlns:a="http://schemas.openxmlformats.org/drawingml/2006/main" prst="roundRect">
            <a:avLst>
              <a:gd name="adj" fmla="val 50000"/>
            </a:avLst>
          </a:prstGeom>
          <a:solidFill xmlns:a="http://schemas.openxmlformats.org/drawingml/2006/main">
            <a:srgbClr val="6E6E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15851F8-F9C4-4461-9F06-A0D9C4D6EEE1}"/>
              </a:ext>
            </a:extLst>
          </p:cNvPr>
          <p:cNvSpPr>
            <a:spLocks xmlns:a="http://schemas.openxmlformats.org/drawingml/2006/main" noGrp="1"/>
          </p:cNvSpPr>
          <p:nvPr/>
        </p:nvSpPr>
        <p:spPr>
          <a:xfrm xmlns:a="http://schemas.openxmlformats.org/drawingml/2006/main">
            <a:off x="3286125" y="3914775"/>
            <a:ext cx="3911600" cy="238125"/>
          </a:xfrm>
          <a:prstGeom xmlns:a="http://schemas.openxmlformats.org/drawingml/2006/main" prst="roundRect">
            <a:avLst>
              <a:gd name="adj" fmla="val 50000"/>
            </a:avLst>
          </a:prstGeom>
          <a:solidFill xmlns:a="http://schemas.openxmlformats.org/drawingml/2006/main">
            <a:srgbClr val="30D15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C3E1206-5016-4035-A388-1946B55BFDA1}"/>
              </a:ext>
            </a:extLst>
          </p:cNvPr>
          <p:cNvSpPr>
            <a:spLocks xmlns:a="http://schemas.openxmlformats.org/drawingml/2006/main" noGrp="1"/>
          </p:cNvSpPr>
          <p:nvPr/>
        </p:nvSpPr>
        <p:spPr>
          <a:xfrm xmlns:a="http://schemas.openxmlformats.org/drawingml/2006/main">
            <a:off x="8858250" y="383857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30D158"/>
                </a:solidFill>
              </a:defRPr>
            </a:pPr>
            <a:r>
              <a:rPr sz="2550" b="1">
                <a:solidFill>
                  <a:srgbClr val="30D158"/>
                </a:solidFill>
              </a:rPr>
              <a:t>11/15</a:t>
            </a:r>
          </a:p>
        </p:txBody>
      </p:sp>
      <p:sp>
        <p:nvSpPr>
          <p:cNvPr id="14" name="">
            <a:extLst xmlns:a="http://schemas.openxmlformats.org/drawingml/2006/main">
              <a:ext uri="{FF2B5EF4-FFF2-40B4-BE49-F238E27FC236}">
                <a16:creationId xmlns:a16="http://schemas.microsoft.com/office/drawing/2014/main" id="{A94242E6-0E7B-49E3-A14C-925A3D108E06}"/>
              </a:ext>
            </a:extLst>
          </p:cNvPr>
          <p:cNvSpPr>
            <a:spLocks xmlns:a="http://schemas.openxmlformats.org/drawingml/2006/main" noGrp="1"/>
          </p:cNvSpPr>
          <p:nvPr/>
        </p:nvSpPr>
        <p:spPr>
          <a:xfrm xmlns:a="http://schemas.openxmlformats.org/drawingml/2006/main">
            <a:off x="685800" y="47053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1D1F"/>
                </a:solidFill>
              </a:defRPr>
            </a:pPr>
            <a:r>
              <a:rPr sz="2100" b="1">
                <a:solidFill>
                  <a:srgbClr val="1D1D1F"/>
                </a:solidFill>
              </a:rPr>
              <a:t>Few-shot choice</a:t>
            </a:r>
          </a:p>
        </p:txBody>
      </p:sp>
      <p:sp>
        <p:nvSpPr>
          <p:cNvPr id="15" name="">
            <a:extLst xmlns:a="http://schemas.openxmlformats.org/drawingml/2006/main">
              <a:ext uri="{FF2B5EF4-FFF2-40B4-BE49-F238E27FC236}">
                <a16:creationId xmlns:a16="http://schemas.microsoft.com/office/drawing/2014/main" id="{50636DB0-349B-4F6F-9DCF-3D39EB36E496}"/>
              </a:ext>
            </a:extLst>
          </p:cNvPr>
          <p:cNvSpPr>
            <a:spLocks xmlns:a="http://schemas.openxmlformats.org/drawingml/2006/main" noGrp="1"/>
          </p:cNvSpPr>
          <p:nvPr/>
        </p:nvSpPr>
        <p:spPr>
          <a:xfrm xmlns:a="http://schemas.openxmlformats.org/drawingml/2006/main">
            <a:off x="3286125" y="4752975"/>
            <a:ext cx="5334000" cy="238125"/>
          </a:xfrm>
          <a:prstGeom xmlns:a="http://schemas.openxmlformats.org/drawingml/2006/main" prst="roundRect">
            <a:avLst>
              <a:gd name="adj" fmla="val 50000"/>
            </a:avLst>
          </a:prstGeom>
          <a:solidFill xmlns:a="http://schemas.openxmlformats.org/drawingml/2006/main">
            <a:srgbClr val="6E6E7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CB82F07-108F-420C-86F6-C260F7D9A8A3}"/>
              </a:ext>
            </a:extLst>
          </p:cNvPr>
          <p:cNvSpPr>
            <a:spLocks xmlns:a="http://schemas.openxmlformats.org/drawingml/2006/main" noGrp="1"/>
          </p:cNvSpPr>
          <p:nvPr/>
        </p:nvSpPr>
        <p:spPr>
          <a:xfrm xmlns:a="http://schemas.openxmlformats.org/drawingml/2006/main">
            <a:off x="3286125" y="4752975"/>
            <a:ext cx="3911600" cy="238125"/>
          </a:xfrm>
          <a:prstGeom xmlns:a="http://schemas.openxmlformats.org/drawingml/2006/main" prst="roundRect">
            <a:avLst>
              <a:gd name="adj" fmla="val 50000"/>
            </a:avLst>
          </a:prstGeom>
          <a:solidFill xmlns:a="http://schemas.openxmlformats.org/drawingml/2006/main">
            <a:srgbClr val="30D15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678E067-3D1B-4F87-8701-53BB93CC1457}"/>
              </a:ext>
            </a:extLst>
          </p:cNvPr>
          <p:cNvSpPr>
            <a:spLocks xmlns:a="http://schemas.openxmlformats.org/drawingml/2006/main" noGrp="1"/>
          </p:cNvSpPr>
          <p:nvPr/>
        </p:nvSpPr>
        <p:spPr>
          <a:xfrm xmlns:a="http://schemas.openxmlformats.org/drawingml/2006/main">
            <a:off x="8858250" y="467677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30D158"/>
                </a:solidFill>
              </a:defRPr>
            </a:pPr>
            <a:r>
              <a:rPr sz="2550" b="1">
                <a:solidFill>
                  <a:srgbClr val="30D158"/>
                </a:solidFill>
              </a:rPr>
              <a:t>11/15</a:t>
            </a:r>
          </a:p>
        </p:txBody>
      </p:sp>
      <p:sp>
        <p:nvSpPr>
          <p:cNvPr id="18" name="">
            <a:extLst xmlns:a="http://schemas.openxmlformats.org/drawingml/2006/main">
              <a:ext uri="{FF2B5EF4-FFF2-40B4-BE49-F238E27FC236}">
                <a16:creationId xmlns:a16="http://schemas.microsoft.com/office/drawing/2014/main" id="{EC608DB3-1FCB-4E60-96FA-0F4E9D44420B}"/>
              </a:ext>
            </a:extLst>
          </p:cNvPr>
          <p:cNvSpPr>
            <a:spLocks xmlns:a="http://schemas.openxmlformats.org/drawingml/2006/main" noGrp="1"/>
          </p:cNvSpPr>
          <p:nvPr/>
        </p:nvSpPr>
        <p:spPr>
          <a:xfrm xmlns:a="http://schemas.openxmlformats.org/drawingml/2006/main">
            <a:off x="8191500" y="53340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6E6E73"/>
                </a:solidFill>
              </a:defRPr>
            </a:pPr>
            <a:r>
              <a:rPr sz="1950" b="1">
                <a:solidFill>
                  <a:srgbClr val="6E6E73"/>
                </a:solidFill>
              </a:rPr>
              <a:t>Condition best</a:t>
            </a:r>
          </a:p>
        </p:txBody>
      </p:sp>
      <p:sp>
        <p:nvSpPr>
          <p:cNvPr id="19" name="">
            <a:extLst xmlns:a="http://schemas.openxmlformats.org/drawingml/2006/main">
              <a:ext uri="{FF2B5EF4-FFF2-40B4-BE49-F238E27FC236}">
                <a16:creationId xmlns:a16="http://schemas.microsoft.com/office/drawing/2014/main" id="{80DD34F1-0AF6-496C-869A-1844B8EB680F}"/>
              </a:ext>
            </a:extLst>
          </p:cNvPr>
          <p:cNvSpPr>
            <a:spLocks xmlns:a="http://schemas.openxmlformats.org/drawingml/2006/main" noGrp="1"/>
          </p:cNvSpPr>
          <p:nvPr/>
        </p:nvSpPr>
        <p:spPr>
          <a:xfrm xmlns:a="http://schemas.openxmlformats.org/drawingml/2006/main">
            <a:off x="10287000" y="5162550"/>
            <a:ext cx="123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453A"/>
                </a:solidFill>
              </a:defRPr>
            </a:pPr>
            <a:r>
              <a:rPr sz="4050" b="1">
                <a:solidFill>
                  <a:srgbClr val="FF453A"/>
                </a:solidFill>
              </a:rPr>
              <a:t>1/5</a:t>
            </a:r>
          </a:p>
        </p:txBody>
      </p:sp>
      <p:sp>
        <p:nvSpPr>
          <p:cNvPr id="20" name="">
            <a:extLst xmlns:a="http://schemas.openxmlformats.org/drawingml/2006/main">
              <a:ext uri="{FF2B5EF4-FFF2-40B4-BE49-F238E27FC236}">
                <a16:creationId xmlns:a16="http://schemas.microsoft.com/office/drawing/2014/main" id="{BBF0EB4E-943A-4C29-AE1E-363F5611226E}"/>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14BF770-3A42-47EF-A026-358EDB9F5A05}"/>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Evidence: reports/week6_vlm_prompt_compare.md · 5 images / 15 questions · MLX 4-bit smoke</a:t>
            </a:r>
          </a:p>
        </p:txBody>
      </p:sp>
      <p:sp>
        <p:nvSpPr>
          <p:cNvPr id="22" name="">
            <a:extLst xmlns:a="http://schemas.openxmlformats.org/drawingml/2006/main">
              <a:ext uri="{FF2B5EF4-FFF2-40B4-BE49-F238E27FC236}">
                <a16:creationId xmlns:a16="http://schemas.microsoft.com/office/drawing/2014/main" id="{FEFB59DA-06D9-425B-9B55-016FF117BC91}"/>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09</a:t>
            </a:r>
          </a:p>
        </p:txBody>
      </p:sp>
    </p:spTree>
    <p:extLst>
      <p:ext uri="{BB962C8B-B14F-4D97-AF65-F5344CB8AC3E}">
        <p14:creationId xmlns:p14="http://schemas.microsoft.com/office/powerpoint/2010/main" val="1421178482"/>
      </p:ext>
    </p:extLst>
  </p:cSld>
</p:sld>
</file>

<file path=ppt/slides/slide10.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C777D2-377B-4F1E-BB1D-9F7B624DF674}"/>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PROTOTYPE SAFETY</a:t>
            </a:r>
          </a:p>
        </p:txBody>
      </p:sp>
      <p:sp>
        <p:nvSpPr>
          <p:cNvPr id="2" name="">
            <a:extLst xmlns:a="http://schemas.openxmlformats.org/drawingml/2006/main">
              <a:ext uri="{FF2B5EF4-FFF2-40B4-BE49-F238E27FC236}">
                <a16:creationId xmlns:a16="http://schemas.microsoft.com/office/drawing/2014/main" id="{6A63396F-15FF-484A-A7B5-5656B0AE5A46}"/>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950" b="1">
                <a:solidFill>
                  <a:srgbClr val="050608"/>
                </a:solidFill>
              </a:defRPr>
            </a:pPr>
            <a:r>
              <a:rPr sz="4950" b="1">
                <a:solidFill>
                  <a:srgbClr val="050608"/>
                </a:solidFill>
              </a:rPr>
              <a:t>A safe assistant knows when to stop.</a:t>
            </a:r>
          </a:p>
        </p:txBody>
      </p:sp>
      <p:sp>
        <p:nvSpPr>
          <p:cNvPr id="3" name="">
            <a:extLst xmlns:a="http://schemas.openxmlformats.org/drawingml/2006/main">
              <a:ext uri="{FF2B5EF4-FFF2-40B4-BE49-F238E27FC236}">
                <a16:creationId xmlns:a16="http://schemas.microsoft.com/office/drawing/2014/main" id="{8EBC2BDF-DBDD-4306-B36B-1EA362785CA0}"/>
              </a:ext>
            </a:extLst>
          </p:cNvPr>
          <p:cNvSpPr>
            <a:spLocks xmlns:a="http://schemas.openxmlformats.org/drawingml/2006/main" noGrp="1"/>
          </p:cNvSpPr>
          <p:nvPr/>
        </p:nvSpPr>
        <p:spPr>
          <a:xfrm xmlns:a="http://schemas.openxmlformats.org/drawingml/2006/main">
            <a:off x="685800" y="2095500"/>
            <a:ext cx="114300" cy="685800"/>
          </a:xfrm>
          <a:prstGeom xmlns:a="http://schemas.openxmlformats.org/drawingml/2006/main" prst="rect">
            <a:avLst/>
          </a:prstGeom>
          <a:solidFill xmlns:a="http://schemas.openxmlformats.org/drawingml/2006/main">
            <a:srgbClr val="30D15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F93BA1-22A7-4D17-B013-3898ECC9D1CA}"/>
              </a:ext>
            </a:extLst>
          </p:cNvPr>
          <p:cNvSpPr>
            <a:spLocks xmlns:a="http://schemas.openxmlformats.org/drawingml/2006/main" noGrp="1"/>
          </p:cNvSpPr>
          <p:nvPr/>
        </p:nvSpPr>
        <p:spPr>
          <a:xfrm xmlns:a="http://schemas.openxmlformats.org/drawingml/2006/main">
            <a:off x="1047750" y="20764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D1D1F"/>
                </a:solidFill>
              </a:defRPr>
            </a:pPr>
            <a:r>
              <a:rPr sz="2250" b="1">
                <a:solidFill>
                  <a:srgbClr val="1D1D1F"/>
                </a:solidFill>
              </a:rPr>
              <a:t>Educational summary</a:t>
            </a:r>
          </a:p>
        </p:txBody>
      </p:sp>
      <p:sp>
        <p:nvSpPr>
          <p:cNvPr id="5" name="">
            <a:extLst xmlns:a="http://schemas.openxmlformats.org/drawingml/2006/main">
              <a:ext uri="{FF2B5EF4-FFF2-40B4-BE49-F238E27FC236}">
                <a16:creationId xmlns:a16="http://schemas.microsoft.com/office/drawing/2014/main" id="{5661A0E0-E2B4-4E19-B1E0-1EEB7AFB3C34}"/>
              </a:ext>
            </a:extLst>
          </p:cNvPr>
          <p:cNvSpPr>
            <a:spLocks xmlns:a="http://schemas.openxmlformats.org/drawingml/2006/main" noGrp="1"/>
          </p:cNvSpPr>
          <p:nvPr/>
        </p:nvSpPr>
        <p:spPr>
          <a:xfrm xmlns:a="http://schemas.openxmlformats.org/drawingml/2006/main">
            <a:off x="1047750" y="24955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6E6E73"/>
                </a:solidFill>
              </a:defRPr>
            </a:pPr>
            <a:r>
              <a:rPr sz="1650" b="0">
                <a:solidFill>
                  <a:srgbClr val="6E6E73"/>
                </a:solidFill>
              </a:rPr>
              <a:t>bounded classifier context</a:t>
            </a:r>
          </a:p>
        </p:txBody>
      </p:sp>
      <p:sp>
        <p:nvSpPr>
          <p:cNvPr id="6" name="">
            <a:extLst xmlns:a="http://schemas.openxmlformats.org/drawingml/2006/main">
              <a:ext uri="{FF2B5EF4-FFF2-40B4-BE49-F238E27FC236}">
                <a16:creationId xmlns:a16="http://schemas.microsoft.com/office/drawing/2014/main" id="{B321249B-AC9E-4C0C-8E01-F866A9476512}"/>
              </a:ext>
            </a:extLst>
          </p:cNvPr>
          <p:cNvSpPr>
            <a:spLocks xmlns:a="http://schemas.openxmlformats.org/drawingml/2006/main" noGrp="1"/>
          </p:cNvSpPr>
          <p:nvPr/>
        </p:nvSpPr>
        <p:spPr>
          <a:xfrm xmlns:a="http://schemas.openxmlformats.org/drawingml/2006/main">
            <a:off x="8191500" y="22098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30D158"/>
                </a:solidFill>
              </a:defRPr>
            </a:pPr>
            <a:r>
              <a:rPr sz="1950" b="1">
                <a:solidFill>
                  <a:srgbClr val="30D158"/>
                </a:solidFill>
              </a:rPr>
              <a:t>SUMMARY</a:t>
            </a:r>
          </a:p>
        </p:txBody>
      </p:sp>
      <p:sp>
        <p:nvSpPr>
          <p:cNvPr id="7" name="">
            <a:extLst xmlns:a="http://schemas.openxmlformats.org/drawingml/2006/main">
              <a:ext uri="{FF2B5EF4-FFF2-40B4-BE49-F238E27FC236}">
                <a16:creationId xmlns:a16="http://schemas.microsoft.com/office/drawing/2014/main" id="{E80A3BF8-DB17-49AD-A01D-490130FB006F}"/>
              </a:ext>
            </a:extLst>
          </p:cNvPr>
          <p:cNvSpPr>
            <a:spLocks xmlns:a="http://schemas.openxmlformats.org/drawingml/2006/main" noGrp="1"/>
          </p:cNvSpPr>
          <p:nvPr/>
        </p:nvSpPr>
        <p:spPr>
          <a:xfrm xmlns:a="http://schemas.openxmlformats.org/drawingml/2006/main">
            <a:off x="685800" y="3028950"/>
            <a:ext cx="114300" cy="685800"/>
          </a:xfrm>
          <a:prstGeom xmlns:a="http://schemas.openxmlformats.org/drawingml/2006/main" prst="rect">
            <a:avLst/>
          </a:prstGeom>
          <a:solidFill xmlns:a="http://schemas.openxmlformats.org/drawingml/2006/main">
            <a:srgbClr val="FF45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D4CFC4C-AAC3-4E89-83EA-AB1DF1584F34}"/>
              </a:ext>
            </a:extLst>
          </p:cNvPr>
          <p:cNvSpPr>
            <a:spLocks xmlns:a="http://schemas.openxmlformats.org/drawingml/2006/main" noGrp="1"/>
          </p:cNvSpPr>
          <p:nvPr/>
        </p:nvSpPr>
        <p:spPr>
          <a:xfrm xmlns:a="http://schemas.openxmlformats.org/drawingml/2006/main">
            <a:off x="1047750" y="30099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D1D1F"/>
                </a:solidFill>
              </a:defRPr>
            </a:pPr>
            <a:r>
              <a:rPr sz="2250" b="1">
                <a:solidFill>
                  <a:srgbClr val="1D1D1F"/>
                </a:solidFill>
              </a:rPr>
              <a:t>High-risk refusal</a:t>
            </a:r>
          </a:p>
        </p:txBody>
      </p:sp>
      <p:sp>
        <p:nvSpPr>
          <p:cNvPr id="9" name="">
            <a:extLst xmlns:a="http://schemas.openxmlformats.org/drawingml/2006/main">
              <a:ext uri="{FF2B5EF4-FFF2-40B4-BE49-F238E27FC236}">
                <a16:creationId xmlns:a16="http://schemas.microsoft.com/office/drawing/2014/main" id="{96637D67-311E-4ECB-A41B-4D1D9CB0A9D3}"/>
              </a:ext>
            </a:extLst>
          </p:cNvPr>
          <p:cNvSpPr>
            <a:spLocks xmlns:a="http://schemas.openxmlformats.org/drawingml/2006/main" noGrp="1"/>
          </p:cNvSpPr>
          <p:nvPr/>
        </p:nvSpPr>
        <p:spPr>
          <a:xfrm xmlns:a="http://schemas.openxmlformats.org/drawingml/2006/main">
            <a:off x="1047750" y="3429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6E6E73"/>
                </a:solidFill>
              </a:defRPr>
            </a:pPr>
            <a:r>
              <a:rPr sz="1650" b="0">
                <a:solidFill>
                  <a:srgbClr val="6E6E73"/>
                </a:solidFill>
              </a:rPr>
              <a:t>no pesticide or dosage advice</a:t>
            </a:r>
          </a:p>
        </p:txBody>
      </p:sp>
      <p:sp>
        <p:nvSpPr>
          <p:cNvPr id="10" name="">
            <a:extLst xmlns:a="http://schemas.openxmlformats.org/drawingml/2006/main">
              <a:ext uri="{FF2B5EF4-FFF2-40B4-BE49-F238E27FC236}">
                <a16:creationId xmlns:a16="http://schemas.microsoft.com/office/drawing/2014/main" id="{E8CB2CB4-3E7A-4ACA-A7AD-9BDDB6385A3B}"/>
              </a:ext>
            </a:extLst>
          </p:cNvPr>
          <p:cNvSpPr>
            <a:spLocks xmlns:a="http://schemas.openxmlformats.org/drawingml/2006/main" noGrp="1"/>
          </p:cNvSpPr>
          <p:nvPr/>
        </p:nvSpPr>
        <p:spPr>
          <a:xfrm xmlns:a="http://schemas.openxmlformats.org/drawingml/2006/main">
            <a:off x="8191500" y="31432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FF453A"/>
                </a:solidFill>
              </a:defRPr>
            </a:pPr>
            <a:r>
              <a:rPr sz="1950" b="1">
                <a:solidFill>
                  <a:srgbClr val="FF453A"/>
                </a:solidFill>
              </a:rPr>
              <a:t>STOP</a:t>
            </a:r>
          </a:p>
        </p:txBody>
      </p:sp>
      <p:sp>
        <p:nvSpPr>
          <p:cNvPr id="11" name="">
            <a:extLst xmlns:a="http://schemas.openxmlformats.org/drawingml/2006/main">
              <a:ext uri="{FF2B5EF4-FFF2-40B4-BE49-F238E27FC236}">
                <a16:creationId xmlns:a16="http://schemas.microsoft.com/office/drawing/2014/main" id="{78828BC3-4FD7-4652-BB24-DD5368C538DA}"/>
              </a:ext>
            </a:extLst>
          </p:cNvPr>
          <p:cNvSpPr>
            <a:spLocks xmlns:a="http://schemas.openxmlformats.org/drawingml/2006/main" noGrp="1"/>
          </p:cNvSpPr>
          <p:nvPr/>
        </p:nvSpPr>
        <p:spPr>
          <a:xfrm xmlns:a="http://schemas.openxmlformats.org/drawingml/2006/main">
            <a:off x="685800" y="3962400"/>
            <a:ext cx="114300" cy="685800"/>
          </a:xfrm>
          <a:prstGeom xmlns:a="http://schemas.openxmlformats.org/drawingml/2006/main" prst="rect">
            <a:avLst/>
          </a:prstGeom>
          <a:solidFill xmlns:a="http://schemas.openxmlformats.org/drawingml/2006/main">
            <a:srgbClr val="FF9F0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17888A-C177-44C5-B412-1AC70493A7D2}"/>
              </a:ext>
            </a:extLst>
          </p:cNvPr>
          <p:cNvSpPr>
            <a:spLocks xmlns:a="http://schemas.openxmlformats.org/drawingml/2006/main" noGrp="1"/>
          </p:cNvSpPr>
          <p:nvPr/>
        </p:nvSpPr>
        <p:spPr>
          <a:xfrm xmlns:a="http://schemas.openxmlformats.org/drawingml/2006/main">
            <a:off x="1047750" y="3943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D1D1F"/>
                </a:solidFill>
              </a:defRPr>
            </a:pPr>
            <a:r>
              <a:rPr sz="2250" b="1">
                <a:solidFill>
                  <a:srgbClr val="1D1D1F"/>
                </a:solidFill>
              </a:rPr>
              <a:t>Low-confidence refusal</a:t>
            </a:r>
          </a:p>
        </p:txBody>
      </p:sp>
      <p:sp>
        <p:nvSpPr>
          <p:cNvPr id="13" name="">
            <a:extLst xmlns:a="http://schemas.openxmlformats.org/drawingml/2006/main">
              <a:ext uri="{FF2B5EF4-FFF2-40B4-BE49-F238E27FC236}">
                <a16:creationId xmlns:a16="http://schemas.microsoft.com/office/drawing/2014/main" id="{BE890CF6-B56F-4190-B8B3-F7C9EC21D387}"/>
              </a:ext>
            </a:extLst>
          </p:cNvPr>
          <p:cNvSpPr>
            <a:spLocks xmlns:a="http://schemas.openxmlformats.org/drawingml/2006/main" noGrp="1"/>
          </p:cNvSpPr>
          <p:nvPr/>
        </p:nvSpPr>
        <p:spPr>
          <a:xfrm xmlns:a="http://schemas.openxmlformats.org/drawingml/2006/main">
            <a:off x="1047750" y="4362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6E6E73"/>
                </a:solidFill>
              </a:defRPr>
            </a:pPr>
            <a:r>
              <a:rPr sz="1650" b="0">
                <a:solidFill>
                  <a:srgbClr val="6E6E73"/>
                </a:solidFill>
              </a:rPr>
              <a:t>uncertainty stays visible</a:t>
            </a:r>
          </a:p>
        </p:txBody>
      </p:sp>
      <p:sp>
        <p:nvSpPr>
          <p:cNvPr id="14" name="">
            <a:extLst xmlns:a="http://schemas.openxmlformats.org/drawingml/2006/main">
              <a:ext uri="{FF2B5EF4-FFF2-40B4-BE49-F238E27FC236}">
                <a16:creationId xmlns:a16="http://schemas.microsoft.com/office/drawing/2014/main" id="{282678AC-ECC0-4BBD-84F4-1FB09DE4E02C}"/>
              </a:ext>
            </a:extLst>
          </p:cNvPr>
          <p:cNvSpPr>
            <a:spLocks xmlns:a="http://schemas.openxmlformats.org/drawingml/2006/main" noGrp="1"/>
          </p:cNvSpPr>
          <p:nvPr/>
        </p:nvSpPr>
        <p:spPr>
          <a:xfrm xmlns:a="http://schemas.openxmlformats.org/drawingml/2006/main">
            <a:off x="8191500" y="40767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FF9F0A"/>
                </a:solidFill>
              </a:defRPr>
            </a:pPr>
            <a:r>
              <a:rPr sz="1950" b="1">
                <a:solidFill>
                  <a:srgbClr val="FF9F0A"/>
                </a:solidFill>
              </a:rPr>
              <a:t>PAUSE</a:t>
            </a:r>
          </a:p>
        </p:txBody>
      </p:sp>
      <p:sp>
        <p:nvSpPr>
          <p:cNvPr id="15" name="">
            <a:extLst xmlns:a="http://schemas.openxmlformats.org/drawingml/2006/main">
              <a:ext uri="{FF2B5EF4-FFF2-40B4-BE49-F238E27FC236}">
                <a16:creationId xmlns:a16="http://schemas.microsoft.com/office/drawing/2014/main" id="{8C88C45F-8B12-44C8-BCDC-FADD8A0BEC22}"/>
              </a:ext>
            </a:extLst>
          </p:cNvPr>
          <p:cNvSpPr>
            <a:spLocks xmlns:a="http://schemas.openxmlformats.org/drawingml/2006/main" noGrp="1"/>
          </p:cNvSpPr>
          <p:nvPr/>
        </p:nvSpPr>
        <p:spPr>
          <a:xfrm xmlns:a="http://schemas.openxmlformats.org/drawingml/2006/main">
            <a:off x="685800" y="4895850"/>
            <a:ext cx="114300" cy="685800"/>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E157D4D-F02D-4E55-8C37-D7A8C95DC0A2}"/>
              </a:ext>
            </a:extLst>
          </p:cNvPr>
          <p:cNvSpPr>
            <a:spLocks xmlns:a="http://schemas.openxmlformats.org/drawingml/2006/main" noGrp="1"/>
          </p:cNvSpPr>
          <p:nvPr/>
        </p:nvSpPr>
        <p:spPr>
          <a:xfrm xmlns:a="http://schemas.openxmlformats.org/drawingml/2006/main">
            <a:off x="1047750" y="48768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D1D1F"/>
                </a:solidFill>
              </a:defRPr>
            </a:pPr>
            <a:r>
              <a:rPr sz="2250" b="1">
                <a:solidFill>
                  <a:srgbClr val="1D1D1F"/>
                </a:solidFill>
              </a:rPr>
              <a:t>Out-of-scope refusal</a:t>
            </a:r>
          </a:p>
        </p:txBody>
      </p:sp>
      <p:sp>
        <p:nvSpPr>
          <p:cNvPr id="17" name="">
            <a:extLst xmlns:a="http://schemas.openxmlformats.org/drawingml/2006/main">
              <a:ext uri="{FF2B5EF4-FFF2-40B4-BE49-F238E27FC236}">
                <a16:creationId xmlns:a16="http://schemas.microsoft.com/office/drawing/2014/main" id="{B20FE4D3-39BB-478B-8213-024BFCB177F5}"/>
              </a:ext>
            </a:extLst>
          </p:cNvPr>
          <p:cNvSpPr>
            <a:spLocks xmlns:a="http://schemas.openxmlformats.org/drawingml/2006/main" noGrp="1"/>
          </p:cNvSpPr>
          <p:nvPr/>
        </p:nvSpPr>
        <p:spPr>
          <a:xfrm xmlns:a="http://schemas.openxmlformats.org/drawingml/2006/main">
            <a:off x="1047750" y="52959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6E6E73"/>
                </a:solidFill>
              </a:defRPr>
            </a:pPr>
            <a:r>
              <a:rPr sz="1650" b="0">
                <a:solidFill>
                  <a:srgbClr val="6E6E73"/>
                </a:solidFill>
              </a:rPr>
              <a:t>non-leaf input is rejected</a:t>
            </a:r>
          </a:p>
        </p:txBody>
      </p:sp>
      <p:sp>
        <p:nvSpPr>
          <p:cNvPr id="18" name="">
            <a:extLst xmlns:a="http://schemas.openxmlformats.org/drawingml/2006/main">
              <a:ext uri="{FF2B5EF4-FFF2-40B4-BE49-F238E27FC236}">
                <a16:creationId xmlns:a16="http://schemas.microsoft.com/office/drawing/2014/main" id="{C2337B7E-E7F1-499D-8E1D-9A244C221F65}"/>
              </a:ext>
            </a:extLst>
          </p:cNvPr>
          <p:cNvSpPr>
            <a:spLocks xmlns:a="http://schemas.openxmlformats.org/drawingml/2006/main" noGrp="1"/>
          </p:cNvSpPr>
          <p:nvPr/>
        </p:nvSpPr>
        <p:spPr>
          <a:xfrm xmlns:a="http://schemas.openxmlformats.org/drawingml/2006/main">
            <a:off x="8191500" y="50101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950" b="1">
                <a:solidFill>
                  <a:srgbClr val="0071E3"/>
                </a:solidFill>
              </a:defRPr>
            </a:pPr>
            <a:r>
              <a:rPr sz="1950" b="1">
                <a:solidFill>
                  <a:srgbClr val="0071E3"/>
                </a:solidFill>
              </a:rPr>
              <a:t>BOUNDARY</a:t>
            </a:r>
          </a:p>
        </p:txBody>
      </p:sp>
      <p:sp>
        <p:nvSpPr>
          <p:cNvPr id="19" name="">
            <a:extLst xmlns:a="http://schemas.openxmlformats.org/drawingml/2006/main">
              <a:ext uri="{FF2B5EF4-FFF2-40B4-BE49-F238E27FC236}">
                <a16:creationId xmlns:a16="http://schemas.microsoft.com/office/drawing/2014/main" id="{512F9F79-085E-48B3-85D5-98E1800DCB49}"/>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0D2BB0-0C81-4CB1-8DCB-10DCA69C5116}"/>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Evidence: reports/week6_vlm_assistant.md · outputs/plantvillage/week6_vlm/vlm_assistant_demo.json</a:t>
            </a:r>
          </a:p>
        </p:txBody>
      </p:sp>
      <p:sp>
        <p:nvSpPr>
          <p:cNvPr id="21" name="">
            <a:extLst xmlns:a="http://schemas.openxmlformats.org/drawingml/2006/main">
              <a:ext uri="{FF2B5EF4-FFF2-40B4-BE49-F238E27FC236}">
                <a16:creationId xmlns:a16="http://schemas.microsoft.com/office/drawing/2014/main" id="{2F72F907-F1B3-44E0-B7F7-3A21867AD5BF}"/>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10</a:t>
            </a:r>
          </a:p>
        </p:txBody>
      </p:sp>
    </p:spTree>
    <p:extLst>
      <p:ext uri="{BB962C8B-B14F-4D97-AF65-F5344CB8AC3E}">
        <p14:creationId xmlns:p14="http://schemas.microsoft.com/office/powerpoint/2010/main" val="30487950"/>
      </p:ext>
    </p:extLst>
  </p:cSld>
</p:sld>
</file>

<file path=ppt/slides/slide11.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306351-6442-4155-BF88-C4C3E5083F44}"/>
              </a:ext>
            </a:extLst>
          </p:cNvPr>
          <p:cNvSpPr>
            <a:spLocks xmlns:a="http://schemas.openxmlformats.org/drawingml/2006/main" noGrp="1"/>
          </p:cNvSpPr>
          <p:nvPr/>
        </p:nvSpPr>
        <p:spPr>
          <a:xfrm xmlns:a="http://schemas.openxmlformats.org/drawingml/2006/main">
            <a:off x="685800" y="4000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071E3"/>
                </a:solidFill>
              </a:defRPr>
            </a:pPr>
            <a:r>
              <a:rPr sz="1350" b="1">
                <a:solidFill>
                  <a:srgbClr val="0071E3"/>
                </a:solidFill>
              </a:rPr>
              <a:t>EVIDENCE LEDGER</a:t>
            </a:r>
          </a:p>
        </p:txBody>
      </p:sp>
      <p:sp>
        <p:nvSpPr>
          <p:cNvPr id="2" name="">
            <a:extLst xmlns:a="http://schemas.openxmlformats.org/drawingml/2006/main">
              <a:ext uri="{FF2B5EF4-FFF2-40B4-BE49-F238E27FC236}">
                <a16:creationId xmlns:a16="http://schemas.microsoft.com/office/drawing/2014/main" id="{832C6E9F-860F-4952-AFD8-F0060B521380}"/>
              </a:ext>
            </a:extLst>
          </p:cNvPr>
          <p:cNvSpPr>
            <a:spLocks xmlns:a="http://schemas.openxmlformats.org/drawingml/2006/main" noGrp="1"/>
          </p:cNvSpPr>
          <p:nvPr/>
        </p:nvSpPr>
        <p:spPr>
          <a:xfrm xmlns:a="http://schemas.openxmlformats.org/drawingml/2006/main">
            <a:off x="685800" y="762000"/>
            <a:ext cx="108204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050608"/>
                </a:solidFill>
              </a:defRPr>
            </a:pPr>
            <a:r>
              <a:rPr sz="4200" b="1">
                <a:solidFill>
                  <a:srgbClr val="050608"/>
                </a:solidFill>
              </a:rPr>
              <a:t>Verified, smoke-tested, and pending are different states.</a:t>
            </a:r>
          </a:p>
        </p:txBody>
      </p:sp>
      <p:sp>
        <p:nvSpPr>
          <p:cNvPr id="3" name="">
            <a:extLst xmlns:a="http://schemas.openxmlformats.org/drawingml/2006/main">
              <a:ext uri="{FF2B5EF4-FFF2-40B4-BE49-F238E27FC236}">
                <a16:creationId xmlns:a16="http://schemas.microsoft.com/office/drawing/2014/main" id="{343D3D0A-0949-4ECB-BC60-EB166D3303BE}"/>
              </a:ext>
            </a:extLst>
          </p:cNvPr>
          <p:cNvSpPr>
            <a:spLocks xmlns:a="http://schemas.openxmlformats.org/drawingml/2006/main" noGrp="1"/>
          </p:cNvSpPr>
          <p:nvPr/>
        </p:nvSpPr>
        <p:spPr>
          <a:xfrm xmlns:a="http://schemas.openxmlformats.org/drawingml/2006/main">
            <a:off x="685800" y="21431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30D158"/>
                </a:solidFill>
              </a:defRPr>
            </a:pPr>
            <a:r>
              <a:rPr sz="2100" b="1">
                <a:solidFill>
                  <a:srgbClr val="30D158"/>
                </a:solidFill>
              </a:rPr>
              <a:t>VERIFIED</a:t>
            </a:r>
          </a:p>
        </p:txBody>
      </p:sp>
      <p:sp>
        <p:nvSpPr>
          <p:cNvPr id="4" name="">
            <a:extLst xmlns:a="http://schemas.openxmlformats.org/drawingml/2006/main">
              <a:ext uri="{FF2B5EF4-FFF2-40B4-BE49-F238E27FC236}">
                <a16:creationId xmlns:a16="http://schemas.microsoft.com/office/drawing/2014/main" id="{BB39B7A5-3B2E-4097-803F-0B6FD4602CB6}"/>
              </a:ext>
            </a:extLst>
          </p:cNvPr>
          <p:cNvSpPr>
            <a:spLocks xmlns:a="http://schemas.openxmlformats.org/drawingml/2006/main" noGrp="1"/>
          </p:cNvSpPr>
          <p:nvPr/>
        </p:nvSpPr>
        <p:spPr>
          <a:xfrm xmlns:a="http://schemas.openxmlformats.org/drawingml/2006/main">
            <a:off x="685800" y="2647950"/>
            <a:ext cx="3143250" cy="38100"/>
          </a:xfrm>
          <a:prstGeom xmlns:a="http://schemas.openxmlformats.org/drawingml/2006/main" prst="rect">
            <a:avLst/>
          </a:prstGeom>
          <a:solidFill xmlns:a="http://schemas.openxmlformats.org/drawingml/2006/main">
            <a:srgbClr val="30D15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2B1E8C9-8A33-440B-B327-939CC2133F3C}"/>
              </a:ext>
            </a:extLst>
          </p:cNvPr>
          <p:cNvSpPr>
            <a:spLocks xmlns:a="http://schemas.openxmlformats.org/drawingml/2006/main" noGrp="1"/>
          </p:cNvSpPr>
          <p:nvPr/>
        </p:nvSpPr>
        <p:spPr>
          <a:xfrm xmlns:a="http://schemas.openxmlformats.org/drawingml/2006/main">
            <a:off x="685800" y="2952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1D1F"/>
                </a:solidFill>
              </a:defRPr>
            </a:pPr>
            <a:r>
              <a:rPr sz="1875" b="1">
                <a:solidFill>
                  <a:srgbClr val="1D1D1F"/>
                </a:solidFill>
              </a:rPr>
              <a:t>Classifier pipeline</a:t>
            </a:r>
          </a:p>
        </p:txBody>
      </p:sp>
      <p:sp>
        <p:nvSpPr>
          <p:cNvPr id="6" name="">
            <a:extLst xmlns:a="http://schemas.openxmlformats.org/drawingml/2006/main">
              <a:ext uri="{FF2B5EF4-FFF2-40B4-BE49-F238E27FC236}">
                <a16:creationId xmlns:a16="http://schemas.microsoft.com/office/drawing/2014/main" id="{BC6081D0-0020-4EB3-83E3-47332B693E09}"/>
              </a:ext>
            </a:extLst>
          </p:cNvPr>
          <p:cNvSpPr>
            <a:spLocks xmlns:a="http://schemas.openxmlformats.org/drawingml/2006/main" noGrp="1"/>
          </p:cNvSpPr>
          <p:nvPr/>
        </p:nvSpPr>
        <p:spPr>
          <a:xfrm xmlns:a="http://schemas.openxmlformats.org/drawingml/2006/main">
            <a:off x="685800" y="35814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Benchmark + ablation</a:t>
            </a:r>
          </a:p>
        </p:txBody>
      </p:sp>
      <p:sp>
        <p:nvSpPr>
          <p:cNvPr id="7" name="">
            <a:extLst xmlns:a="http://schemas.openxmlformats.org/drawingml/2006/main">
              <a:ext uri="{FF2B5EF4-FFF2-40B4-BE49-F238E27FC236}">
                <a16:creationId xmlns:a16="http://schemas.microsoft.com/office/drawing/2014/main" id="{E7DA78FE-BCD9-4D24-AC54-532BC562B683}"/>
              </a:ext>
            </a:extLst>
          </p:cNvPr>
          <p:cNvSpPr>
            <a:spLocks xmlns:a="http://schemas.openxmlformats.org/drawingml/2006/main" noGrp="1"/>
          </p:cNvSpPr>
          <p:nvPr/>
        </p:nvSpPr>
        <p:spPr>
          <a:xfrm xmlns:a="http://schemas.openxmlformats.org/drawingml/2006/main">
            <a:off x="685800" y="4210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Grad-CAM + calibration</a:t>
            </a:r>
          </a:p>
        </p:txBody>
      </p:sp>
      <p:sp>
        <p:nvSpPr>
          <p:cNvPr id="8" name="">
            <a:extLst xmlns:a="http://schemas.openxmlformats.org/drawingml/2006/main">
              <a:ext uri="{FF2B5EF4-FFF2-40B4-BE49-F238E27FC236}">
                <a16:creationId xmlns:a16="http://schemas.microsoft.com/office/drawing/2014/main" id="{B7E70B09-71EF-4CFA-9FDB-836C0FDC9233}"/>
              </a:ext>
            </a:extLst>
          </p:cNvPr>
          <p:cNvSpPr>
            <a:spLocks xmlns:a="http://schemas.openxmlformats.org/drawingml/2006/main" noGrp="1"/>
          </p:cNvSpPr>
          <p:nvPr/>
        </p:nvSpPr>
        <p:spPr>
          <a:xfrm xmlns:a="http://schemas.openxmlformats.org/drawingml/2006/main">
            <a:off x="685800" y="48387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Local/container demo</a:t>
            </a:r>
          </a:p>
        </p:txBody>
      </p:sp>
      <p:sp>
        <p:nvSpPr>
          <p:cNvPr id="9" name="">
            <a:extLst xmlns:a="http://schemas.openxmlformats.org/drawingml/2006/main">
              <a:ext uri="{FF2B5EF4-FFF2-40B4-BE49-F238E27FC236}">
                <a16:creationId xmlns:a16="http://schemas.microsoft.com/office/drawing/2014/main" id="{EAC53AEF-92F4-4C6F-99AE-A32ADD95D475}"/>
              </a:ext>
            </a:extLst>
          </p:cNvPr>
          <p:cNvSpPr>
            <a:spLocks xmlns:a="http://schemas.openxmlformats.org/drawingml/2006/main" noGrp="1"/>
          </p:cNvSpPr>
          <p:nvPr/>
        </p:nvSpPr>
        <p:spPr>
          <a:xfrm xmlns:a="http://schemas.openxmlformats.org/drawingml/2006/main">
            <a:off x="4305300" y="21431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9F0A"/>
                </a:solidFill>
              </a:defRPr>
            </a:pPr>
            <a:r>
              <a:rPr sz="2100" b="1">
                <a:solidFill>
                  <a:srgbClr val="FF9F0A"/>
                </a:solidFill>
              </a:rPr>
              <a:t>SMOKE-TESTED</a:t>
            </a:r>
          </a:p>
        </p:txBody>
      </p:sp>
      <p:sp>
        <p:nvSpPr>
          <p:cNvPr id="10" name="">
            <a:extLst xmlns:a="http://schemas.openxmlformats.org/drawingml/2006/main">
              <a:ext uri="{FF2B5EF4-FFF2-40B4-BE49-F238E27FC236}">
                <a16:creationId xmlns:a16="http://schemas.microsoft.com/office/drawing/2014/main" id="{EE4E1E4A-F76E-4B76-8BA7-8F4FD7DBAC86}"/>
              </a:ext>
            </a:extLst>
          </p:cNvPr>
          <p:cNvSpPr>
            <a:spLocks xmlns:a="http://schemas.openxmlformats.org/drawingml/2006/main" noGrp="1"/>
          </p:cNvSpPr>
          <p:nvPr/>
        </p:nvSpPr>
        <p:spPr>
          <a:xfrm xmlns:a="http://schemas.openxmlformats.org/drawingml/2006/main">
            <a:off x="4305300" y="2647950"/>
            <a:ext cx="3143250" cy="38100"/>
          </a:xfrm>
          <a:prstGeom xmlns:a="http://schemas.openxmlformats.org/drawingml/2006/main" prst="rect">
            <a:avLst/>
          </a:prstGeom>
          <a:solidFill xmlns:a="http://schemas.openxmlformats.org/drawingml/2006/main">
            <a:srgbClr val="FF9F0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953968-FE12-4955-B434-36D59B305C57}"/>
              </a:ext>
            </a:extLst>
          </p:cNvPr>
          <p:cNvSpPr>
            <a:spLocks xmlns:a="http://schemas.openxmlformats.org/drawingml/2006/main" noGrp="1"/>
          </p:cNvSpPr>
          <p:nvPr/>
        </p:nvSpPr>
        <p:spPr>
          <a:xfrm xmlns:a="http://schemas.openxmlformats.org/drawingml/2006/main">
            <a:off x="4305300" y="2952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1D1F"/>
                </a:solidFill>
              </a:defRPr>
            </a:pPr>
            <a:r>
              <a:rPr sz="1875" b="1">
                <a:solidFill>
                  <a:srgbClr val="1D1D1F"/>
                </a:solidFill>
              </a:rPr>
              <a:t>Qwen3-VL prompts</a:t>
            </a:r>
          </a:p>
        </p:txBody>
      </p:sp>
      <p:sp>
        <p:nvSpPr>
          <p:cNvPr id="12" name="">
            <a:extLst xmlns:a="http://schemas.openxmlformats.org/drawingml/2006/main">
              <a:ext uri="{FF2B5EF4-FFF2-40B4-BE49-F238E27FC236}">
                <a16:creationId xmlns:a16="http://schemas.microsoft.com/office/drawing/2014/main" id="{A9BCDAD6-978C-47F2-82E3-32FA311DB16A}"/>
              </a:ext>
            </a:extLst>
          </p:cNvPr>
          <p:cNvSpPr>
            <a:spLocks xmlns:a="http://schemas.openxmlformats.org/drawingml/2006/main" noGrp="1"/>
          </p:cNvSpPr>
          <p:nvPr/>
        </p:nvSpPr>
        <p:spPr>
          <a:xfrm xmlns:a="http://schemas.openxmlformats.org/drawingml/2006/main">
            <a:off x="4305300" y="35814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Safety-bounded assistant</a:t>
            </a:r>
          </a:p>
        </p:txBody>
      </p:sp>
      <p:sp>
        <p:nvSpPr>
          <p:cNvPr id="13" name="">
            <a:extLst xmlns:a="http://schemas.openxmlformats.org/drawingml/2006/main">
              <a:ext uri="{FF2B5EF4-FFF2-40B4-BE49-F238E27FC236}">
                <a16:creationId xmlns:a16="http://schemas.microsoft.com/office/drawing/2014/main" id="{B6587D3C-89B0-43E7-ACC6-10018676CA67}"/>
              </a:ext>
            </a:extLst>
          </p:cNvPr>
          <p:cNvSpPr>
            <a:spLocks xmlns:a="http://schemas.openxmlformats.org/drawingml/2006/main" noGrp="1"/>
          </p:cNvSpPr>
          <p:nvPr/>
        </p:nvSpPr>
        <p:spPr>
          <a:xfrm xmlns:a="http://schemas.openxmlformats.org/drawingml/2006/main">
            <a:off x="4305300" y="4210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5-image VQA comparison</a:t>
            </a:r>
          </a:p>
        </p:txBody>
      </p:sp>
      <p:sp>
        <p:nvSpPr>
          <p:cNvPr id="14" name="">
            <a:extLst xmlns:a="http://schemas.openxmlformats.org/drawingml/2006/main">
              <a:ext uri="{FF2B5EF4-FFF2-40B4-BE49-F238E27FC236}">
                <a16:creationId xmlns:a16="http://schemas.microsoft.com/office/drawing/2014/main" id="{768F6DE2-49DF-4380-904D-85EF62BB6E6C}"/>
              </a:ext>
            </a:extLst>
          </p:cNvPr>
          <p:cNvSpPr>
            <a:spLocks xmlns:a="http://schemas.openxmlformats.org/drawingml/2006/main" noGrp="1"/>
          </p:cNvSpPr>
          <p:nvPr/>
        </p:nvSpPr>
        <p:spPr>
          <a:xfrm xmlns:a="http://schemas.openxmlformats.org/drawingml/2006/main">
            <a:off x="4305300" y="48387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MLX 4-bit inference</a:t>
            </a:r>
          </a:p>
        </p:txBody>
      </p:sp>
      <p:sp>
        <p:nvSpPr>
          <p:cNvPr id="15" name="">
            <a:extLst xmlns:a="http://schemas.openxmlformats.org/drawingml/2006/main">
              <a:ext uri="{FF2B5EF4-FFF2-40B4-BE49-F238E27FC236}">
                <a16:creationId xmlns:a16="http://schemas.microsoft.com/office/drawing/2014/main" id="{FB6B40B2-2ED7-46DE-8FFA-F2DCC55E4227}"/>
              </a:ext>
            </a:extLst>
          </p:cNvPr>
          <p:cNvSpPr>
            <a:spLocks xmlns:a="http://schemas.openxmlformats.org/drawingml/2006/main" noGrp="1"/>
          </p:cNvSpPr>
          <p:nvPr/>
        </p:nvSpPr>
        <p:spPr>
          <a:xfrm xmlns:a="http://schemas.openxmlformats.org/drawingml/2006/main">
            <a:off x="7924800" y="21431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FF453A"/>
                </a:solidFill>
              </a:defRPr>
            </a:pPr>
            <a:r>
              <a:rPr sz="2100" b="1">
                <a:solidFill>
                  <a:srgbClr val="FF453A"/>
                </a:solidFill>
              </a:rPr>
              <a:t>PENDING</a:t>
            </a:r>
          </a:p>
        </p:txBody>
      </p:sp>
      <p:sp>
        <p:nvSpPr>
          <p:cNvPr id="16" name="">
            <a:extLst xmlns:a="http://schemas.openxmlformats.org/drawingml/2006/main">
              <a:ext uri="{FF2B5EF4-FFF2-40B4-BE49-F238E27FC236}">
                <a16:creationId xmlns:a16="http://schemas.microsoft.com/office/drawing/2014/main" id="{4BA0020B-CEA1-4C71-BA7E-10D16A3DD6F7}"/>
              </a:ext>
            </a:extLst>
          </p:cNvPr>
          <p:cNvSpPr>
            <a:spLocks xmlns:a="http://schemas.openxmlformats.org/drawingml/2006/main" noGrp="1"/>
          </p:cNvSpPr>
          <p:nvPr/>
        </p:nvSpPr>
        <p:spPr>
          <a:xfrm xmlns:a="http://schemas.openxmlformats.org/drawingml/2006/main">
            <a:off x="7924800" y="2647950"/>
            <a:ext cx="3143250" cy="38100"/>
          </a:xfrm>
          <a:prstGeom xmlns:a="http://schemas.openxmlformats.org/drawingml/2006/main" prst="rect">
            <a:avLst/>
          </a:prstGeom>
          <a:solidFill xmlns:a="http://schemas.openxmlformats.org/drawingml/2006/main">
            <a:srgbClr val="FF45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5756703-5929-4212-BB77-D23C2F06D744}"/>
              </a:ext>
            </a:extLst>
          </p:cNvPr>
          <p:cNvSpPr>
            <a:spLocks xmlns:a="http://schemas.openxmlformats.org/drawingml/2006/main" noGrp="1"/>
          </p:cNvSpPr>
          <p:nvPr/>
        </p:nvSpPr>
        <p:spPr>
          <a:xfrm xmlns:a="http://schemas.openxmlformats.org/drawingml/2006/main">
            <a:off x="7924800" y="2952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1D1F"/>
                </a:solidFill>
              </a:defRPr>
            </a:pPr>
            <a:r>
              <a:rPr sz="1875" b="1">
                <a:solidFill>
                  <a:srgbClr val="1D1D1F"/>
                </a:solidFill>
              </a:rPr>
              <a:t>LoRA / QLoRA</a:t>
            </a:r>
          </a:p>
        </p:txBody>
      </p:sp>
      <p:sp>
        <p:nvSpPr>
          <p:cNvPr id="18" name="">
            <a:extLst xmlns:a="http://schemas.openxmlformats.org/drawingml/2006/main">
              <a:ext uri="{FF2B5EF4-FFF2-40B4-BE49-F238E27FC236}">
                <a16:creationId xmlns:a16="http://schemas.microsoft.com/office/drawing/2014/main" id="{66BC40BC-3B0C-4DFF-829C-1E9EAFD7D343}"/>
              </a:ext>
            </a:extLst>
          </p:cNvPr>
          <p:cNvSpPr>
            <a:spLocks xmlns:a="http://schemas.openxmlformats.org/drawingml/2006/main" noGrp="1"/>
          </p:cNvSpPr>
          <p:nvPr/>
        </p:nvSpPr>
        <p:spPr>
          <a:xfrm xmlns:a="http://schemas.openxmlformats.org/drawingml/2006/main">
            <a:off x="7924800" y="35814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Manual VQA audit</a:t>
            </a:r>
          </a:p>
        </p:txBody>
      </p:sp>
      <p:sp>
        <p:nvSpPr>
          <p:cNvPr id="19" name="">
            <a:extLst xmlns:a="http://schemas.openxmlformats.org/drawingml/2006/main">
              <a:ext uri="{FF2B5EF4-FFF2-40B4-BE49-F238E27FC236}">
                <a16:creationId xmlns:a16="http://schemas.microsoft.com/office/drawing/2014/main" id="{CE8D75C6-3794-43E0-ABA4-E522D6DA533E}"/>
              </a:ext>
            </a:extLst>
          </p:cNvPr>
          <p:cNvSpPr>
            <a:spLocks xmlns:a="http://schemas.openxmlformats.org/drawingml/2006/main" noGrp="1"/>
          </p:cNvSpPr>
          <p:nvPr/>
        </p:nvSpPr>
        <p:spPr>
          <a:xfrm xmlns:a="http://schemas.openxmlformats.org/drawingml/2006/main">
            <a:off x="7924800" y="42100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Field validation</a:t>
            </a:r>
          </a:p>
        </p:txBody>
      </p:sp>
      <p:sp>
        <p:nvSpPr>
          <p:cNvPr id="20" name="">
            <a:extLst xmlns:a="http://schemas.openxmlformats.org/drawingml/2006/main">
              <a:ext uri="{FF2B5EF4-FFF2-40B4-BE49-F238E27FC236}">
                <a16:creationId xmlns:a16="http://schemas.microsoft.com/office/drawing/2014/main" id="{45F7250C-C870-4A19-87B2-BD7FD60FD679}"/>
              </a:ext>
            </a:extLst>
          </p:cNvPr>
          <p:cNvSpPr>
            <a:spLocks xmlns:a="http://schemas.openxmlformats.org/drawingml/2006/main" noGrp="1"/>
          </p:cNvSpPr>
          <p:nvPr/>
        </p:nvSpPr>
        <p:spPr>
          <a:xfrm xmlns:a="http://schemas.openxmlformats.org/drawingml/2006/main">
            <a:off x="7924800" y="48387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1D1D1F"/>
                </a:solidFill>
              </a:defRPr>
            </a:pPr>
            <a:r>
              <a:rPr sz="1875" b="0">
                <a:solidFill>
                  <a:srgbClr val="1D1D1F"/>
                </a:solidFill>
              </a:rPr>
              <a:t>Entity-isolated study</a:t>
            </a:r>
          </a:p>
        </p:txBody>
      </p:sp>
      <p:sp>
        <p:nvSpPr>
          <p:cNvPr id="21" name="">
            <a:extLst xmlns:a="http://schemas.openxmlformats.org/drawingml/2006/main">
              <a:ext uri="{FF2B5EF4-FFF2-40B4-BE49-F238E27FC236}">
                <a16:creationId xmlns:a16="http://schemas.microsoft.com/office/drawing/2014/main" id="{F4ED87E6-DCBC-47FD-B9C3-5D9903B14AF8}"/>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6E6E7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DFA0739-DDB3-41D4-B87B-A8BC1D71D5EA}"/>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E6E73"/>
                </a:solidFill>
              </a:defRPr>
            </a:pPr>
            <a:r>
              <a:rPr sz="1275" b="0">
                <a:solidFill>
                  <a:srgbClr val="6E6E73"/>
                </a:solidFill>
              </a:rPr>
              <a:t>Status source: TASKS.md · docs/week7_evidence_map.md</a:t>
            </a:r>
          </a:p>
        </p:txBody>
      </p:sp>
      <p:sp>
        <p:nvSpPr>
          <p:cNvPr id="23" name="">
            <a:extLst xmlns:a="http://schemas.openxmlformats.org/drawingml/2006/main">
              <a:ext uri="{FF2B5EF4-FFF2-40B4-BE49-F238E27FC236}">
                <a16:creationId xmlns:a16="http://schemas.microsoft.com/office/drawing/2014/main" id="{0DF5CE39-5682-4B14-9A27-94A3A46A42E8}"/>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1D1D1F"/>
                </a:solidFill>
              </a:defRPr>
            </a:pPr>
            <a:r>
              <a:rPr sz="1275" b="1">
                <a:solidFill>
                  <a:srgbClr val="1D1D1F"/>
                </a:solidFill>
              </a:rPr>
              <a:t>11</a:t>
            </a:r>
          </a:p>
        </p:txBody>
      </p:sp>
    </p:spTree>
    <p:extLst>
      <p:ext uri="{BB962C8B-B14F-4D97-AF65-F5344CB8AC3E}">
        <p14:creationId xmlns:p14="http://schemas.microsoft.com/office/powerpoint/2010/main" val="959005671"/>
      </p:ext>
    </p:extLst>
  </p:cSld>
</p:sld>
</file>

<file path=ppt/slides/slide12.xml><?xml version="1.0" encoding="utf-8"?>
<p:sld xmlns:p="http://schemas.openxmlformats.org/presentationml/2006/main">
  <p:cSld>
    <p:bg>
      <p:bgPr>
        <a:solidFill xmlns:a="http://schemas.openxmlformats.org/drawingml/2006/main">
          <a:srgbClr val="05060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FF89632-F3E6-46E0-8918-B2A312EB00E6}"/>
              </a:ext>
            </a:extLst>
          </p:cNvPr>
          <p:cNvSpPr>
            <a:spLocks xmlns:a="http://schemas.openxmlformats.org/drawingml/2006/main" noGrp="1"/>
          </p:cNvSpPr>
          <p:nvPr/>
        </p:nvSpPr>
        <p:spPr>
          <a:xfrm xmlns:a="http://schemas.openxmlformats.org/drawingml/2006/main">
            <a:off x="685800" y="666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30D158"/>
                </a:solidFill>
              </a:defRPr>
            </a:pPr>
            <a:r>
              <a:rPr sz="1350" b="1">
                <a:solidFill>
                  <a:srgbClr val="30D158"/>
                </a:solidFill>
              </a:rPr>
              <a:t>WEEK 8 HANDOFF</a:t>
            </a:r>
          </a:p>
        </p:txBody>
      </p:sp>
      <p:sp>
        <p:nvSpPr>
          <p:cNvPr id="2" name="">
            <a:extLst xmlns:a="http://schemas.openxmlformats.org/drawingml/2006/main">
              <a:ext uri="{FF2B5EF4-FFF2-40B4-BE49-F238E27FC236}">
                <a16:creationId xmlns:a16="http://schemas.microsoft.com/office/drawing/2014/main" id="{607F8467-CC6F-496E-94E7-3717535858DB}"/>
              </a:ext>
            </a:extLst>
          </p:cNvPr>
          <p:cNvSpPr>
            <a:spLocks xmlns:a="http://schemas.openxmlformats.org/drawingml/2006/main" noGrp="1"/>
          </p:cNvSpPr>
          <p:nvPr/>
        </p:nvSpPr>
        <p:spPr>
          <a:xfrm xmlns:a="http://schemas.openxmlformats.org/drawingml/2006/main">
            <a:off x="685800" y="1428750"/>
            <a:ext cx="7620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150" b="1">
                <a:solidFill>
                  <a:srgbClr val="F5F5F7"/>
                </a:solidFill>
              </a:defRPr>
            </a:pPr>
            <a:r>
              <a:rPr sz="6150" b="1">
                <a:solidFill>
                  <a:srgbClr val="F5F5F7"/>
                </a:solidFill>
              </a:rPr>
              <a:t>Credible AI needs</a:t>
            </a:r>
          </a:p>
          <a:p xmlns:a="http://schemas.openxmlformats.org/drawingml/2006/main">
            <a:pPr algn="l">
              <a:defRPr sz="6150" b="1">
                <a:solidFill>
                  <a:srgbClr val="F5F5F7"/>
                </a:solidFill>
              </a:defRPr>
            </a:pPr>
            <a:r>
              <a:rPr sz="6150" b="1">
                <a:solidFill>
                  <a:srgbClr val="F5F5F7"/>
                </a:solidFill>
              </a:rPr>
              <a:t>evidence and limits.</a:t>
            </a:r>
          </a:p>
        </p:txBody>
      </p:sp>
      <p:sp>
        <p:nvSpPr>
          <p:cNvPr id="3" name="">
            <a:extLst xmlns:a="http://schemas.openxmlformats.org/drawingml/2006/main">
              <a:ext uri="{FF2B5EF4-FFF2-40B4-BE49-F238E27FC236}">
                <a16:creationId xmlns:a16="http://schemas.microsoft.com/office/drawing/2014/main" id="{92A113FB-B503-44E7-87FC-7B264DE7E36A}"/>
              </a:ext>
            </a:extLst>
          </p:cNvPr>
          <p:cNvSpPr>
            <a:spLocks xmlns:a="http://schemas.openxmlformats.org/drawingml/2006/main" noGrp="1"/>
          </p:cNvSpPr>
          <p:nvPr/>
        </p:nvSpPr>
        <p:spPr>
          <a:xfrm xmlns:a="http://schemas.openxmlformats.org/drawingml/2006/main">
            <a:off x="685800" y="3810000"/>
            <a:ext cx="1714500" cy="57150"/>
          </a:xfrm>
          <a:prstGeom xmlns:a="http://schemas.openxmlformats.org/drawingml/2006/main" prst="rect">
            <a:avLst/>
          </a:prstGeom>
          <a:solidFill xmlns:a="http://schemas.openxmlformats.org/drawingml/2006/main">
            <a:srgbClr val="30D15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1FF35E-7AD9-408D-A111-0EEE184C37D1}"/>
              </a:ext>
            </a:extLst>
          </p:cNvPr>
          <p:cNvSpPr>
            <a:spLocks xmlns:a="http://schemas.openxmlformats.org/drawingml/2006/main" noGrp="1"/>
          </p:cNvSpPr>
          <p:nvPr/>
        </p:nvSpPr>
        <p:spPr>
          <a:xfrm xmlns:a="http://schemas.openxmlformats.org/drawingml/2006/main">
            <a:off x="685800" y="41910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5F5F7"/>
                </a:solidFill>
              </a:defRPr>
            </a:pPr>
            <a:r>
              <a:rPr sz="3150" b="1">
                <a:solidFill>
                  <a:srgbClr val="F5F5F7"/>
                </a:solidFill>
              </a:rPr>
              <a:t>Reproduce.</a:t>
            </a:r>
          </a:p>
        </p:txBody>
      </p:sp>
      <p:sp>
        <p:nvSpPr>
          <p:cNvPr id="5" name="">
            <a:extLst xmlns:a="http://schemas.openxmlformats.org/drawingml/2006/main">
              <a:ext uri="{FF2B5EF4-FFF2-40B4-BE49-F238E27FC236}">
                <a16:creationId xmlns:a16="http://schemas.microsoft.com/office/drawing/2014/main" id="{F815A73F-8D87-4410-BF0C-14E93D48701A}"/>
              </a:ext>
            </a:extLst>
          </p:cNvPr>
          <p:cNvSpPr>
            <a:spLocks xmlns:a="http://schemas.openxmlformats.org/drawingml/2006/main" noGrp="1"/>
          </p:cNvSpPr>
          <p:nvPr/>
        </p:nvSpPr>
        <p:spPr>
          <a:xfrm xmlns:a="http://schemas.openxmlformats.org/drawingml/2006/main">
            <a:off x="3714750" y="419100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071E3"/>
                </a:solidFill>
              </a:defRPr>
            </a:pPr>
            <a:r>
              <a:rPr sz="3150" b="1">
                <a:solidFill>
                  <a:srgbClr val="0071E3"/>
                </a:solidFill>
              </a:rPr>
              <a:t>Audit.</a:t>
            </a:r>
          </a:p>
        </p:txBody>
      </p:sp>
      <p:sp>
        <p:nvSpPr>
          <p:cNvPr id="6" name="">
            <a:extLst xmlns:a="http://schemas.openxmlformats.org/drawingml/2006/main">
              <a:ext uri="{FF2B5EF4-FFF2-40B4-BE49-F238E27FC236}">
                <a16:creationId xmlns:a16="http://schemas.microsoft.com/office/drawing/2014/main" id="{A5E6CF78-7FB2-4D11-9329-6E339AC490B4}"/>
              </a:ext>
            </a:extLst>
          </p:cNvPr>
          <p:cNvSpPr>
            <a:spLocks xmlns:a="http://schemas.openxmlformats.org/drawingml/2006/main" noGrp="1"/>
          </p:cNvSpPr>
          <p:nvPr/>
        </p:nvSpPr>
        <p:spPr>
          <a:xfrm xmlns:a="http://schemas.openxmlformats.org/drawingml/2006/main">
            <a:off x="6048375" y="4191000"/>
            <a:ext cx="3905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30D158"/>
                </a:solidFill>
              </a:defRPr>
            </a:pPr>
            <a:r>
              <a:rPr sz="3150" b="1">
                <a:solidFill>
                  <a:srgbClr val="30D158"/>
                </a:solidFill>
              </a:rPr>
              <a:t>Release honestly.</a:t>
            </a:r>
          </a:p>
        </p:txBody>
      </p:sp>
      <p:sp>
        <p:nvSpPr>
          <p:cNvPr id="7" name="">
            <a:extLst xmlns:a="http://schemas.openxmlformats.org/drawingml/2006/main">
              <a:ext uri="{FF2B5EF4-FFF2-40B4-BE49-F238E27FC236}">
                <a16:creationId xmlns:a16="http://schemas.microsoft.com/office/drawing/2014/main" id="{72787197-A791-4A85-A62D-778889BB0A5C}"/>
              </a:ext>
            </a:extLst>
          </p:cNvPr>
          <p:cNvSpPr>
            <a:spLocks xmlns:a="http://schemas.openxmlformats.org/drawingml/2006/main" noGrp="1"/>
          </p:cNvSpPr>
          <p:nvPr/>
        </p:nvSpPr>
        <p:spPr>
          <a:xfrm xmlns:a="http://schemas.openxmlformats.org/drawingml/2006/main">
            <a:off x="685800" y="533400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0">
                <a:solidFill>
                  <a:srgbClr val="F5F5F7"/>
                </a:solidFill>
              </a:defRPr>
            </a:pPr>
            <a:r>
              <a:rPr sz="2025" b="0">
                <a:solidFill>
                  <a:srgbClr val="F5F5F7"/>
                </a:solidFill>
              </a:rPr>
              <a:t>Next: clean-environment reproduction · artifact audit · final publication decision</a:t>
            </a:r>
          </a:p>
        </p:txBody>
      </p:sp>
      <p:sp>
        <p:nvSpPr>
          <p:cNvPr id="8" name="">
            <a:extLst xmlns:a="http://schemas.openxmlformats.org/drawingml/2006/main">
              <a:ext uri="{FF2B5EF4-FFF2-40B4-BE49-F238E27FC236}">
                <a16:creationId xmlns:a16="http://schemas.microsoft.com/office/drawing/2014/main" id="{2A811323-DDB2-4639-9E47-0216B56F9C85}"/>
              </a:ext>
            </a:extLst>
          </p:cNvPr>
          <p:cNvSpPr>
            <a:spLocks xmlns:a="http://schemas.openxmlformats.org/drawingml/2006/main" noGrp="1"/>
          </p:cNvSpPr>
          <p:nvPr/>
        </p:nvSpPr>
        <p:spPr>
          <a:xfrm xmlns:a="http://schemas.openxmlformats.org/drawingml/2006/main">
            <a:off x="685800" y="6305550"/>
            <a:ext cx="10820400" cy="9525"/>
          </a:xfrm>
          <a:prstGeom xmlns:a="http://schemas.openxmlformats.org/drawingml/2006/main" prst="rect">
            <a:avLst/>
          </a:prstGeom>
          <a:solidFill xmlns:a="http://schemas.openxmlformats.org/drawingml/2006/main">
            <a:srgbClr val="1D1D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CF193F-EDE0-4559-B8A6-AF147ADE4C9F}"/>
              </a:ext>
            </a:extLst>
          </p:cNvPr>
          <p:cNvSpPr>
            <a:spLocks xmlns:a="http://schemas.openxmlformats.org/drawingml/2006/main" noGrp="1"/>
          </p:cNvSpPr>
          <p:nvPr/>
        </p:nvSpPr>
        <p:spPr>
          <a:xfrm xmlns:a="http://schemas.openxmlformats.org/drawingml/2006/main">
            <a:off x="685800" y="637222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5F5F7"/>
                </a:solidFill>
              </a:defRPr>
            </a:pPr>
            <a:r>
              <a:rPr sz="1275" b="0">
                <a:solidFill>
                  <a:srgbClr val="F5F5F7"/>
                </a:solidFill>
              </a:rPr>
              <a:t>Handoff: TASKS.md · docs/artifact-index.md · reports/week7_public_release_check.md</a:t>
            </a:r>
          </a:p>
        </p:txBody>
      </p:sp>
      <p:sp>
        <p:nvSpPr>
          <p:cNvPr id="10" name="">
            <a:extLst xmlns:a="http://schemas.openxmlformats.org/drawingml/2006/main">
              <a:ext uri="{FF2B5EF4-FFF2-40B4-BE49-F238E27FC236}">
                <a16:creationId xmlns:a16="http://schemas.microsoft.com/office/drawing/2014/main" id="{C289570C-6008-4A78-93BC-6E2049D5FC35}"/>
              </a:ext>
            </a:extLst>
          </p:cNvPr>
          <p:cNvSpPr>
            <a:spLocks xmlns:a="http://schemas.openxmlformats.org/drawingml/2006/main" noGrp="1"/>
          </p:cNvSpPr>
          <p:nvPr/>
        </p:nvSpPr>
        <p:spPr>
          <a:xfrm xmlns:a="http://schemas.openxmlformats.org/drawingml/2006/main">
            <a:off x="10934700" y="63722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75" b="1">
                <a:solidFill>
                  <a:srgbClr val="F5F5F7"/>
                </a:solidFill>
              </a:defRPr>
            </a:pPr>
            <a:r>
              <a:rPr sz="1275" b="1">
                <a:solidFill>
                  <a:srgbClr val="F5F5F7"/>
                </a:solidFill>
              </a:rPr>
              <a:t>12</a:t>
            </a:r>
          </a:p>
        </p:txBody>
      </p:sp>
    </p:spTree>
    <p:extLst>
      <p:ext uri="{BB962C8B-B14F-4D97-AF65-F5344CB8AC3E}">
        <p14:creationId xmlns:p14="http://schemas.microsoft.com/office/powerpoint/2010/main" val="8131202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2026-07-15T15:02:24.9230000Z</dcterms:created>
  <dcterms:modified xsi:type="dcterms:W3CDTF">2026-07-15T15:02:24.9230000Z</dcterms:modified>
</coreProperties>
</file>