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09d80ef5a84f09" /><Relationship Type="http://schemas.openxmlformats.org/officeDocument/2006/relationships/extended-properties" Target="/docProps/app.xml" Id="R848de0016ae04771" /><Relationship Type="http://schemas.openxmlformats.org/officeDocument/2006/relationships/officeDocument" Target="/ppt/presentation.xml" Id="R99008568e0d045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e75948690f4b48"/>
  </p:sldMasterIdLst>
  <p:notesMasterIdLst>
    <p:notesMasterId xmlns:r="http://schemas.openxmlformats.org/officeDocument/2006/relationships" r:id="Rb8a26d270c9b4caa"/>
  </p:notesMasterIdLst>
  <p:sldIdLst>
    <p:sldId xmlns:r="http://schemas.openxmlformats.org/officeDocument/2006/relationships" id="256" r:id="R9c3e7920145f4bfa"/>
    <p:sldId xmlns:r="http://schemas.openxmlformats.org/officeDocument/2006/relationships" id="257" r:id="R5902bafea21e4999"/>
    <p:sldId xmlns:r="http://schemas.openxmlformats.org/officeDocument/2006/relationships" id="258" r:id="Rc862ab0a89d24a74"/>
    <p:sldId xmlns:r="http://schemas.openxmlformats.org/officeDocument/2006/relationships" id="259" r:id="Rf49b851aa2e04c01"/>
    <p:sldId xmlns:r="http://schemas.openxmlformats.org/officeDocument/2006/relationships" id="260" r:id="R4c436ef1fcad4049"/>
    <p:sldId xmlns:r="http://schemas.openxmlformats.org/officeDocument/2006/relationships" id="261" r:id="Rf82c9ebea5e04cdb"/>
    <p:sldId xmlns:r="http://schemas.openxmlformats.org/officeDocument/2006/relationships" id="262" r:id="R82cf7343c2334af2"/>
    <p:sldId xmlns:r="http://schemas.openxmlformats.org/officeDocument/2006/relationships" id="263" r:id="R6b0b69e321f64e9b"/>
    <p:sldId xmlns:r="http://schemas.openxmlformats.org/officeDocument/2006/relationships" id="264" r:id="R663e0e4e83944e17"/>
    <p:sldId xmlns:r="http://schemas.openxmlformats.org/officeDocument/2006/relationships" id="265" r:id="R85bbd2939cf44082"/>
    <p:sldId xmlns:r="http://schemas.openxmlformats.org/officeDocument/2006/relationships" id="266" r:id="R19c2815c9bff4177"/>
    <p:sldId xmlns:r="http://schemas.openxmlformats.org/officeDocument/2006/relationships" id="267" r:id="R401ffdc51a6b4f84"/>
    <p:sldId xmlns:r="http://schemas.openxmlformats.org/officeDocument/2006/relationships" id="268" r:id="Rfeaeaddef47048d3"/>
    <p:sldId xmlns:r="http://schemas.openxmlformats.org/officeDocument/2006/relationships" id="269" r:id="R6c716ac70db5450d"/>
    <p:sldId xmlns:r="http://schemas.openxmlformats.org/officeDocument/2006/relationships" id="270" r:id="Rea58dfad722249e8"/>
    <p:sldId xmlns:r="http://schemas.openxmlformats.org/officeDocument/2006/relationships" id="271" r:id="Ra25c249279d24adf"/>
    <p:sldId xmlns:r="http://schemas.openxmlformats.org/officeDocument/2006/relationships" id="272" r:id="R981bce22110b4c6b"/>
    <p:sldId xmlns:r="http://schemas.openxmlformats.org/officeDocument/2006/relationships" id="273" r:id="Re350a94720fb45cf"/>
    <p:sldId xmlns:r="http://schemas.openxmlformats.org/officeDocument/2006/relationships" id="274" r:id="R3e46eeccb77c4d2d"/>
    <p:sldId xmlns:r="http://schemas.openxmlformats.org/officeDocument/2006/relationships" id="275" r:id="R5db2439822e041a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a89bd7b87b4422" /><Relationship Type="http://schemas.openxmlformats.org/officeDocument/2006/relationships/slideMaster" Target="/ppt/slideMasters/slideMaster1.xml" Id="R26e75948690f4b48" /><Relationship Type="http://schemas.openxmlformats.org/officeDocument/2006/relationships/notesMaster" Target="/ppt/notesMasters/notesMaster1.xml" Id="Rb8a26d270c9b4caa" /><Relationship Type="http://schemas.openxmlformats.org/officeDocument/2006/relationships/presProps" Target="/ppt/presProps.xml" Id="Ra8a1e388d39543a0" /><Relationship Type="http://schemas.openxmlformats.org/officeDocument/2006/relationships/tableStyles" Target="/ppt/tableStyles.xml" Id="R80dbd35caa404af3" /><Relationship Type="http://schemas.openxmlformats.org/officeDocument/2006/relationships/slide" Target="/ppt/slides/slide1.xml" Id="R9c3e7920145f4bfa" /><Relationship Type="http://schemas.openxmlformats.org/officeDocument/2006/relationships/slide" Target="/ppt/slides/slide2.xml" Id="R5902bafea21e4999" /><Relationship Type="http://schemas.openxmlformats.org/officeDocument/2006/relationships/slide" Target="/ppt/slides/slide3.xml" Id="Rc862ab0a89d24a74" /><Relationship Type="http://schemas.openxmlformats.org/officeDocument/2006/relationships/slide" Target="/ppt/slides/slide4.xml" Id="Rf49b851aa2e04c01" /><Relationship Type="http://schemas.openxmlformats.org/officeDocument/2006/relationships/slide" Target="/ppt/slides/slide5.xml" Id="R4c436ef1fcad4049" /><Relationship Type="http://schemas.openxmlformats.org/officeDocument/2006/relationships/slide" Target="/ppt/slides/slide6.xml" Id="Rf82c9ebea5e04cdb" /><Relationship Type="http://schemas.openxmlformats.org/officeDocument/2006/relationships/slide" Target="/ppt/slides/slide7.xml" Id="R82cf7343c2334af2" /><Relationship Type="http://schemas.openxmlformats.org/officeDocument/2006/relationships/slide" Target="/ppt/slides/slide8.xml" Id="R6b0b69e321f64e9b" /><Relationship Type="http://schemas.openxmlformats.org/officeDocument/2006/relationships/slide" Target="/ppt/slides/slide9.xml" Id="R663e0e4e83944e17" /><Relationship Type="http://schemas.openxmlformats.org/officeDocument/2006/relationships/slide" Target="/ppt/slides/slide10.xml" Id="R85bbd2939cf44082" /><Relationship Type="http://schemas.openxmlformats.org/officeDocument/2006/relationships/slide" Target="/ppt/slides/slide11.xml" Id="R19c2815c9bff4177" /><Relationship Type="http://schemas.openxmlformats.org/officeDocument/2006/relationships/slide" Target="/ppt/slides/slide12.xml" Id="R401ffdc51a6b4f84" /><Relationship Type="http://schemas.openxmlformats.org/officeDocument/2006/relationships/slide" Target="/ppt/slides/slide13.xml" Id="Rfeaeaddef47048d3" /><Relationship Type="http://schemas.openxmlformats.org/officeDocument/2006/relationships/slide" Target="/ppt/slides/slide14.xml" Id="R6c716ac70db5450d" /><Relationship Type="http://schemas.openxmlformats.org/officeDocument/2006/relationships/slide" Target="/ppt/slides/slide15.xml" Id="Rea58dfad722249e8" /><Relationship Type="http://schemas.openxmlformats.org/officeDocument/2006/relationships/slide" Target="/ppt/slides/slide16.xml" Id="Ra25c249279d24adf" /><Relationship Type="http://schemas.openxmlformats.org/officeDocument/2006/relationships/slide" Target="/ppt/slides/slide17.xml" Id="R981bce22110b4c6b" /><Relationship Type="http://schemas.openxmlformats.org/officeDocument/2006/relationships/slide" Target="/ppt/slides/slide18.xml" Id="Re350a94720fb45cf" /><Relationship Type="http://schemas.openxmlformats.org/officeDocument/2006/relationships/slide" Target="/ppt/slides/slide19.xml" Id="R3e46eeccb77c4d2d" /><Relationship Type="http://schemas.openxmlformats.org/officeDocument/2006/relationships/slide" Target="/ppt/slides/slide20.xml" Id="R5db2439822e041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bd13d6b5f740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b18dcef4694149" /><Relationship Type="http://schemas.openxmlformats.org/officeDocument/2006/relationships/notesMaster" Target="/ppt/notesMasters/notesMaster1.xml" Id="R959a926d51024f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effd0f1e0c48c8" /><Relationship Type="http://schemas.openxmlformats.org/officeDocument/2006/relationships/notesMaster" Target="/ppt/notesMasters/notesMaster1.xml" Id="R616df65495ba4f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9a33e64c664a92" /><Relationship Type="http://schemas.openxmlformats.org/officeDocument/2006/relationships/notesMaster" Target="/ppt/notesMasters/notesMaster1.xml" Id="R54c2e6b0b87b42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eecef7a1014527" /><Relationship Type="http://schemas.openxmlformats.org/officeDocument/2006/relationships/notesMaster" Target="/ppt/notesMasters/notesMaster1.xml" Id="R6943e13e512f4f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2f6a449d6c44e2" /><Relationship Type="http://schemas.openxmlformats.org/officeDocument/2006/relationships/notesMaster" Target="/ppt/notesMasters/notesMaster1.xml" Id="R86804ae8ba134e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31788fb9f5404c" /><Relationship Type="http://schemas.openxmlformats.org/officeDocument/2006/relationships/notesMaster" Target="/ppt/notesMasters/notesMaster1.xml" Id="Rd0cf5604171b46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07bef41dea147db" /><Relationship Type="http://schemas.openxmlformats.org/officeDocument/2006/relationships/notesMaster" Target="/ppt/notesMasters/notesMaster1.xml" Id="Raf39ed1084b446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9226bba20841b8" /><Relationship Type="http://schemas.openxmlformats.org/officeDocument/2006/relationships/notesMaster" Target="/ppt/notesMasters/notesMaster1.xml" Id="Rd2de5a9f786645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04b8f6565b84407" /><Relationship Type="http://schemas.openxmlformats.org/officeDocument/2006/relationships/notesMaster" Target="/ppt/notesMasters/notesMaster1.xml" Id="R93d7a7dc4b7247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881d9470c684db2" /><Relationship Type="http://schemas.openxmlformats.org/officeDocument/2006/relationships/notesMaster" Target="/ppt/notesMasters/notesMaster1.xml" Id="R1396408849814a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498348a02b44d0" /><Relationship Type="http://schemas.openxmlformats.org/officeDocument/2006/relationships/notesMaster" Target="/ppt/notesMasters/notesMaster1.xml" Id="R8384907abe2948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371a228e6f419d" /><Relationship Type="http://schemas.openxmlformats.org/officeDocument/2006/relationships/notesMaster" Target="/ppt/notesMasters/notesMaster1.xml" Id="R5ca316a13d2547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d88577244a46e5" /><Relationship Type="http://schemas.openxmlformats.org/officeDocument/2006/relationships/notesMaster" Target="/ppt/notesMasters/notesMaster1.xml" Id="R5ca76762f0034e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8325a306d845b2" /><Relationship Type="http://schemas.openxmlformats.org/officeDocument/2006/relationships/notesMaster" Target="/ppt/notesMasters/notesMaster1.xml" Id="R75190f7f14f44bc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9cb95098fc4279" /><Relationship Type="http://schemas.openxmlformats.org/officeDocument/2006/relationships/notesMaster" Target="/ppt/notesMasters/notesMaster1.xml" Id="R55ca3e54d6e3408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537337c558e4c15" /><Relationship Type="http://schemas.openxmlformats.org/officeDocument/2006/relationships/notesMaster" Target="/ppt/notesMasters/notesMaster1.xml" Id="R1ace478a97654f8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46ca6c2bf141fa" /><Relationship Type="http://schemas.openxmlformats.org/officeDocument/2006/relationships/notesMaster" Target="/ppt/notesMasters/notesMaster1.xml" Id="Rc2d63fe58a8040d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511699a3ec470f" /><Relationship Type="http://schemas.openxmlformats.org/officeDocument/2006/relationships/notesMaster" Target="/ppt/notesMasters/notesMaster1.xml" Id="R89668e5acc6d49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ab4004979854fae" /><Relationship Type="http://schemas.openxmlformats.org/officeDocument/2006/relationships/notesMaster" Target="/ppt/notesMasters/notesMaster1.xml" Id="Rd885f500b1684ba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f44f558524c4380" /><Relationship Type="http://schemas.openxmlformats.org/officeDocument/2006/relationships/notesMaster" Target="/ppt/notesMasters/notesMaster1.xml" Id="Rbedf302db5a74f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今天汇报的重点不是再展示一个高准确率数字，而是说明 PlantDiseaseAI 如何把数据审计、统一实验、错误分析、解释、演示与复现组织成可核查的研究系统。证据：docs/week7_evidence_map.md。转场：无配对动效，点击进入研究问题。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我的研究问题是：当受控数据集上的数字接近饱和时，怎样判断结果是否仍然可信？判断标准不只包括 Accuracy，还包括数据边界、Macro F1、负结果、逐样本错误、置信度、解释限制、工程条件与安全行为。证据：reports/week4_stage_report.md。转场：无配对动效，下一页先界定任务范围。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主线任务是 PlantVillage 的 38 类闭集图像分类。统一标签映射让训练、评估、推理与 Demo 使用同一语义，但受控背景、闭集类别和数据来源也同时限定了结论。证据：reports/data_card.md。转场：scope-risk 第一个画面；38 类环形标签在下一页收拢为 227 这个风险数字。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数据审计发现 official split 的 train/test 之间有 227 个重叠 leaf_id；图片路径本身不重叠，但叶片实体没有完全隔离。因此所有 official split 结果都必须与这一限制同时出现，不能写成严格无泄漏泛化。证据：reports/data_audit.md。转场：scope-risk 第二个画面；完成 38 类范围到实体重叠风险的展开。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项目把研究拆成五个相互约束的环节：数据定义实验边界，统一训练支持公平比较，评估保存机器可读结果，解释与错误分析检查失败模式，服务层复用同一 checkpoint 与预处理。证据：docs/week7_evidence_map.md。转场：无配对动效，下一页进入统一 Benchmark。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2 在同一协议下比较 MobileNetV2、ResNet18、ResNet50、EfficientNet-B0 与 EfficientNetV2-S。统一 split、训练预算和指标入口，使差异主要来自架构，而不是脚本漂移。证据：reports/week2_benchmark_progress.md。转场：models 第一个画面；五个候选在下一页分离为精度与效率两条决策线。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ResNet50 是精度候选，official split 上 Accuracy 0.9830、Macro F1 0.9743。MobileNetV2 是轻量候选：2.27M 参数、0.31G FLOPs、记录的 MPS batch-32 吞吐 644.3 img/s，且该吞吐不含预处理。证据：reports/week2_benchmark_progress.md、outputs/plantvillage/benchmarks/mobilenet_v2_seed42.json。转场：models 第二个画面；完成模型家族到双目标决策的分离。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3 的 00 baseline 复刻 Week 2 ResNet50，Test Accuracy 0.9830、Macro F1 0.9743，最佳验证 epoch 也一致。先冻结基线，才能判断后续改变是否真的来自目标因素。证据：reports/week3_ablation_results.md。转场：ablation 第一帧；基线锚点将在后两页沿同一坐标系移动。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单变量消融中，Cosine Scheduler 是最强因素：只改变学习率调度，Test Accuracy 达到 0.9935，Macro F1 达到 0.9898。Focal Loss、EMA、RandAugment 和 Random Erasing 等负结果也被保留。证据：reports/week3_ablation_results.md。转场：ablation 第二帧；余弦曲线与指标继续收敛到组合候选。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Label Smoothing 0.1 加 Cosine Scheduler 的组合候选，在 seed 42、official split 上达到 Accuracy 0.9953、Macro F1 0.9941。这个结果只来自单 seed，并且必须与 227 个重叠 leaf_id 同页呈现；它不是实体隔离或田间泛化证据。证据：reports/week3_final_model_decision.md。转场：ablation 第三帧；完成从冻结基线、最强单变量到最终候选的收敛。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冻结候选在 10,709 个测试样本中记录 50 个错误。总体错误率很低，但每一个错误都有样本路径、真实标签、预测标签与置信度，便于追踪高置信错误和系统性混淆。证据：reports/week4_error_analysis.md。转场：errors 第一帧；50 这个总数在下一页展开为主要混淆对。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混淆集中在视觉相似类别，包括玉米灰斑与北方叶枯、马铃薯或番茄晚疫病，以及番茄早疫病与靶斑病。这里区分观察与解释：混淆表证明错误共现，不单独证明因果机制。证据：reports/week4_error_analysis.md。转场：errors 第二帧；完成从错误总数到类别结构的展开。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4 的 top-label calibration 给出 ECE 0.0965、MCE 0.3348、Brier 0.0140。它检查最高预测概率与实际正确率是否一致，但不是完整多类别校准。证据：reports/week4_calibration.md。转场：explainability 第一帧；可靠性图在下一页缩为证据侧栏，让位给 Grad-CAM。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ResNet50 的目标层从 bottleneck 内部 layer4.2.conv3 修正为 residual block 输出 layer4.2；固定样本 test_index=9750 的热点由叶外背景回到叶片主体。目标层修正证据：reports/week4_stage_report.md、reports/week4_frozen_samples.md。最终审阅只支持空间相关性结论；最终非因果审阅证据：reports/week4_attention_review.md。热力图不能证明病斑导致了模型结论。转场：explainability 第二帧；完成校准证据到相关性可视化边界的转换。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React Demo 复用冻结 checkpoint、标签映射和预处理，输出 Top-5 与 Grad-CAM。用户图片 SHA-256 为 0364ff44229c70666216343057f9ae77d82438a7f842b30af1ffabb786061a7e；它是 out-of-domain 田间样例且 no verified ground truth。代表性本地 MPS 请求返回 Cercospora leaf spot Gray leaf spot、0.870144；这只是 prediction，不是真值或田间准确率证据。界面始终显示教育用途、PlantVillage 域与非专业诊断边界。证据：reports/week8_react_demo_qa.md。转场：demo 第一帧；完整界面在下一页拆分为运行设备、容器和延迟条件。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本地证据使用 MPS；Apple container 构建 linux/arm64 CPU 镜像并通过 Streamlit health probe，当前状态是 Apple container：passed。历史 Week 5 的 129.8 ms 只是容器内一个固定合成输入的单次总耗时，不能当作通用 benchmark。证据：reports/week8_reproducibility.md、reports/week5_demo_engineering.md。转场：demo 第二帧；完成界面 hero 到工程条件证据的拆解。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分类主线完成后，项目才用 Apple Silicon 上的 Qwen3-VL 4-bit 运行小样本 smoke。React 可选面板连接 mlx-community/Qwen3-VL-4B-Instruct-4bit；浏览器审计时默认缓存无权重、ready=false，仅验证 UI unavailable state，browser/API no automatic download。输入只有 5 张图、15 个问题，用来比较 prompt 约束与安全行为，不是完整 VQA 评估。证据：reports/week6_vlm_experiment.md、reports/week8_react_demo_qa.md。转场：vlm 第一帧；探索支线在下一页放大为整体与 condition 两个结果。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choice 与 few-shot choice 的严格匹配都是 11/15，但 condition 只有 1/5。封闭选择减少自由生成漂移和风险词，却没有解决细粒度病害识别；few-shot 也不是微调。证据：reports/week6_vlm_prompt_compare.md。转场：vlm 第二帧；完成探索模型到能力边界的放大。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8 把复现拆为 clean、local evidence 与 Apple container 三条通道。干净环境完整测试记录为 226 passed，Ruff、ty、claims、synthetic smoke、package build 与 CLI help 均通过；当前 Apple container：passed。manifest 保存逻辑路径、哈希和状态，claim ledger 约束数字必须携带边界。证据：reports/week8_reproducibility.md、reports/release/week8_rc1_manifest.json。转场：无配对动效，下一页收束为可执行的后续研究。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下一阶段优先解决证据缺口：建立 leaf_id 实体隔离 split，运行多个随机种子，采集或引入合法的真实田间数据，并完成 VQA 与注意区域人工审计。LoRA/QLoRA 只有在资源、协议和固定测试集都明确后才考虑。证据：docs/release/week8_release_checklist.md。转场：无配对动效，以研究边界和下一步结束答辩。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5db98980644a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5aad5dd82874f04" /><Relationship Type="http://schemas.openxmlformats.org/officeDocument/2006/relationships/slideLayout" Target="/ppt/slideLayouts/slideLayout1.xml" Id="Rd05fee14a3e548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5fee14a3e548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4688a6a664af8" /><Relationship Type="http://schemas.openxmlformats.org/officeDocument/2006/relationships/notesSlide" Target="/ppt/notesSlides/notesSlide1.xml" Id="Ra6bc91b8ccef42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ac23df029414c" /><Relationship Type="http://schemas.openxmlformats.org/officeDocument/2006/relationships/notesSlide" Target="/ppt/notesSlides/notesSlide2.xml" Id="Rb1927dd8637644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5400a0f6a04d09" /><Relationship Type="http://schemas.openxmlformats.org/officeDocument/2006/relationships/image" Target="/ppt/media/image.png" Id="R3161fa294ae847d3" /><Relationship Type="http://schemas.openxmlformats.org/officeDocument/2006/relationships/notesSlide" Target="/ppt/notesSlides/notesSlide3.xml" Id="Rf0f0caf435b247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56747525c4440" /><Relationship Type="http://schemas.openxmlformats.org/officeDocument/2006/relationships/notesSlide" Target="/ppt/notesSlides/notesSlide4.xml" Id="Rb9fa4d109b3d4e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9ccb96f0b45b6" /><Relationship Type="http://schemas.openxmlformats.org/officeDocument/2006/relationships/notesSlide" Target="/ppt/notesSlides/notesSlide5.xml" Id="Rc45b010b077346e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49b862bbc14130" /><Relationship Type="http://schemas.openxmlformats.org/officeDocument/2006/relationships/notesSlide" Target="/ppt/notesSlides/notesSlide6.xml" Id="R4b46bf874cc944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094c13d0c45d2" /><Relationship Type="http://schemas.openxmlformats.org/officeDocument/2006/relationships/notesSlide" Target="/ppt/notesSlides/notesSlide7.xml" Id="R5b81b79f077540e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81c43699954863" /><Relationship Type="http://schemas.openxmlformats.org/officeDocument/2006/relationships/notesSlide" Target="/ppt/notesSlides/notesSlide8.xml" Id="R511e24be164546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573ea07644a05" /><Relationship Type="http://schemas.openxmlformats.org/officeDocument/2006/relationships/notesSlide" Target="/ppt/notesSlides/notesSlide9.xml" Id="R0adbddc85d7544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11bab48bb84fe3" /><Relationship Type="http://schemas.openxmlformats.org/officeDocument/2006/relationships/notesSlide" Target="/ppt/notesSlides/notesSlide10.xml" Id="R0c63cd3b5f0d49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bb21342fb4734" /><Relationship Type="http://schemas.openxmlformats.org/officeDocument/2006/relationships/notesSlide" Target="/ppt/notesSlides/notesSlide11.xml" Id="Rf7e9db9634914b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d365d372e84dec" /><Relationship Type="http://schemas.openxmlformats.org/officeDocument/2006/relationships/image" Target="/ppt/media/image2.png" Id="Rf4db821ac68c4b07" /><Relationship Type="http://schemas.openxmlformats.org/officeDocument/2006/relationships/image" Target="/ppt/media/image3.png" Id="Rd8953ae2466b462c" /><Relationship Type="http://schemas.openxmlformats.org/officeDocument/2006/relationships/image" Target="/ppt/media/image4.png" Id="Rbf9db1e05abb45a5" /><Relationship Type="http://schemas.openxmlformats.org/officeDocument/2006/relationships/notesSlide" Target="/ppt/notesSlides/notesSlide12.xml" Id="R6053bfc2ef0a458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e17cd29cb44c0" /><Relationship Type="http://schemas.openxmlformats.org/officeDocument/2006/relationships/image" Target="/ppt/media/image5.png" Id="R9e3a04beabed4f78" /><Relationship Type="http://schemas.openxmlformats.org/officeDocument/2006/relationships/notesSlide" Target="/ppt/notesSlides/notesSlide13.xml" Id="R2d253ee1c9c44c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165cfd77e4938" /><Relationship Type="http://schemas.openxmlformats.org/officeDocument/2006/relationships/image" Target="/ppt/media/image6.png" Id="R55fad5ef803e41ed" /><Relationship Type="http://schemas.openxmlformats.org/officeDocument/2006/relationships/image" Target="/ppt/media/image7.png" Id="R320e7a086aa74060" /><Relationship Type="http://schemas.openxmlformats.org/officeDocument/2006/relationships/notesSlide" Target="/ppt/notesSlides/notesSlide14.xml" Id="Rfa38dba2520f4e9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81db502774f0d" /><Relationship Type="http://schemas.openxmlformats.org/officeDocument/2006/relationships/image" Target="/ppt/media/image.jpeg" Id="R7eaeb2c474f74250" /><Relationship Type="http://schemas.openxmlformats.org/officeDocument/2006/relationships/notesSlide" Target="/ppt/notesSlides/notesSlide15.xml" Id="R76fe03ae4f3043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10e9570714189" /><Relationship Type="http://schemas.openxmlformats.org/officeDocument/2006/relationships/image" Target="/ppt/media/image2.jpeg" Id="R09ddf4f03ef14924" /><Relationship Type="http://schemas.openxmlformats.org/officeDocument/2006/relationships/notesSlide" Target="/ppt/notesSlides/notesSlide16.xml" Id="R0a20345319cc435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792ee52a64c3a" /><Relationship Type="http://schemas.openxmlformats.org/officeDocument/2006/relationships/notesSlide" Target="/ppt/notesSlides/notesSlide17.xml" Id="R38622d6b150f44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bb6009d9c418d" /><Relationship Type="http://schemas.openxmlformats.org/officeDocument/2006/relationships/notesSlide" Target="/ppt/notesSlides/notesSlide18.xml" Id="R70102f3e603f453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d2e994402488b" /><Relationship Type="http://schemas.openxmlformats.org/officeDocument/2006/relationships/notesSlide" Target="/ppt/notesSlides/notesSlide19.xml" Id="R47d86d5d151549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2bf6c61b64c46" /><Relationship Type="http://schemas.openxmlformats.org/officeDocument/2006/relationships/notesSlide" Target="/ppt/notesSlides/notesSlide20.xml" Id="R2df48ada33fe44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ackground">
            <a:extLst xmlns:a="http://schemas.openxmlformats.org/drawingml/2006/main">
              <a:ext uri="{FF2B5EF4-FFF2-40B4-BE49-F238E27FC236}">
                <a16:creationId xmlns:a16="http://schemas.microsoft.com/office/drawing/2014/main" id="{8911D4C6-7EBD-4DDC-B05A-14FB32C6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" name="hero-kicker">
            <a:extLst xmlns:a="http://schemas.openxmlformats.org/drawingml/2006/main">
              <a:ext uri="{FF2B5EF4-FFF2-40B4-BE49-F238E27FC236}">
                <a16:creationId xmlns:a16="http://schemas.microsoft.com/office/drawing/2014/main" id="{A8DE2ECB-1021-442E-AF85-BA3C75DC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52550"/>
            <a:ext cx="1219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WEEK 8 · RESEARCH DEFENSE</a:t>
            </a:r>
          </a:p>
        </p:txBody>
      </p:sp>
      <p:sp>
        <p:nvSpPr>
          <p:cNvPr id="3" name="hero-title">
            <a:extLst xmlns:a="http://schemas.openxmlformats.org/drawingml/2006/main">
              <a:ext uri="{FF2B5EF4-FFF2-40B4-BE49-F238E27FC236}">
                <a16:creationId xmlns:a16="http://schemas.microsoft.com/office/drawing/2014/main" id="{C0897309-532C-4B7D-B611-A6A26A3C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62200"/>
            <a:ext cx="12192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4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D69F0553-2B3B-4387-8826-0EE7DF3F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33750"/>
            <a:ext cx="1219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t>从高分模型到可审计研究系统</a:t>
            </a:r>
          </a:p>
        </p:txBody>
      </p:sp>
      <p:sp>
        <p:nvSpPr>
          <p:cNvPr id="5" name="hero-evidence-line">
            <a:extLst xmlns:a="http://schemas.openxmlformats.org/drawingml/2006/main">
              <a:ext uri="{FF2B5EF4-FFF2-40B4-BE49-F238E27FC236}">
                <a16:creationId xmlns:a16="http://schemas.microsoft.com/office/drawing/2014/main" id="{0096293D-AF1E-42E3-91E5-ADCF217C8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229100"/>
            <a:ext cx="2514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997FF"/>
            </a:solidFill>
            <a:prstDash val="solid"/>
          </a:ln>
        </p:spPr>
      </p:sp>
      <p:sp>
        <p:nvSpPr>
          <p:cNvPr id="6" name="hero-author">
            <a:extLst xmlns:a="http://schemas.openxmlformats.org/drawingml/2006/main">
              <a:ext uri="{FF2B5EF4-FFF2-40B4-BE49-F238E27FC236}">
                <a16:creationId xmlns:a16="http://schemas.microsoft.com/office/drawing/2014/main" id="{558DC381-0254-4CBD-9A22-7ED537BC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62525"/>
            <a:ext cx="1219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Panjoel · 2026</a:t>
            </a:r>
          </a:p>
        </p:txBody>
      </p:sp>
    </p:spTree>
    <p:extLst>
      <p:ext uri="{BB962C8B-B14F-4D97-AF65-F5344CB8AC3E}">
        <p14:creationId xmlns:p14="http://schemas.microsoft.com/office/powerpoint/2010/main" val="159489651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ckground">
            <a:extLst xmlns:a="http://schemas.openxmlformats.org/drawingml/2006/main">
              <a:ext uri="{FF2B5EF4-FFF2-40B4-BE49-F238E27FC236}">
                <a16:creationId xmlns:a16="http://schemas.microsoft.com/office/drawing/2014/main" id="{B34AE39F-0B14-459A-8CFD-6F8D5129D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question-prefix">
            <a:extLst xmlns:a="http://schemas.openxmlformats.org/drawingml/2006/main">
              <a:ext uri="{FF2B5EF4-FFF2-40B4-BE49-F238E27FC236}">
                <a16:creationId xmlns:a16="http://schemas.microsoft.com/office/drawing/2014/main" id="{5D5D8009-BDF7-47C0-A971-5A6C2C44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6299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9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高准确率，等于</a:t>
            </a:r>
          </a:p>
        </p:txBody>
      </p:sp>
      <p:sp>
        <p:nvSpPr>
          <p:cNvPr id="3" name="question-trust">
            <a:extLst xmlns:a="http://schemas.openxmlformats.org/drawingml/2006/main">
              <a:ext uri="{FF2B5EF4-FFF2-40B4-BE49-F238E27FC236}">
                <a16:creationId xmlns:a16="http://schemas.microsoft.com/office/drawing/2014/main" id="{47504B4D-3AD1-4395-86C1-19E14EAB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223837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t>可信</a:t>
            </a:r>
          </a:p>
        </p:txBody>
      </p:sp>
      <p:sp>
        <p:nvSpPr>
          <p:cNvPr id="4" name="question-diagnosis">
            <a:extLst xmlns:a="http://schemas.openxmlformats.org/drawingml/2006/main">
              <a:ext uri="{FF2B5EF4-FFF2-40B4-BE49-F238E27FC236}">
                <a16:creationId xmlns:a16="http://schemas.microsoft.com/office/drawing/2014/main" id="{B7D7F73F-AA2A-4CB0-B896-6CE77AC0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19375"/>
            <a:ext cx="3381375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58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诊断吗？</a:t>
            </a:r>
          </a:p>
        </p:txBody>
      </p:sp>
      <p:sp>
        <p:nvSpPr>
          <p:cNvPr id="5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FF0DB8C7-7810-4476-BB8C-3EB5620D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24350"/>
            <a:ext cx="8534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Accuracy 只是起点；边界、错误、置信度与复现共同决定可信度。</a:t>
            </a:r>
          </a:p>
        </p:txBody>
      </p:sp>
      <p:sp>
        <p:nvSpPr>
          <p:cNvPr id="6" name="question-underline">
            <a:extLst xmlns:a="http://schemas.openxmlformats.org/drawingml/2006/main">
              <a:ext uri="{FF2B5EF4-FFF2-40B4-BE49-F238E27FC236}">
                <a16:creationId xmlns:a16="http://schemas.microsoft.com/office/drawing/2014/main" id="{E1943ACE-AB1E-4122-8BF3-91D65035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790950"/>
            <a:ext cx="22098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9F0A"/>
            </a:solidFill>
            <a:prstDash val="solid"/>
          </a:ln>
        </p:spPr>
      </p:sp>
      <p:sp>
        <p:nvSpPr>
          <p:cNvPr id="7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C3B95C8F-136D-4951-ABC2-AB86E6F0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8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33810B96-78ED-4003-BFC5-E9FF7C96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544171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ackground">
            <a:extLst xmlns:a="http://schemas.openxmlformats.org/drawingml/2006/main">
              <a:ext uri="{FF2B5EF4-FFF2-40B4-BE49-F238E27FC236}">
                <a16:creationId xmlns:a16="http://schemas.microsoft.com/office/drawing/2014/main" id="{BC39A3BA-24FA-4109-AA50-3F086A03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261E858B-7E35-4D91-B80F-AFA37E8D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TASK SCOPE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6CE673-B298-482C-BF89-19E4320B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38 类受控图像分类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92FD13FE-7311-4731-B52E-5F651CD8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PlantVillage 定义了任务，也限制了结论</a:t>
            </a:r>
          </a:p>
        </p:txBody>
      </p:sp>
      <p:sp>
        <p:nvSpPr>
          <p:cNvPr id="5" name="!!scope-hero-frame">
            <a:extLst xmlns:a="http://schemas.openxmlformats.org/drawingml/2006/main">
              <a:ext uri="{FF2B5EF4-FFF2-40B4-BE49-F238E27FC236}">
                <a16:creationId xmlns:a16="http://schemas.microsoft.com/office/drawing/2014/main" id="{6D7044AA-6AAD-4725-B775-6FC0D873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3619500" cy="3619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pic>
        <p:nvPicPr>
          <p:cNvPr id="32" name="!!scope-her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1fa294ae847d3"/>
          <a:stretch xmlns:a="http://schemas.openxmlformats.org/drawingml/2006/main"/>
        </p:blipFill>
        <p:spPr>
          <a:xfrm xmlns:a="http://schemas.openxmlformats.org/drawingml/2006/main">
            <a:off x="4857750" y="2976563"/>
            <a:ext cx="2476500" cy="1857375"/>
          </a:xfrm>
          <a:prstGeom xmlns:a="http://schemas.openxmlformats.org/drawingml/2006/main" prst="roundRect">
            <a:avLst>
              <a:gd name="adj" fmla="val 50000"/>
            </a:avLst>
          </a:prstGeom>
        </p:spPr>
      </p:pic>
      <p:sp>
        <p:nvSpPr>
          <p:cNvPr id="7" name="!!scope-main">
            <a:extLst xmlns:a="http://schemas.openxmlformats.org/drawingml/2006/main">
              <a:ext uri="{FF2B5EF4-FFF2-40B4-BE49-F238E27FC236}">
                <a16:creationId xmlns:a16="http://schemas.microsoft.com/office/drawing/2014/main" id="{82343D40-16D3-429F-9443-76A97595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24200"/>
            <a:ext cx="3048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80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38</a:t>
            </a:r>
          </a:p>
        </p:txBody>
      </p:sp>
      <p:sp>
        <p:nvSpPr>
          <p:cNvPr id="8" name="scope-unit">
            <a:extLst xmlns:a="http://schemas.openxmlformats.org/drawingml/2006/main">
              <a:ext uri="{FF2B5EF4-FFF2-40B4-BE49-F238E27FC236}">
                <a16:creationId xmlns:a16="http://schemas.microsoft.com/office/drawing/2014/main" id="{45E121BA-1821-46C8-AEBE-F4FD5705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48150"/>
            <a:ext cx="2247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6868B"/>
                </a:solidFill>
                <a:latin typeface="SF Pro Display"/>
                <a:ea typeface="SF Pro Display"/>
                <a:cs typeface="SF Pro Display"/>
              </a:defRPr>
            </a:pPr>
            <a:r>
              <a:t>closed-set classes</a:t>
            </a:r>
          </a:p>
        </p:txBody>
      </p:sp>
      <p:sp>
        <p:nvSpPr>
          <p:cNvPr id="9" name="scope-chip-0">
            <a:extLst xmlns:a="http://schemas.openxmlformats.org/drawingml/2006/main">
              <a:ext uri="{FF2B5EF4-FFF2-40B4-BE49-F238E27FC236}">
                <a16:creationId xmlns:a16="http://schemas.microsoft.com/office/drawing/2014/main" id="{FDBDC320-F8BE-4AEC-9E40-F9E19822E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Apple</a:t>
            </a:r>
          </a:p>
        </p:txBody>
      </p:sp>
      <p:sp>
        <p:nvSpPr>
          <p:cNvPr id="10" name="scope-rule-0">
            <a:extLst xmlns:a="http://schemas.openxmlformats.org/drawingml/2006/main">
              <a:ext uri="{FF2B5EF4-FFF2-40B4-BE49-F238E27FC236}">
                <a16:creationId xmlns:a16="http://schemas.microsoft.com/office/drawing/2014/main" id="{617DB20B-C381-4694-AACE-5754A298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0325"/>
            <a:ext cx="95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97FF"/>
            </a:solidFill>
            <a:prstDash val="solid"/>
          </a:ln>
        </p:spPr>
      </p:sp>
      <p:sp>
        <p:nvSpPr>
          <p:cNvPr id="11" name="scope-chip-1">
            <a:extLst xmlns:a="http://schemas.openxmlformats.org/drawingml/2006/main">
              <a:ext uri="{FF2B5EF4-FFF2-40B4-BE49-F238E27FC236}">
                <a16:creationId xmlns:a16="http://schemas.microsoft.com/office/drawing/2014/main" id="{883AEE60-8F27-49F3-80EF-0FC0C675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289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Corn</a:t>
            </a:r>
          </a:p>
        </p:txBody>
      </p:sp>
      <p:sp>
        <p:nvSpPr>
          <p:cNvPr id="12" name="scope-rule-1">
            <a:extLst xmlns:a="http://schemas.openxmlformats.org/drawingml/2006/main">
              <a:ext uri="{FF2B5EF4-FFF2-40B4-BE49-F238E27FC236}">
                <a16:creationId xmlns:a16="http://schemas.microsoft.com/office/drawing/2014/main" id="{40009E7F-1363-4B44-8761-3AE6113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62325"/>
            <a:ext cx="95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  <a:prstDash val="solid"/>
          </a:ln>
        </p:spPr>
      </p:sp>
      <p:sp>
        <p:nvSpPr>
          <p:cNvPr id="13" name="scope-chip-2">
            <a:extLst xmlns:a="http://schemas.openxmlformats.org/drawingml/2006/main">
              <a:ext uri="{FF2B5EF4-FFF2-40B4-BE49-F238E27FC236}">
                <a16:creationId xmlns:a16="http://schemas.microsoft.com/office/drawing/2014/main" id="{2D9FDD34-A54F-4B37-8C84-7966AD962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909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Tomato</a:t>
            </a:r>
          </a:p>
        </p:txBody>
      </p:sp>
      <p:sp>
        <p:nvSpPr>
          <p:cNvPr id="14" name="scope-rule-2">
            <a:extLst xmlns:a="http://schemas.openxmlformats.org/drawingml/2006/main">
              <a:ext uri="{FF2B5EF4-FFF2-40B4-BE49-F238E27FC236}">
                <a16:creationId xmlns:a16="http://schemas.microsoft.com/office/drawing/2014/main" id="{0E83BF14-07E9-46C1-BA12-8FC3F9F2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24325"/>
            <a:ext cx="95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97FF"/>
            </a:solidFill>
            <a:prstDash val="solid"/>
          </a:ln>
        </p:spPr>
      </p:sp>
      <p:sp>
        <p:nvSpPr>
          <p:cNvPr id="15" name="scope-chip-3">
            <a:extLst xmlns:a="http://schemas.openxmlformats.org/drawingml/2006/main">
              <a:ext uri="{FF2B5EF4-FFF2-40B4-BE49-F238E27FC236}">
                <a16:creationId xmlns:a16="http://schemas.microsoft.com/office/drawing/2014/main" id="{458AC8FA-F4DE-4C98-A54C-D1E2C35B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Potato</a:t>
            </a:r>
          </a:p>
        </p:txBody>
      </p:sp>
      <p:sp>
        <p:nvSpPr>
          <p:cNvPr id="16" name="scope-rule-3">
            <a:extLst xmlns:a="http://schemas.openxmlformats.org/drawingml/2006/main">
              <a:ext uri="{FF2B5EF4-FFF2-40B4-BE49-F238E27FC236}">
                <a16:creationId xmlns:a16="http://schemas.microsoft.com/office/drawing/2014/main" id="{7C49E674-54A2-4E59-90A0-5C365CB1B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86325"/>
            <a:ext cx="95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  <a:prstDash val="solid"/>
          </a:ln>
        </p:spPr>
      </p:sp>
      <p:sp>
        <p:nvSpPr>
          <p:cNvPr id="17" name="scope-chip-4">
            <a:extLst xmlns:a="http://schemas.openxmlformats.org/drawingml/2006/main">
              <a:ext uri="{FF2B5EF4-FFF2-40B4-BE49-F238E27FC236}">
                <a16:creationId xmlns:a16="http://schemas.microsoft.com/office/drawing/2014/main" id="{46EF5F1E-6198-479B-A8F9-AB553F50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669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Grape</a:t>
            </a:r>
          </a:p>
        </p:txBody>
      </p:sp>
      <p:sp>
        <p:nvSpPr>
          <p:cNvPr id="18" name="scope-rule-4">
            <a:extLst xmlns:a="http://schemas.openxmlformats.org/drawingml/2006/main">
              <a:ext uri="{FF2B5EF4-FFF2-40B4-BE49-F238E27FC236}">
                <a16:creationId xmlns:a16="http://schemas.microsoft.com/office/drawing/2014/main" id="{682A43A4-00A3-438F-AFAF-6240F6A3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00325"/>
            <a:ext cx="95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97FF"/>
            </a:solidFill>
            <a:prstDash val="solid"/>
          </a:ln>
        </p:spPr>
      </p:sp>
      <p:sp>
        <p:nvSpPr>
          <p:cNvPr id="19" name="scope-chip-5">
            <a:extLst xmlns:a="http://schemas.openxmlformats.org/drawingml/2006/main">
              <a:ext uri="{FF2B5EF4-FFF2-40B4-BE49-F238E27FC236}">
                <a16:creationId xmlns:a16="http://schemas.microsoft.com/office/drawing/2014/main" id="{F3962880-93C3-4017-8CD4-B8269F37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289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Peach</a:t>
            </a:r>
          </a:p>
        </p:txBody>
      </p:sp>
      <p:sp>
        <p:nvSpPr>
          <p:cNvPr id="20" name="scope-rule-5">
            <a:extLst xmlns:a="http://schemas.openxmlformats.org/drawingml/2006/main">
              <a:ext uri="{FF2B5EF4-FFF2-40B4-BE49-F238E27FC236}">
                <a16:creationId xmlns:a16="http://schemas.microsoft.com/office/drawing/2014/main" id="{EAD4A2AD-D547-4454-AC2B-AA4CF526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62325"/>
            <a:ext cx="95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  <a:prstDash val="solid"/>
          </a:ln>
        </p:spPr>
      </p:sp>
      <p:sp>
        <p:nvSpPr>
          <p:cNvPr id="21" name="scope-chip-6">
            <a:extLst xmlns:a="http://schemas.openxmlformats.org/drawingml/2006/main">
              <a:ext uri="{FF2B5EF4-FFF2-40B4-BE49-F238E27FC236}">
                <a16:creationId xmlns:a16="http://schemas.microsoft.com/office/drawing/2014/main" id="{9F622A76-77D6-4B02-806B-65999024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909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Pepper</a:t>
            </a:r>
          </a:p>
        </p:txBody>
      </p:sp>
      <p:sp>
        <p:nvSpPr>
          <p:cNvPr id="22" name="scope-rule-6">
            <a:extLst xmlns:a="http://schemas.openxmlformats.org/drawingml/2006/main">
              <a:ext uri="{FF2B5EF4-FFF2-40B4-BE49-F238E27FC236}">
                <a16:creationId xmlns:a16="http://schemas.microsoft.com/office/drawing/2014/main" id="{7D7346E6-C99C-416F-95B5-95B9EC12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24325"/>
            <a:ext cx="95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997FF"/>
            </a:solidFill>
            <a:prstDash val="solid"/>
          </a:ln>
        </p:spPr>
      </p:sp>
      <p:sp>
        <p:nvSpPr>
          <p:cNvPr id="23" name="scope-chip-7">
            <a:extLst xmlns:a="http://schemas.openxmlformats.org/drawingml/2006/main">
              <a:ext uri="{FF2B5EF4-FFF2-40B4-BE49-F238E27FC236}">
                <a16:creationId xmlns:a16="http://schemas.microsoft.com/office/drawing/2014/main" id="{AD774325-ECEA-4CBA-8999-28BE79565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552950"/>
            <a:ext cx="1257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Strawberry</a:t>
            </a:r>
          </a:p>
        </p:txBody>
      </p:sp>
      <p:sp>
        <p:nvSpPr>
          <p:cNvPr id="24" name="scope-rule-7">
            <a:extLst xmlns:a="http://schemas.openxmlformats.org/drawingml/2006/main">
              <a:ext uri="{FF2B5EF4-FFF2-40B4-BE49-F238E27FC236}">
                <a16:creationId xmlns:a16="http://schemas.microsoft.com/office/drawing/2014/main" id="{CB5B42C5-44F4-47B3-A854-8C623B18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886325"/>
            <a:ext cx="952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  <a:prstDash val="solid"/>
          </a:ln>
        </p:spPr>
      </p:sp>
      <p:sp>
        <p:nvSpPr>
          <p:cNvPr id="25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110AAF42-4B41-4B1F-A7EF-E1F4049D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26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28E6818E-2C72-4A26-B45A-02F58CDC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37564812"/>
      </p:ext>
    </p:extLst>
  </p:cSld>
  <p:transition advClick="1">
    <p:extLst>
      <p:ext uri="{C676402C-5697-4E1C-873F-D02D1690AC5C}">
        <p159:morph xmlns:p159="http://schemas.microsoft.com/office/powerpoint/2015/09/main" option="byObject"/>
      </p:ext>
    </p:extLst>
  </p:transition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ackground">
            <a:extLst xmlns:a="http://schemas.openxmlformats.org/drawingml/2006/main">
              <a:ext uri="{FF2B5EF4-FFF2-40B4-BE49-F238E27FC236}">
                <a16:creationId xmlns:a16="http://schemas.microsoft.com/office/drawing/2014/main" id="{0A1E94F8-3B29-40F5-9E5D-5A91A40A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" name="!!scope-title">
            <a:extLst xmlns:a="http://schemas.openxmlformats.org/drawingml/2006/main">
              <a:ext uri="{FF2B5EF4-FFF2-40B4-BE49-F238E27FC236}">
                <a16:creationId xmlns:a16="http://schemas.microsoft.com/office/drawing/2014/main" id="{825C166D-E340-4E8A-AD2B-06534F82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33450"/>
            <a:ext cx="12192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official split</a:t>
            </a:r>
          </a:p>
        </p:txBody>
      </p:sp>
      <p:sp>
        <p:nvSpPr>
          <p:cNvPr id="3" name="!!scope-main">
            <a:extLst xmlns:a="http://schemas.openxmlformats.org/drawingml/2006/main">
              <a:ext uri="{FF2B5EF4-FFF2-40B4-BE49-F238E27FC236}">
                <a16:creationId xmlns:a16="http://schemas.microsoft.com/office/drawing/2014/main" id="{E26A25B8-E63E-4C50-B0F8-72A545B8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43075"/>
            <a:ext cx="1219200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t>227</a:t>
            </a:r>
          </a:p>
        </p:txBody>
      </p:sp>
      <p:sp>
        <p:nvSpPr>
          <p:cNvPr id="4" name="overlap-label">
            <a:extLst xmlns:a="http://schemas.openxmlformats.org/drawingml/2006/main">
              <a:ext uri="{FF2B5EF4-FFF2-40B4-BE49-F238E27FC236}">
                <a16:creationId xmlns:a16="http://schemas.microsoft.com/office/drawing/2014/main" id="{E90C53C3-76D4-4BA2-AE0D-7E1AC7E3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43350"/>
            <a:ext cx="1219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9F0A"/>
                </a:solidFill>
                <a:latin typeface="PingFang SC"/>
                <a:ea typeface="PingFang SC"/>
                <a:cs typeface="PingFang SC"/>
              </a:defRPr>
            </a:pPr>
            <a:r>
              <a:t>重叠 leaf_id</a:t>
            </a:r>
          </a:p>
        </p:txBody>
      </p:sp>
      <p:sp>
        <p:nvSpPr>
          <p:cNvPr id="5" name="train-line">
            <a:extLst xmlns:a="http://schemas.openxmlformats.org/drawingml/2006/main">
              <a:ext uri="{FF2B5EF4-FFF2-40B4-BE49-F238E27FC236}">
                <a16:creationId xmlns:a16="http://schemas.microsoft.com/office/drawing/2014/main" id="{975FF4F5-453A-4C47-B78F-2BE27453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48275"/>
            <a:ext cx="3048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2997FF"/>
            </a:solidFill>
            <a:prstDash val="solid"/>
          </a:ln>
        </p:spPr>
      </p:sp>
      <p:sp>
        <p:nvSpPr>
          <p:cNvPr id="6" name="test-line">
            <a:extLst xmlns:a="http://schemas.openxmlformats.org/drawingml/2006/main">
              <a:ext uri="{FF2B5EF4-FFF2-40B4-BE49-F238E27FC236}">
                <a16:creationId xmlns:a16="http://schemas.microsoft.com/office/drawing/2014/main" id="{5C450945-6150-42F6-9D18-099F4F1E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48275"/>
            <a:ext cx="3048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9F0A"/>
            </a:solidFill>
            <a:prstDash val="solid"/>
          </a:ln>
        </p:spPr>
      </p:sp>
      <p:sp>
        <p:nvSpPr>
          <p:cNvPr id="7" name="train-label">
            <a:extLst xmlns:a="http://schemas.openxmlformats.org/drawingml/2006/main">
              <a:ext uri="{FF2B5EF4-FFF2-40B4-BE49-F238E27FC236}">
                <a16:creationId xmlns:a16="http://schemas.microsoft.com/office/drawing/2014/main" id="{947D22F1-B0DC-43FB-8ED2-07BFC32D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054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TRAIN</a:t>
            </a:r>
          </a:p>
        </p:txBody>
      </p:sp>
      <p:sp>
        <p:nvSpPr>
          <p:cNvPr id="8" name="test-label">
            <a:extLst xmlns:a="http://schemas.openxmlformats.org/drawingml/2006/main">
              <a:ext uri="{FF2B5EF4-FFF2-40B4-BE49-F238E27FC236}">
                <a16:creationId xmlns:a16="http://schemas.microsoft.com/office/drawing/2014/main" id="{27E89E5D-CA06-48B6-8139-E839BD73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05450"/>
            <a:ext cx="3048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TEST</a:t>
            </a:r>
          </a:p>
        </p:txBody>
      </p:sp>
      <p:sp>
        <p:nvSpPr>
          <p:cNvPr id="9" name="overlap-boundary">
            <a:extLst xmlns:a="http://schemas.openxmlformats.org/drawingml/2006/main">
              <a:ext uri="{FF2B5EF4-FFF2-40B4-BE49-F238E27FC236}">
                <a16:creationId xmlns:a16="http://schemas.microsoft.com/office/drawing/2014/main" id="{67109A9A-4410-490B-B5CA-CAEF656F1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29325"/>
            <a:ext cx="1219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t>不是实体隔离证据，也不是田间泛化证明</a:t>
            </a:r>
          </a:p>
        </p:txBody>
      </p:sp>
    </p:spTree>
    <p:extLst>
      <p:ext uri="{BB962C8B-B14F-4D97-AF65-F5344CB8AC3E}">
        <p14:creationId xmlns:p14="http://schemas.microsoft.com/office/powerpoint/2010/main" val="4733477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ackground">
            <a:extLst xmlns:a="http://schemas.openxmlformats.org/drawingml/2006/main">
              <a:ext uri="{FF2B5EF4-FFF2-40B4-BE49-F238E27FC236}">
                <a16:creationId xmlns:a16="http://schemas.microsoft.com/office/drawing/2014/main" id="{95CE51F0-5436-497E-A563-C7C809ED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32C44B34-C851-4C03-B947-944459F9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EVIDENCE LOOP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7FDFFEC-C967-40F6-9C91-A0812E90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证据必须形成闭环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6D5224BD-48F8-4FCE-A4C7-36F8BA06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数据、训练、评估、解释与服务</a:t>
            </a:r>
          </a:p>
        </p:txBody>
      </p:sp>
      <p:sp>
        <p:nvSpPr>
          <p:cNvPr id="5" name="loop-card-0">
            <a:extLst xmlns:a="http://schemas.openxmlformats.org/drawingml/2006/main">
              <a:ext uri="{FF2B5EF4-FFF2-40B4-BE49-F238E27FC236}">
                <a16:creationId xmlns:a16="http://schemas.microsoft.com/office/drawing/2014/main" id="{79B4AA5E-1093-41E7-9599-070FE392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333750" cy="1524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solidFill>
              <a:srgbClr val="E8F2FF"/>
            </a:solidFill>
            <a:prstDash val="solid"/>
          </a:ln>
        </p:spPr>
      </p:sp>
      <p:sp>
        <p:nvSpPr>
          <p:cNvPr id="6" name="loop-no-0">
            <a:extLst xmlns:a="http://schemas.openxmlformats.org/drawingml/2006/main">
              <a:ext uri="{FF2B5EF4-FFF2-40B4-BE49-F238E27FC236}">
                <a16:creationId xmlns:a16="http://schemas.microsoft.com/office/drawing/2014/main" id="{BEB81F9E-B541-43E9-9DF3-84DD573F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01</a:t>
            </a:r>
          </a:p>
        </p:txBody>
      </p:sp>
      <p:sp>
        <p:nvSpPr>
          <p:cNvPr id="7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3041684D-B0D1-49D6-AAC8-D8844371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28925"/>
            <a:ext cx="2876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数据</a:t>
            </a:r>
          </a:p>
        </p:txBody>
      </p:sp>
      <p:sp>
        <p:nvSpPr>
          <p:cNvPr id="8" name="loop-copy-0">
            <a:extLst xmlns:a="http://schemas.openxmlformats.org/drawingml/2006/main">
              <a:ext uri="{FF2B5EF4-FFF2-40B4-BE49-F238E27FC236}">
                <a16:creationId xmlns:a16="http://schemas.microsoft.com/office/drawing/2014/main" id="{0FE62149-6A4D-4715-A0A7-7D973F9A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24225"/>
            <a:ext cx="2876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版本、标签、split 审计</a:t>
            </a:r>
          </a:p>
        </p:txBody>
      </p:sp>
      <p:sp>
        <p:nvSpPr>
          <p:cNvPr id="9" name="loop-card-1">
            <a:extLst xmlns:a="http://schemas.openxmlformats.org/drawingml/2006/main">
              <a:ext uri="{FF2B5EF4-FFF2-40B4-BE49-F238E27FC236}">
                <a16:creationId xmlns:a16="http://schemas.microsoft.com/office/drawing/2014/main" id="{0E28387C-B7C0-4D77-BAE0-CE52634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3333750" cy="1524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F0F0F2"/>
          </a:solidFill>
          <a:ln xmlns:a="http://schemas.openxmlformats.org/drawingml/2006/main" w="0">
            <a:solidFill>
              <a:srgbClr val="F0F0F2"/>
            </a:solidFill>
            <a:prstDash val="solid"/>
          </a:ln>
        </p:spPr>
      </p:sp>
      <p:sp>
        <p:nvSpPr>
          <p:cNvPr id="10" name="loop-no-1">
            <a:extLst xmlns:a="http://schemas.openxmlformats.org/drawingml/2006/main">
              <a:ext uri="{FF2B5EF4-FFF2-40B4-BE49-F238E27FC236}">
                <a16:creationId xmlns:a16="http://schemas.microsoft.com/office/drawing/2014/main" id="{87041DE7-A059-4DAD-879F-AB263BF4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7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02</a:t>
            </a:r>
          </a:p>
        </p:txBody>
      </p:sp>
      <p:sp>
        <p:nvSpPr>
          <p:cNvPr id="11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9A9206E0-B22C-4A46-BD7C-A8F564CF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28925"/>
            <a:ext cx="2876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训练</a:t>
            </a:r>
          </a:p>
        </p:txBody>
      </p:sp>
      <p:sp>
        <p:nvSpPr>
          <p:cNvPr id="12" name="loop-copy-1">
            <a:extLst xmlns:a="http://schemas.openxmlformats.org/drawingml/2006/main">
              <a:ext uri="{FF2B5EF4-FFF2-40B4-BE49-F238E27FC236}">
                <a16:creationId xmlns:a16="http://schemas.microsoft.com/office/drawing/2014/main" id="{BD0E1073-75CE-473C-9702-FEC063DF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24225"/>
            <a:ext cx="2876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统一模型工厂与预算</a:t>
            </a:r>
          </a:p>
        </p:txBody>
      </p:sp>
      <p:sp>
        <p:nvSpPr>
          <p:cNvPr id="13" name="loop-card-2">
            <a:extLst xmlns:a="http://schemas.openxmlformats.org/drawingml/2006/main">
              <a:ext uri="{FF2B5EF4-FFF2-40B4-BE49-F238E27FC236}">
                <a16:creationId xmlns:a16="http://schemas.microsoft.com/office/drawing/2014/main" id="{9333AB1B-4CFD-4631-9FE7-5F5E25B5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3924300" cy="1524000"/>
          </a:xfrm>
          <a:prstGeom xmlns:a="http://schemas.openxmlformats.org/drawingml/2006/main" prst="roundRect">
            <a:avLst>
              <a:gd name="adj" fmla="val 16250"/>
            </a:avLst>
          </a:prstGeom>
          <a:solidFill xmlns:a="http://schemas.openxmlformats.org/drawingml/2006/main">
            <a:srgbClr val="E8F2FF"/>
          </a:solidFill>
          <a:ln xmlns:a="http://schemas.openxmlformats.org/drawingml/2006/main" w="0">
            <a:solidFill>
              <a:srgbClr val="E8F2FF"/>
            </a:solidFill>
            <a:prstDash val="solid"/>
          </a:ln>
        </p:spPr>
      </p:sp>
      <p:sp>
        <p:nvSpPr>
          <p:cNvPr id="14" name="loop-no-2">
            <a:extLst xmlns:a="http://schemas.openxmlformats.org/drawingml/2006/main">
              <a:ext uri="{FF2B5EF4-FFF2-40B4-BE49-F238E27FC236}">
                <a16:creationId xmlns:a16="http://schemas.microsoft.com/office/drawing/2014/main" id="{D6343393-8144-407D-89D8-B2A221BD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765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03</a:t>
            </a:r>
          </a:p>
        </p:txBody>
      </p:sp>
      <p:sp>
        <p:nvSpPr>
          <p:cNvPr id="15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5A4B1D5C-31C3-44A4-835A-9B10A48C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28925"/>
            <a:ext cx="3467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评估</a:t>
            </a:r>
          </a:p>
        </p:txBody>
      </p:sp>
      <p:sp>
        <p:nvSpPr>
          <p:cNvPr id="16" name="loop-copy-2">
            <a:extLst xmlns:a="http://schemas.openxmlformats.org/drawingml/2006/main">
              <a:ext uri="{FF2B5EF4-FFF2-40B4-BE49-F238E27FC236}">
                <a16:creationId xmlns:a16="http://schemas.microsoft.com/office/drawing/2014/main" id="{F17BE43C-C89B-48CA-AF29-4ED8937C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24225"/>
            <a:ext cx="3467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指标、校准、错误索引</a:t>
            </a:r>
          </a:p>
        </p:txBody>
      </p:sp>
      <p:sp>
        <p:nvSpPr>
          <p:cNvPr id="17" name="loop-card-3">
            <a:extLst xmlns:a="http://schemas.openxmlformats.org/drawingml/2006/main">
              <a:ext uri="{FF2B5EF4-FFF2-40B4-BE49-F238E27FC236}">
                <a16:creationId xmlns:a16="http://schemas.microsoft.com/office/drawing/2014/main" id="{DC9255E6-EF93-4BB8-9574-60CBB06D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105400" cy="1638300"/>
          </a:xfrm>
          <a:prstGeom xmlns:a="http://schemas.openxmlformats.org/drawingml/2006/main" prst="roundRect">
            <a:avLst>
              <a:gd name="adj" fmla="val 15116"/>
            </a:avLst>
          </a:prstGeom>
          <a:solidFill xmlns:a="http://schemas.openxmlformats.org/drawingml/2006/main">
            <a:srgbClr val="FFF4E3"/>
          </a:solidFill>
          <a:ln xmlns:a="http://schemas.openxmlformats.org/drawingml/2006/main" w="0">
            <a:solidFill>
              <a:srgbClr val="FFF4E3"/>
            </a:solidFill>
            <a:prstDash val="solid"/>
          </a:ln>
        </p:spPr>
      </p:sp>
      <p:sp>
        <p:nvSpPr>
          <p:cNvPr id="18" name="loop-no-3">
            <a:extLst xmlns:a="http://schemas.openxmlformats.org/drawingml/2006/main">
              <a:ext uri="{FF2B5EF4-FFF2-40B4-BE49-F238E27FC236}">
                <a16:creationId xmlns:a16="http://schemas.microsoft.com/office/drawing/2014/main" id="{95D14696-653E-4CBE-86F6-09B361323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04</a:t>
            </a:r>
          </a:p>
        </p:txBody>
      </p:sp>
      <p:sp>
        <p:nvSpPr>
          <p:cNvPr id="19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E3E39A5F-F974-4F66-AC27-9BA0FE65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62475"/>
            <a:ext cx="4648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解释</a:t>
            </a:r>
          </a:p>
        </p:txBody>
      </p:sp>
      <p:sp>
        <p:nvSpPr>
          <p:cNvPr id="20" name="loop-copy-3">
            <a:extLst xmlns:a="http://schemas.openxmlformats.org/drawingml/2006/main">
              <a:ext uri="{FF2B5EF4-FFF2-40B4-BE49-F238E27FC236}">
                <a16:creationId xmlns:a16="http://schemas.microsoft.com/office/drawing/2014/main" id="{E12EC2C9-C974-4669-A527-F55D2117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57775"/>
            <a:ext cx="4648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Grad-CAM 与非因果边界</a:t>
            </a:r>
          </a:p>
        </p:txBody>
      </p:sp>
      <p:sp>
        <p:nvSpPr>
          <p:cNvPr id="21" name="loop-card-4">
            <a:extLst xmlns:a="http://schemas.openxmlformats.org/drawingml/2006/main">
              <a:ext uri="{FF2B5EF4-FFF2-40B4-BE49-F238E27FC236}">
                <a16:creationId xmlns:a16="http://schemas.microsoft.com/office/drawing/2014/main" id="{14C566D9-BC4A-4B11-A3F7-1EA5E757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5676900" cy="1638300"/>
          </a:xfrm>
          <a:prstGeom xmlns:a="http://schemas.openxmlformats.org/drawingml/2006/main" prst="roundRect">
            <a:avLst>
              <a:gd name="adj" fmla="val 15116"/>
            </a:avLst>
          </a:prstGeom>
          <a:solidFill xmlns:a="http://schemas.openxmlformats.org/drawingml/2006/main">
            <a:srgbClr val="F0F0F2"/>
          </a:solidFill>
          <a:ln xmlns:a="http://schemas.openxmlformats.org/drawingml/2006/main" w="0">
            <a:solidFill>
              <a:srgbClr val="F0F0F2"/>
            </a:solidFill>
            <a:prstDash val="solid"/>
          </a:ln>
        </p:spPr>
      </p:sp>
      <p:sp>
        <p:nvSpPr>
          <p:cNvPr id="22" name="loop-no-4">
            <a:extLst xmlns:a="http://schemas.openxmlformats.org/drawingml/2006/main">
              <a:ext uri="{FF2B5EF4-FFF2-40B4-BE49-F238E27FC236}">
                <a16:creationId xmlns:a16="http://schemas.microsoft.com/office/drawing/2014/main" id="{8EAE94D4-F260-417F-9837-06CFA584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05</a:t>
            </a:r>
          </a:p>
        </p:txBody>
      </p:sp>
      <p:sp>
        <p:nvSpPr>
          <p:cNvPr id="23" name="loop-title-4">
            <a:extLst xmlns:a="http://schemas.openxmlformats.org/drawingml/2006/main">
              <a:ext uri="{FF2B5EF4-FFF2-40B4-BE49-F238E27FC236}">
                <a16:creationId xmlns:a16="http://schemas.microsoft.com/office/drawing/2014/main" id="{33E743AD-7DC4-4C4B-A895-B6AC14CF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62475"/>
            <a:ext cx="52197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服务</a:t>
            </a:r>
          </a:p>
        </p:txBody>
      </p:sp>
      <p:sp>
        <p:nvSpPr>
          <p:cNvPr id="24" name="loop-copy-4">
            <a:extLst xmlns:a="http://schemas.openxmlformats.org/drawingml/2006/main">
              <a:ext uri="{FF2B5EF4-FFF2-40B4-BE49-F238E27FC236}">
                <a16:creationId xmlns:a16="http://schemas.microsoft.com/office/drawing/2014/main" id="{9D9E4E2B-C996-48F1-9168-1FD5609B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057775"/>
            <a:ext cx="5219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Demo、MPS、容器条件</a:t>
            </a:r>
          </a:p>
        </p:txBody>
      </p:sp>
      <p:sp>
        <p:nvSpPr>
          <p:cNvPr id="25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71D1CB08-15EE-4EB6-AB31-1B016B3D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26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BD9346D8-246B-4162-A0E3-A1F936EE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205780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ackground">
            <a:extLst xmlns:a="http://schemas.openxmlformats.org/drawingml/2006/main">
              <a:ext uri="{FF2B5EF4-FFF2-40B4-BE49-F238E27FC236}">
                <a16:creationId xmlns:a16="http://schemas.microsoft.com/office/drawing/2014/main" id="{8DDFD62F-DF55-4F52-944F-2901A19E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6E3B760-FFB4-4E90-9327-1826C5B7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UNIFIED BENCHMARK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85EDD49-94C3-4C38-A239-CC361239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五个模型，同一协议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10F48808-529E-4FFE-952E-B2434373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比较架构，而不是比较训练条件</a:t>
            </a:r>
          </a:p>
        </p:txBody>
      </p:sp>
      <p:sp>
        <p:nvSpPr>
          <p:cNvPr id="5" name="!!model-0">
            <a:extLst xmlns:a="http://schemas.openxmlformats.org/drawingml/2006/main">
              <a:ext uri="{FF2B5EF4-FFF2-40B4-BE49-F238E27FC236}">
                <a16:creationId xmlns:a16="http://schemas.microsoft.com/office/drawing/2014/main" id="{13CAD3A4-49DA-4CCB-AEB9-2AE89B86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000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MobileNetV2</a:t>
            </a:r>
          </a:p>
        </p:txBody>
      </p:sp>
      <p:sp>
        <p:nvSpPr>
          <p:cNvPr id="6" name="model-line-0">
            <a:extLst xmlns:a="http://schemas.openxmlformats.org/drawingml/2006/main">
              <a:ext uri="{FF2B5EF4-FFF2-40B4-BE49-F238E27FC236}">
                <a16:creationId xmlns:a16="http://schemas.microsoft.com/office/drawing/2014/main" id="{7BE0C8E9-1D01-49B0-8396-7BF2B851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38575"/>
            <a:ext cx="1200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7C7CC"/>
            </a:solidFill>
            <a:prstDash val="solid"/>
          </a:ln>
        </p:spPr>
      </p:sp>
      <p:sp>
        <p:nvSpPr>
          <p:cNvPr id="7" name="!!model-1">
            <a:extLst xmlns:a="http://schemas.openxmlformats.org/drawingml/2006/main">
              <a:ext uri="{FF2B5EF4-FFF2-40B4-BE49-F238E27FC236}">
                <a16:creationId xmlns:a16="http://schemas.microsoft.com/office/drawing/2014/main" id="{F606444E-FF8F-4A2B-855C-8D1A8F58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2000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ResNet18</a:t>
            </a:r>
          </a:p>
        </p:txBody>
      </p:sp>
      <p:sp>
        <p:nvSpPr>
          <p:cNvPr id="8" name="model-line-1">
            <a:extLst xmlns:a="http://schemas.openxmlformats.org/drawingml/2006/main">
              <a:ext uri="{FF2B5EF4-FFF2-40B4-BE49-F238E27FC236}">
                <a16:creationId xmlns:a16="http://schemas.microsoft.com/office/drawing/2014/main" id="{1B57B8E1-4A1D-4EAE-B29A-C15541D3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38575"/>
            <a:ext cx="1200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7C7CC"/>
            </a:solidFill>
            <a:prstDash val="solid"/>
          </a:ln>
        </p:spPr>
      </p:sp>
      <p:sp>
        <p:nvSpPr>
          <p:cNvPr id="9" name="!!model-2">
            <a:extLst xmlns:a="http://schemas.openxmlformats.org/drawingml/2006/main">
              <a:ext uri="{FF2B5EF4-FFF2-40B4-BE49-F238E27FC236}">
                <a16:creationId xmlns:a16="http://schemas.microsoft.com/office/drawing/2014/main" id="{38282D75-3034-46F1-B7AE-2EFA7C165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048000"/>
            <a:ext cx="2000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ResNet50</a:t>
            </a:r>
          </a:p>
        </p:txBody>
      </p:sp>
      <p:sp>
        <p:nvSpPr>
          <p:cNvPr id="10" name="model-line-2">
            <a:extLst xmlns:a="http://schemas.openxmlformats.org/drawingml/2006/main">
              <a:ext uri="{FF2B5EF4-FFF2-40B4-BE49-F238E27FC236}">
                <a16:creationId xmlns:a16="http://schemas.microsoft.com/office/drawing/2014/main" id="{4FD63672-9DD7-464D-AD20-5B9467A9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38575"/>
            <a:ext cx="1200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997FF"/>
            </a:solidFill>
            <a:prstDash val="solid"/>
          </a:ln>
        </p:spPr>
      </p:sp>
      <p:sp>
        <p:nvSpPr>
          <p:cNvPr id="11" name="!!model-3">
            <a:extLst xmlns:a="http://schemas.openxmlformats.org/drawingml/2006/main">
              <a:ext uri="{FF2B5EF4-FFF2-40B4-BE49-F238E27FC236}">
                <a16:creationId xmlns:a16="http://schemas.microsoft.com/office/drawing/2014/main" id="{EA7764A1-099D-4813-AAB9-A2EC625C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48000"/>
            <a:ext cx="2000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EfficientNet-B0</a:t>
            </a:r>
          </a:p>
        </p:txBody>
      </p:sp>
      <p:sp>
        <p:nvSpPr>
          <p:cNvPr id="12" name="model-line-3">
            <a:extLst xmlns:a="http://schemas.openxmlformats.org/drawingml/2006/main">
              <a:ext uri="{FF2B5EF4-FFF2-40B4-BE49-F238E27FC236}">
                <a16:creationId xmlns:a16="http://schemas.microsoft.com/office/drawing/2014/main" id="{EAA2467C-1A83-4CF1-91BD-7688D30F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38575"/>
            <a:ext cx="1200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7C7CC"/>
            </a:solidFill>
            <a:prstDash val="solid"/>
          </a:ln>
        </p:spPr>
      </p:sp>
      <p:sp>
        <p:nvSpPr>
          <p:cNvPr id="13" name="!!model-4">
            <a:extLst xmlns:a="http://schemas.openxmlformats.org/drawingml/2006/main">
              <a:ext uri="{FF2B5EF4-FFF2-40B4-BE49-F238E27FC236}">
                <a16:creationId xmlns:a16="http://schemas.microsoft.com/office/drawing/2014/main" id="{A82884D4-B41E-4251-916C-32721ED6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048000"/>
            <a:ext cx="2000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EfficientNetV2-S</a:t>
            </a:r>
          </a:p>
        </p:txBody>
      </p:sp>
      <p:sp>
        <p:nvSpPr>
          <p:cNvPr id="14" name="model-line-4">
            <a:extLst xmlns:a="http://schemas.openxmlformats.org/drawingml/2006/main">
              <a:ext uri="{FF2B5EF4-FFF2-40B4-BE49-F238E27FC236}">
                <a16:creationId xmlns:a16="http://schemas.microsoft.com/office/drawing/2014/main" id="{919E5B80-805C-4534-B07A-4336BDEF5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38575"/>
            <a:ext cx="12001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C7C7CC"/>
            </a:solidFill>
            <a:prstDash val="solid"/>
          </a:ln>
        </p:spPr>
      </p:sp>
      <p:sp>
        <p:nvSpPr>
          <p:cNvPr id="15" name="model-protocol">
            <a:extLst xmlns:a="http://schemas.openxmlformats.org/drawingml/2006/main">
              <a:ext uri="{FF2B5EF4-FFF2-40B4-BE49-F238E27FC236}">
                <a16:creationId xmlns:a16="http://schemas.microsoft.com/office/drawing/2014/main" id="{3FC780FD-3F9B-41ED-BF02-97B80421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10125"/>
            <a:ext cx="1219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6868B"/>
                </a:solidFill>
                <a:latin typeface="SF Pro Display"/>
                <a:ea typeface="SF Pro Display"/>
                <a:cs typeface="SF Pro Display"/>
              </a:defRPr>
            </a:pPr>
            <a:r>
              <a:t>same split  ·  same input  ·  same budget  ·  same metrics</a:t>
            </a:r>
          </a:p>
        </p:txBody>
      </p:sp>
      <p:sp>
        <p:nvSpPr>
          <p:cNvPr id="16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3E11C83F-8402-4B97-A6B4-8953F5EF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7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96E0959D-21C6-464C-8D5A-C11AFBDE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95075305"/>
      </p:ext>
    </p:extLst>
  </p:cSld>
  <p:transition advClick="1">
    <p:extLst>
      <p:ext uri="{C676402C-5697-4E1C-873F-D02D1690AC5C}">
        <p159:morph xmlns:p159="http://schemas.microsoft.com/office/powerpoint/2015/09/main" option="byObject"/>
      </p:ext>
    </p:extLst>
  </p:transition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ackground">
            <a:extLst xmlns:a="http://schemas.openxmlformats.org/drawingml/2006/main">
              <a:ext uri="{FF2B5EF4-FFF2-40B4-BE49-F238E27FC236}">
                <a16:creationId xmlns:a16="http://schemas.microsoft.com/office/drawing/2014/main" id="{71A82250-304E-4DC8-9729-03302DE5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0B807E93-36D9-4BE0-9952-CD78B4084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MODEL SELECTION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2A5DE8-AB61-4512-997A-727400B2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一个追求精度，一个追求效率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F0F8DFB5-5366-4B15-B395-CE4AD394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ResNet50 与 MobileNetV2</a:t>
            </a:r>
          </a:p>
        </p:txBody>
      </p:sp>
      <p:sp>
        <p:nvSpPr>
          <p:cNvPr id="5" name="!!model-2">
            <a:extLst xmlns:a="http://schemas.openxmlformats.org/drawingml/2006/main">
              <a:ext uri="{FF2B5EF4-FFF2-40B4-BE49-F238E27FC236}">
                <a16:creationId xmlns:a16="http://schemas.microsoft.com/office/drawing/2014/main" id="{B6A79AB1-166E-4C6B-8C45-FD48C217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ResNet50</a:t>
            </a:r>
          </a:p>
        </p:txBody>
      </p:sp>
      <p:sp>
        <p:nvSpPr>
          <p:cNvPr id="6" name="accuracy-value">
            <a:extLst xmlns:a="http://schemas.openxmlformats.org/drawingml/2006/main">
              <a:ext uri="{FF2B5EF4-FFF2-40B4-BE49-F238E27FC236}">
                <a16:creationId xmlns:a16="http://schemas.microsoft.com/office/drawing/2014/main" id="{60174748-14C3-4D0B-886D-82E2BA0E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4572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0.9830</a:t>
            </a:r>
          </a:p>
        </p:txBody>
      </p:sp>
      <p:sp>
        <p:nvSpPr>
          <p:cNvPr id="7" name="accuracy-label">
            <a:extLst xmlns:a="http://schemas.openxmlformats.org/drawingml/2006/main">
              <a:ext uri="{FF2B5EF4-FFF2-40B4-BE49-F238E27FC236}">
                <a16:creationId xmlns:a16="http://schemas.microsoft.com/office/drawing/2014/main" id="{F4C3B972-72EB-4B02-8542-99C06F4D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6868B"/>
                </a:solidFill>
                <a:latin typeface="SF Pro Display"/>
                <a:ea typeface="SF Pro Display"/>
                <a:cs typeface="SF Pro Display"/>
              </a:defRPr>
            </a:pPr>
            <a:r>
              <a:t>Accuracy · Macro F1 0.9743</a:t>
            </a:r>
          </a:p>
        </p:txBody>
      </p:sp>
      <p:sp>
        <p:nvSpPr>
          <p:cNvPr id="8" name="trade-divider">
            <a:extLst xmlns:a="http://schemas.openxmlformats.org/drawingml/2006/main">
              <a:ext uri="{FF2B5EF4-FFF2-40B4-BE49-F238E27FC236}">
                <a16:creationId xmlns:a16="http://schemas.microsoft.com/office/drawing/2014/main" id="{33E41F9F-AD3E-4B94-9540-18FB210F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38400"/>
            <a:ext cx="953" cy="2762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D2D7"/>
            </a:solidFill>
            <a:prstDash val="solid"/>
          </a:ln>
        </p:spPr>
      </p:sp>
      <p:sp>
        <p:nvSpPr>
          <p:cNvPr id="9" name="!!model-0">
            <a:extLst xmlns:a="http://schemas.openxmlformats.org/drawingml/2006/main">
              <a:ext uri="{FF2B5EF4-FFF2-40B4-BE49-F238E27FC236}">
                <a16:creationId xmlns:a16="http://schemas.microsoft.com/office/drawing/2014/main" id="{E40D171C-88DB-455E-9F36-39490FBC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47950"/>
            <a:ext cx="4572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MobileNetV2</a:t>
            </a:r>
          </a:p>
        </p:txBody>
      </p:sp>
      <p:sp>
        <p:nvSpPr>
          <p:cNvPr id="10" name="throughput-value">
            <a:extLst xmlns:a="http://schemas.openxmlformats.org/drawingml/2006/main">
              <a:ext uri="{FF2B5EF4-FFF2-40B4-BE49-F238E27FC236}">
                <a16:creationId xmlns:a16="http://schemas.microsoft.com/office/drawing/2014/main" id="{9C27EDCA-1642-4731-93F4-6E37CFBC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95650"/>
            <a:ext cx="4572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644.3</a:t>
            </a:r>
          </a:p>
        </p:txBody>
      </p:sp>
      <p:sp>
        <p:nvSpPr>
          <p:cNvPr id="11" name="throughput-label">
            <a:extLst xmlns:a="http://schemas.openxmlformats.org/drawingml/2006/main">
              <a:ext uri="{FF2B5EF4-FFF2-40B4-BE49-F238E27FC236}">
                <a16:creationId xmlns:a16="http://schemas.microsoft.com/office/drawing/2014/main" id="{7C9F51FE-1469-4642-A051-53D99482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48150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6868B"/>
                </a:solidFill>
                <a:latin typeface="SF Pro Display"/>
                <a:ea typeface="SF Pro Display"/>
                <a:cs typeface="SF Pro Display"/>
              </a:defRPr>
            </a:pPr>
            <a:r>
              <a:t>img/s · MPS · batch 32 · excludes preprocessing</a:t>
            </a:r>
          </a:p>
        </p:txBody>
      </p:sp>
      <p:sp>
        <p:nvSpPr>
          <p:cNvPr id="12" name="mobile-foot">
            <a:extLst xmlns:a="http://schemas.openxmlformats.org/drawingml/2006/main">
              <a:ext uri="{FF2B5EF4-FFF2-40B4-BE49-F238E27FC236}">
                <a16:creationId xmlns:a16="http://schemas.microsoft.com/office/drawing/2014/main" id="{B0D676C4-5933-49F1-A718-4C2C35B6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053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2.27M params  ·  0.31G FLOPs</a:t>
            </a:r>
          </a:p>
        </p:txBody>
      </p:sp>
      <p:sp>
        <p:nvSpPr>
          <p:cNvPr id="13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7D343C5C-6FD7-4F2A-90D0-44CEE268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4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26E7B67C-9787-440E-8D72-17FDCE70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73981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45986A4-36E3-464A-B8CA-625FDA39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" name="ablation-kicker">
            <a:extLst xmlns:a="http://schemas.openxmlformats.org/drawingml/2006/main">
              <a:ext uri="{FF2B5EF4-FFF2-40B4-BE49-F238E27FC236}">
                <a16:creationId xmlns:a16="http://schemas.microsoft.com/office/drawing/2014/main" id="{DBCDB091-E257-4BCB-8FA9-7244044D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CONTROLLED ABLATION</a:t>
            </a:r>
          </a:p>
        </p:txBody>
      </p:sp>
      <p:sp>
        <p:nvSpPr>
          <p:cNvPr id="3" name="!!ablation-title">
            <a:extLst xmlns:a="http://schemas.openxmlformats.org/drawingml/2006/main">
              <a:ext uri="{FF2B5EF4-FFF2-40B4-BE49-F238E27FC236}">
                <a16:creationId xmlns:a16="http://schemas.microsoft.com/office/drawing/2014/main" id="{E26249BE-4F6F-4B52-B4D8-32254726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6191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先冻结基线</a:t>
            </a:r>
          </a:p>
        </p:txBody>
      </p:sp>
      <p:sp>
        <p:nvSpPr>
          <p:cNvPr id="4" name="!!ablation-axis">
            <a:extLst xmlns:a="http://schemas.openxmlformats.org/drawingml/2006/main">
              <a:ext uri="{FF2B5EF4-FFF2-40B4-BE49-F238E27FC236}">
                <a16:creationId xmlns:a16="http://schemas.microsoft.com/office/drawing/2014/main" id="{5CD75CC7-4FFA-4BCE-8119-F50D90C8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9563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A3A3C"/>
            </a:solidFill>
            <a:prstDash val="solid"/>
          </a:ln>
        </p:spPr>
      </p:sp>
      <p:sp>
        <p:nvSpPr>
          <p:cNvPr id="5" name="!!ablation-trace">
            <a:extLst xmlns:a="http://schemas.openxmlformats.org/drawingml/2006/main">
              <a:ext uri="{FF2B5EF4-FFF2-40B4-BE49-F238E27FC236}">
                <a16:creationId xmlns:a16="http://schemas.microsoft.com/office/drawing/2014/main" id="{D41FBCED-9C2B-4061-AB7E-874CE6D3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81525"/>
            <a:ext cx="7429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2997FF"/>
            </a:solidFill>
            <a:prstDash val="solid"/>
          </a:ln>
        </p:spPr>
      </p:sp>
      <p:sp>
        <p:nvSpPr>
          <p:cNvPr id="6" name="!!ablation-main">
            <a:extLst xmlns:a="http://schemas.openxmlformats.org/drawingml/2006/main">
              <a:ext uri="{FF2B5EF4-FFF2-40B4-BE49-F238E27FC236}">
                <a16:creationId xmlns:a16="http://schemas.microsoft.com/office/drawing/2014/main" id="{4290333F-541E-4C04-A24F-FA49BE9F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05050"/>
            <a:ext cx="4286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90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t>0.9830</a:t>
            </a:r>
          </a:p>
        </p:txBody>
      </p:sp>
      <p:sp>
        <p:nvSpPr>
          <p:cNvPr id="7" name="ablation-secondary">
            <a:extLst xmlns:a="http://schemas.openxmlformats.org/drawingml/2006/main">
              <a:ext uri="{FF2B5EF4-FFF2-40B4-BE49-F238E27FC236}">
                <a16:creationId xmlns:a16="http://schemas.microsoft.com/office/drawing/2014/main" id="{59A89FD0-0AC5-4279-AAE8-B06181E1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524250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Macro F1  0.9743</a:t>
            </a:r>
          </a:p>
        </p:txBody>
      </p:sp>
      <p:sp>
        <p:nvSpPr>
          <p:cNvPr id="8" name="ablation-caption">
            <a:extLst xmlns:a="http://schemas.openxmlformats.org/drawingml/2006/main">
              <a:ext uri="{FF2B5EF4-FFF2-40B4-BE49-F238E27FC236}">
                <a16:creationId xmlns:a16="http://schemas.microsoft.com/office/drawing/2014/main" id="{1F5F26A2-DD31-4D94-9590-E11996DE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ResNet50 · seed 42 · official split</a:t>
            </a:r>
          </a:p>
        </p:txBody>
      </p:sp>
      <p:sp>
        <p:nvSpPr>
          <p:cNvPr id="9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9B1AE72B-AF7A-4223-8E3B-CCF6AA31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0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90E56F85-A675-4F96-986B-91EF11F9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5149803"/>
      </p:ext>
    </p:extLst>
  </p:cSld>
  <p:transition advClick="1">
    <p:extLst>
      <p:ext uri="{C676402C-5697-4E1C-873F-D02D1690AC5C}">
        <p159:morph xmlns:p159="http://schemas.microsoft.com/office/powerpoint/2015/09/main" option="byObject"/>
      </p:ext>
    </p:extLst>
  </p:transition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ackground">
            <a:extLst xmlns:a="http://schemas.openxmlformats.org/drawingml/2006/main">
              <a:ext uri="{FF2B5EF4-FFF2-40B4-BE49-F238E27FC236}">
                <a16:creationId xmlns:a16="http://schemas.microsoft.com/office/drawing/2014/main" id="{738E143E-02D7-476B-A4C7-7134C62C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" name="ablation-kicker">
            <a:extLst xmlns:a="http://schemas.openxmlformats.org/drawingml/2006/main">
              <a:ext uri="{FF2B5EF4-FFF2-40B4-BE49-F238E27FC236}">
                <a16:creationId xmlns:a16="http://schemas.microsoft.com/office/drawing/2014/main" id="{BF79BA55-19A3-4221-8C4F-924F5404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SINGLE-FACTOR RESULT</a:t>
            </a:r>
          </a:p>
        </p:txBody>
      </p:sp>
      <p:sp>
        <p:nvSpPr>
          <p:cNvPr id="3" name="!!ablation-title">
            <a:extLst xmlns:a="http://schemas.openxmlformats.org/drawingml/2006/main">
              <a:ext uri="{FF2B5EF4-FFF2-40B4-BE49-F238E27FC236}">
                <a16:creationId xmlns:a16="http://schemas.microsoft.com/office/drawing/2014/main" id="{AD17E728-CCA8-459A-9DE0-22D861FC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4875"/>
            <a:ext cx="90487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最强单变量改变优化路径</a:t>
            </a:r>
          </a:p>
        </p:txBody>
      </p:sp>
      <p:sp>
        <p:nvSpPr>
          <p:cNvPr id="4" name="!!ablation-axis">
            <a:extLst xmlns:a="http://schemas.openxmlformats.org/drawingml/2006/main">
              <a:ext uri="{FF2B5EF4-FFF2-40B4-BE49-F238E27FC236}">
                <a16:creationId xmlns:a16="http://schemas.microsoft.com/office/drawing/2014/main" id="{3CB43D60-78F6-4C5A-8CD8-A8594405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53000"/>
            <a:ext cx="95631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A3A3C"/>
            </a:solidFill>
            <a:prstDash val="solid"/>
          </a:ln>
        </p:spPr>
      </p:sp>
      <p:sp>
        <p:nvSpPr>
          <p:cNvPr id="5" name="!!ablation-trace">
            <a:extLst xmlns:a="http://schemas.openxmlformats.org/drawingml/2006/main">
              <a:ext uri="{FF2B5EF4-FFF2-40B4-BE49-F238E27FC236}">
                <a16:creationId xmlns:a16="http://schemas.microsoft.com/office/drawing/2014/main" id="{CC8503D9-E68A-492E-AF16-B93B7B1FC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514850"/>
            <a:ext cx="1762125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5AC8FA"/>
            </a:solidFill>
            <a:prstDash val="solid"/>
          </a:ln>
        </p:spPr>
      </p:sp>
      <p:sp>
        <p:nvSpPr>
          <p:cNvPr id="6" name="ablation-curve-2">
            <a:extLst xmlns:a="http://schemas.openxmlformats.org/drawingml/2006/main">
              <a:ext uri="{FF2B5EF4-FFF2-40B4-BE49-F238E27FC236}">
                <a16:creationId xmlns:a16="http://schemas.microsoft.com/office/drawing/2014/main" id="{B2493781-B84B-4C4A-B92F-208F85B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895725"/>
            <a:ext cx="16192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5AC8FA"/>
            </a:solidFill>
            <a:prstDash val="solid"/>
          </a:ln>
        </p:spPr>
      </p:sp>
      <p:sp>
        <p:nvSpPr>
          <p:cNvPr id="7" name="ablation-curve-3">
            <a:extLst xmlns:a="http://schemas.openxmlformats.org/drawingml/2006/main">
              <a:ext uri="{FF2B5EF4-FFF2-40B4-BE49-F238E27FC236}">
                <a16:creationId xmlns:a16="http://schemas.microsoft.com/office/drawing/2014/main" id="{4A9F33D8-6B2B-4613-B5FA-B259FC3E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28925"/>
            <a:ext cx="1381125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997FF"/>
            </a:solidFill>
            <a:prstDash val="solid"/>
          </a:ln>
        </p:spPr>
      </p:sp>
      <p:sp>
        <p:nvSpPr>
          <p:cNvPr id="8" name="ablation-curve-4">
            <a:extLst xmlns:a="http://schemas.openxmlformats.org/drawingml/2006/main">
              <a:ext uri="{FF2B5EF4-FFF2-40B4-BE49-F238E27FC236}">
                <a16:creationId xmlns:a16="http://schemas.microsoft.com/office/drawing/2014/main" id="{1A60B688-40DD-477C-8C93-AC4EF59D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19050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997FF"/>
            </a:solidFill>
            <a:prstDash val="solid"/>
          </a:ln>
        </p:spPr>
      </p:sp>
      <p:sp>
        <p:nvSpPr>
          <p:cNvPr id="9" name="!!ablation-main">
            <a:extLst xmlns:a="http://schemas.openxmlformats.org/drawingml/2006/main">
              <a:ext uri="{FF2B5EF4-FFF2-40B4-BE49-F238E27FC236}">
                <a16:creationId xmlns:a16="http://schemas.microsoft.com/office/drawing/2014/main" id="{A4C9A882-D7E1-4E4F-A42E-34263343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209800"/>
            <a:ext cx="4286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690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t>0.9898</a:t>
            </a:r>
          </a:p>
        </p:txBody>
      </p:sp>
      <p:sp>
        <p:nvSpPr>
          <p:cNvPr id="10" name="ablation-secondary">
            <a:extLst xmlns:a="http://schemas.openxmlformats.org/drawingml/2006/main">
              <a:ext uri="{FF2B5EF4-FFF2-40B4-BE49-F238E27FC236}">
                <a16:creationId xmlns:a16="http://schemas.microsoft.com/office/drawing/2014/main" id="{AB4FEF26-99BE-489C-A215-5541FDA0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76625"/>
            <a:ext cx="428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Cosine Scheduler · Macro F1</a:t>
            </a:r>
          </a:p>
        </p:txBody>
      </p:sp>
      <p:sp>
        <p:nvSpPr>
          <p:cNvPr id="11" name="ablation-caption">
            <a:extLst xmlns:a="http://schemas.openxmlformats.org/drawingml/2006/main">
              <a:ext uri="{FF2B5EF4-FFF2-40B4-BE49-F238E27FC236}">
                <a16:creationId xmlns:a16="http://schemas.microsoft.com/office/drawing/2014/main" id="{442171E2-7E9B-417B-B23E-A22390DC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571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单变量改变：learning-rate schedule</a:t>
            </a:r>
          </a:p>
        </p:txBody>
      </p:sp>
      <p:sp>
        <p:nvSpPr>
          <p:cNvPr id="12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C928F6BB-5495-4C0A-B512-F2755EB8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3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495CC982-37C0-4C70-A6F4-1A0C40F0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59690247"/>
      </p:ext>
    </p:extLst>
  </p:cSld>
  <p:transition advClick="1">
    <p:extLst>
      <p:ext uri="{C676402C-5697-4E1C-873F-D02D1690AC5C}">
        <p159:morph xmlns:p159="http://schemas.microsoft.com/office/powerpoint/2015/09/main" option="byObject"/>
      </p:ext>
    </p:extLst>
  </p:transition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ackground">
            <a:extLst xmlns:a="http://schemas.openxmlformats.org/drawingml/2006/main">
              <a:ext uri="{FF2B5EF4-FFF2-40B4-BE49-F238E27FC236}">
                <a16:creationId xmlns:a16="http://schemas.microsoft.com/office/drawing/2014/main" id="{CC8F25DF-E6D4-4DFC-A9AD-3C7124E8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" name="ablation-kicker">
            <a:extLst xmlns:a="http://schemas.openxmlformats.org/drawingml/2006/main">
              <a:ext uri="{FF2B5EF4-FFF2-40B4-BE49-F238E27FC236}">
                <a16:creationId xmlns:a16="http://schemas.microsoft.com/office/drawing/2014/main" id="{343F9584-5AB1-4A2A-8155-BC8B8BE9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429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SELECTED CANDIDATE</a:t>
            </a:r>
          </a:p>
        </p:txBody>
      </p:sp>
      <p:sp>
        <p:nvSpPr>
          <p:cNvPr id="3" name="!!ablation-main">
            <a:extLst xmlns:a="http://schemas.openxmlformats.org/drawingml/2006/main">
              <a:ext uri="{FF2B5EF4-FFF2-40B4-BE49-F238E27FC236}">
                <a16:creationId xmlns:a16="http://schemas.microsoft.com/office/drawing/2014/main" id="{57516140-2EC5-4353-A4E5-4E312625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81200"/>
            <a:ext cx="121920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t>0.9953 / 0.9941</a:t>
            </a:r>
          </a:p>
        </p:txBody>
      </p:sp>
      <p:sp>
        <p:nvSpPr>
          <p:cNvPr id="4" name="final-label">
            <a:extLst xmlns:a="http://schemas.openxmlformats.org/drawingml/2006/main">
              <a:ext uri="{FF2B5EF4-FFF2-40B4-BE49-F238E27FC236}">
                <a16:creationId xmlns:a16="http://schemas.microsoft.com/office/drawing/2014/main" id="{511A2758-AA98-4F4B-AFC7-DA861ADA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552825"/>
            <a:ext cx="1219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Accuracy  /  Macro F1</a:t>
            </a:r>
          </a:p>
        </p:txBody>
      </p:sp>
      <p:sp>
        <p:nvSpPr>
          <p:cNvPr id="5" name="final-rule">
            <a:extLst xmlns:a="http://schemas.openxmlformats.org/drawingml/2006/main">
              <a:ext uri="{FF2B5EF4-FFF2-40B4-BE49-F238E27FC236}">
                <a16:creationId xmlns:a16="http://schemas.microsoft.com/office/drawing/2014/main" id="{34E1AEEA-B1CA-4A05-9E45-3BAAA76C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52925"/>
            <a:ext cx="29337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997FF"/>
            </a:solidFill>
            <a:prstDash val="solid"/>
          </a:ln>
        </p:spPr>
      </p:sp>
      <p:sp>
        <p:nvSpPr>
          <p:cNvPr id="6" name="final-boundary">
            <a:extLst xmlns:a="http://schemas.openxmlformats.org/drawingml/2006/main">
              <a:ext uri="{FF2B5EF4-FFF2-40B4-BE49-F238E27FC236}">
                <a16:creationId xmlns:a16="http://schemas.microsoft.com/office/drawing/2014/main" id="{0A103F38-0466-4BB9-A715-F51AF6A0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0600"/>
            <a:ext cx="1219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9F0A"/>
                </a:solidFill>
                <a:latin typeface="SF Pro Display"/>
                <a:ea typeface="SF Pro Display"/>
                <a:cs typeface="SF Pro Display"/>
              </a:defRPr>
            </a:pPr>
            <a:r>
              <a:t>seed 42 · official split · 227 overlap</a:t>
            </a:r>
          </a:p>
        </p:txBody>
      </p:sp>
      <p:sp>
        <p:nvSpPr>
          <p:cNvPr id="7" name="final-note">
            <a:extLst xmlns:a="http://schemas.openxmlformats.org/drawingml/2006/main">
              <a:ext uri="{FF2B5EF4-FFF2-40B4-BE49-F238E27FC236}">
                <a16:creationId xmlns:a16="http://schemas.microsoft.com/office/drawing/2014/main" id="{0A19733D-90C1-44B0-BB7A-4CE4C20A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0200"/>
            <a:ext cx="1219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t>单 seed 结果；不是实体隔离或田间泛化证据</a:t>
            </a:r>
          </a:p>
        </p:txBody>
      </p:sp>
      <p:sp>
        <p:nvSpPr>
          <p:cNvPr id="8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C8917967-F75D-4E32-826E-AA05B22A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9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273B0323-3934-4AB8-A7E6-ECE931B7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792236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ckground">
            <a:extLst xmlns:a="http://schemas.openxmlformats.org/drawingml/2006/main">
              <a:ext uri="{FF2B5EF4-FFF2-40B4-BE49-F238E27FC236}">
                <a16:creationId xmlns:a16="http://schemas.microsoft.com/office/drawing/2014/main" id="{74D04694-075D-45A1-B50F-C19E6258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error-kicker">
            <a:extLst xmlns:a="http://schemas.openxmlformats.org/drawingml/2006/main">
              <a:ext uri="{FF2B5EF4-FFF2-40B4-BE49-F238E27FC236}">
                <a16:creationId xmlns:a16="http://schemas.microsoft.com/office/drawing/2014/main" id="{05C81165-9FF7-44D0-8DC9-FFBCD06A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334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SAMPLE-LEVEL AUDIT</a:t>
            </a:r>
          </a:p>
        </p:txBody>
      </p:sp>
      <p:sp>
        <p:nvSpPr>
          <p:cNvPr id="3" name="!!errors-main">
            <a:extLst xmlns:a="http://schemas.openxmlformats.org/drawingml/2006/main">
              <a:ext uri="{FF2B5EF4-FFF2-40B4-BE49-F238E27FC236}">
                <a16:creationId xmlns:a16="http://schemas.microsoft.com/office/drawing/2014/main" id="{8126A2AD-3636-4A62-A46F-E54F7699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62175"/>
            <a:ext cx="457200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0" b="1">
                <a:solidFill>
                  <a:srgbClr val="FF9F0A"/>
                </a:solidFill>
                <a:latin typeface="SF Pro Display"/>
                <a:ea typeface="SF Pro Display"/>
                <a:cs typeface="SF Pro Display"/>
              </a:defRPr>
            </a:pPr>
            <a:r>
              <a:t>50</a:t>
            </a:r>
          </a:p>
        </p:txBody>
      </p:sp>
      <p:sp>
        <p:nvSpPr>
          <p:cNvPr id="4" name="!!errors-total">
            <a:extLst xmlns:a="http://schemas.openxmlformats.org/drawingml/2006/main">
              <a:ext uri="{FF2B5EF4-FFF2-40B4-BE49-F238E27FC236}">
                <a16:creationId xmlns:a16="http://schemas.microsoft.com/office/drawing/2014/main" id="{86BC4316-C246-433A-BBA0-668E92C9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51435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/ 10709</a:t>
            </a:r>
          </a:p>
        </p:txBody>
      </p:sp>
      <p:sp>
        <p:nvSpPr>
          <p:cNvPr id="5" name="errors-copy">
            <a:extLst xmlns:a="http://schemas.openxmlformats.org/drawingml/2006/main">
              <a:ext uri="{FF2B5EF4-FFF2-40B4-BE49-F238E27FC236}">
                <a16:creationId xmlns:a16="http://schemas.microsoft.com/office/drawing/2014/main" id="{F4EE1470-964F-4C6E-8BCF-103613A8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86300"/>
            <a:ext cx="12192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高分仍需要逐样本错误审计</a:t>
            </a:r>
          </a:p>
        </p:txBody>
      </p:sp>
      <p:sp>
        <p:nvSpPr>
          <p:cNvPr id="6" name="errors-boundary">
            <a:extLst xmlns:a="http://schemas.openxmlformats.org/drawingml/2006/main">
              <a:ext uri="{FF2B5EF4-FFF2-40B4-BE49-F238E27FC236}">
                <a16:creationId xmlns:a16="http://schemas.microsoft.com/office/drawing/2014/main" id="{EFDE4B13-2E2F-4CED-AF38-78AAA5DA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91150"/>
            <a:ext cx="12192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official split 错误记录 ≠ 真实田间错误率</a:t>
            </a:r>
          </a:p>
        </p:txBody>
      </p:sp>
      <p:sp>
        <p:nvSpPr>
          <p:cNvPr id="7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EF84F11D-0901-4B6D-9F96-D0145BCF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8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F132D8B9-296C-4B68-A97E-7A671213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18932693"/>
      </p:ext>
    </p:extLst>
  </p:cSld>
  <p:transition advClick="1">
    <p:extLst>
      <p:ext uri="{C676402C-5697-4E1C-873F-D02D1690AC5C}">
        <p159:morph xmlns:p159="http://schemas.microsoft.com/office/powerpoint/2015/09/main" option="byObject"/>
      </p:ext>
    </p:extLst>
  </p:transition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ackground">
            <a:extLst xmlns:a="http://schemas.openxmlformats.org/drawingml/2006/main">
              <a:ext uri="{FF2B5EF4-FFF2-40B4-BE49-F238E27FC236}">
                <a16:creationId xmlns:a16="http://schemas.microsoft.com/office/drawing/2014/main" id="{5A269999-36E9-4D02-8E09-99075098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8307E921-2190-4A3B-B2BE-B101D2E5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ERROR STRUCTURE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B24782-6F52-477B-A5AE-859B73244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错误集中在视觉相似病害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2334541D-DD8B-4452-8ECD-C2338276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三组主要混淆对</a:t>
            </a:r>
          </a:p>
        </p:txBody>
      </p:sp>
      <p:sp>
        <p:nvSpPr>
          <p:cNvPr id="5" name="!!errors-main">
            <a:extLst xmlns:a="http://schemas.openxmlformats.org/drawingml/2006/main">
              <a:ext uri="{FF2B5EF4-FFF2-40B4-BE49-F238E27FC236}">
                <a16:creationId xmlns:a16="http://schemas.microsoft.com/office/drawing/2014/main" id="{0E50805B-98A7-4F52-8FC1-2A32C649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5240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9F0A"/>
                </a:solidFill>
                <a:latin typeface="SF Pro Display"/>
                <a:ea typeface="SF Pro Display"/>
                <a:cs typeface="SF Pro Display"/>
              </a:defRPr>
            </a:pPr>
            <a:r>
              <a:t>50</a:t>
            </a:r>
          </a:p>
        </p:txBody>
      </p:sp>
      <p:pic>
        <p:nvPicPr>
          <p:cNvPr id="20" name="confusion-img-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b821ac68c4b07"/>
          <a:srcRect xmlns:a="http://schemas.openxmlformats.org/drawingml/2006/main" l="34781" t="0" r="34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19350" y="2228850"/>
            <a:ext cx="2667000" cy="272415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pic>
        <p:nvPicPr>
          <p:cNvPr id="21" name="confusion-img-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53ae2466b462c"/>
          <a:srcRect xmlns:a="http://schemas.openxmlformats.org/drawingml/2006/main" l="34781" t="0" r="34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2228850"/>
            <a:ext cx="2667000" cy="272415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pic>
        <p:nvPicPr>
          <p:cNvPr id="22" name="confusion-img-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db1e05abb45a5"/>
          <a:srcRect xmlns:a="http://schemas.openxmlformats.org/drawingml/2006/main" l="34781" t="0" r="3478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86750" y="2228850"/>
            <a:ext cx="2667000" cy="2724150"/>
          </a:xfrm>
          <a:prstGeom xmlns:a="http://schemas.openxmlformats.org/drawingml/2006/main" prst="roundRect">
            <a:avLst>
              <a:gd name="adj" fmla="val 7143"/>
            </a:avLst>
          </a:prstGeom>
        </p:spPr>
      </p:pic>
      <p:sp>
        <p:nvSpPr>
          <p:cNvPr id="9" name="confusion-label-1">
            <a:extLst xmlns:a="http://schemas.openxmlformats.org/drawingml/2006/main">
              <a:ext uri="{FF2B5EF4-FFF2-40B4-BE49-F238E27FC236}">
                <a16:creationId xmlns:a16="http://schemas.microsoft.com/office/drawing/2014/main" id="{3D9492ED-2478-4110-AF9E-FC579A90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105400"/>
            <a:ext cx="2667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玉米灰斑 ↔ 北方叶枯</a:t>
            </a:r>
          </a:p>
        </p:txBody>
      </p:sp>
      <p:sp>
        <p:nvSpPr>
          <p:cNvPr id="10" name="confusion-label-2">
            <a:extLst xmlns:a="http://schemas.openxmlformats.org/drawingml/2006/main">
              <a:ext uri="{FF2B5EF4-FFF2-40B4-BE49-F238E27FC236}">
                <a16:creationId xmlns:a16="http://schemas.microsoft.com/office/drawing/2014/main" id="{D4E8DFF9-F1EE-4F65-858A-01A141CD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105400"/>
            <a:ext cx="2667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晚疫病 · 跨作物</a:t>
            </a:r>
          </a:p>
        </p:txBody>
      </p:sp>
      <p:sp>
        <p:nvSpPr>
          <p:cNvPr id="11" name="confusion-label-3">
            <a:extLst xmlns:a="http://schemas.openxmlformats.org/drawingml/2006/main">
              <a:ext uri="{FF2B5EF4-FFF2-40B4-BE49-F238E27FC236}">
                <a16:creationId xmlns:a16="http://schemas.microsoft.com/office/drawing/2014/main" id="{63A1EE25-32AC-48AF-B265-34BABEAC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05400"/>
            <a:ext cx="2667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早疫病 ↔ 靶斑病</a:t>
            </a:r>
          </a:p>
        </p:txBody>
      </p:sp>
      <p:sp>
        <p:nvSpPr>
          <p:cNvPr id="12" name="confusion-foot">
            <a:extLst xmlns:a="http://schemas.openxmlformats.org/drawingml/2006/main">
              <a:ext uri="{FF2B5EF4-FFF2-40B4-BE49-F238E27FC236}">
                <a16:creationId xmlns:a16="http://schemas.microsoft.com/office/drawing/2014/main" id="{54632547-463D-4D66-A2FB-F3E85D14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686425"/>
            <a:ext cx="8534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混淆共现支持审阅优先级，不单独证明病理因果</a:t>
            </a:r>
          </a:p>
        </p:txBody>
      </p:sp>
      <p:sp>
        <p:nvSpPr>
          <p:cNvPr id="13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48746878-70E3-4CA0-9C80-1A217D89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4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336A0440-CC37-4EE1-A482-0C5AFFDB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779541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background">
            <a:extLst xmlns:a="http://schemas.openxmlformats.org/drawingml/2006/main">
              <a:ext uri="{FF2B5EF4-FFF2-40B4-BE49-F238E27FC236}">
                <a16:creationId xmlns:a16="http://schemas.microsoft.com/office/drawing/2014/main" id="{3847AE17-5CD7-4E00-80E6-A39B4A13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B7417762-B7EA-4779-92D4-A427CF98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CALIBRATION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9FD66D-F35C-4ED4-9549-21B888B2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准确率不等于置信度质量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9A6B706E-1C3B-4CF2-84E3-F909A5AF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top-label calibration · 不是完整多类别校准</a:t>
            </a:r>
          </a:p>
        </p:txBody>
      </p:sp>
      <p:sp>
        <p:nvSpPr>
          <p:cNvPr id="5" name="!!explain-frame">
            <a:extLst xmlns:a="http://schemas.openxmlformats.org/drawingml/2006/main">
              <a:ext uri="{FF2B5EF4-FFF2-40B4-BE49-F238E27FC236}">
                <a16:creationId xmlns:a16="http://schemas.microsoft.com/office/drawing/2014/main" id="{14423067-0BDA-46A0-B23E-6549CB63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3714750"/>
          </a:xfrm>
          <a:prstGeom xmlns:a="http://schemas.openxmlformats.org/drawingml/2006/main" prst="roundRect">
            <a:avLst>
              <a:gd name="adj" fmla="val 71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2D7"/>
            </a:solidFill>
            <a:prstDash val="solid"/>
          </a:ln>
        </p:spPr>
      </p:sp>
      <p:pic>
        <p:nvPicPr>
          <p:cNvPr id="19" name="!!explain-visu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a04beabed4f78"/>
          <a:stretch xmlns:a="http://schemas.openxmlformats.org/drawingml/2006/main"/>
        </p:blipFill>
        <p:spPr>
          <a:xfrm xmlns:a="http://schemas.openxmlformats.org/drawingml/2006/main">
            <a:off x="1943100" y="2286000"/>
            <a:ext cx="4000500" cy="3333750"/>
          </a:xfrm>
          <a:prstGeom xmlns:a="http://schemas.openxmlformats.org/drawingml/2006/main" prst="roundRect">
            <a:avLst>
              <a:gd name="adj" fmla="val 4571"/>
            </a:avLst>
          </a:prstGeom>
        </p:spPr>
      </p:pic>
      <p:sp>
        <p:nvSpPr>
          <p:cNvPr id="7" name="cal-ece">
            <a:extLst xmlns:a="http://schemas.openxmlformats.org/drawingml/2006/main">
              <a:ext uri="{FF2B5EF4-FFF2-40B4-BE49-F238E27FC236}">
                <a16:creationId xmlns:a16="http://schemas.microsoft.com/office/drawing/2014/main" id="{0B55E850-96C9-4836-8352-E548FF9C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143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0.0965</a:t>
            </a:r>
          </a:p>
        </p:txBody>
      </p:sp>
      <p:sp>
        <p:nvSpPr>
          <p:cNvPr id="8" name="cal-ece-label">
            <a:extLst xmlns:a="http://schemas.openxmlformats.org/drawingml/2006/main">
              <a:ext uri="{FF2B5EF4-FFF2-40B4-BE49-F238E27FC236}">
                <a16:creationId xmlns:a16="http://schemas.microsoft.com/office/drawing/2014/main" id="{7248BDBB-2C19-4B14-BD8A-30CC20D5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623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6868B"/>
                </a:solidFill>
                <a:latin typeface="SF Pro Display"/>
                <a:ea typeface="SF Pro Display"/>
                <a:cs typeface="SF Pro Display"/>
              </a:defRPr>
            </a:pPr>
            <a:r>
              <a:t>ECE</a:t>
            </a:r>
          </a:p>
        </p:txBody>
      </p:sp>
      <p:sp>
        <p:nvSpPr>
          <p:cNvPr id="9" name="cal-mce">
            <a:extLst xmlns:a="http://schemas.openxmlformats.org/drawingml/2006/main">
              <a:ext uri="{FF2B5EF4-FFF2-40B4-BE49-F238E27FC236}">
                <a16:creationId xmlns:a16="http://schemas.microsoft.com/office/drawing/2014/main" id="{5A5FA89A-6096-46BF-A3BF-BAC131FB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314325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0.3348</a:t>
            </a:r>
          </a:p>
        </p:txBody>
      </p:sp>
      <p:sp>
        <p:nvSpPr>
          <p:cNvPr id="10" name="cal-mce-label">
            <a:extLst xmlns:a="http://schemas.openxmlformats.org/drawingml/2006/main">
              <a:ext uri="{FF2B5EF4-FFF2-40B4-BE49-F238E27FC236}">
                <a16:creationId xmlns:a16="http://schemas.microsoft.com/office/drawing/2014/main" id="{65BBD7DF-A5EB-47F0-95E3-E04B4DE1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81500"/>
            <a:ext cx="314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86868B"/>
                </a:solidFill>
                <a:latin typeface="SF Pro Display"/>
                <a:ea typeface="SF Pro Display"/>
                <a:cs typeface="SF Pro Display"/>
              </a:defRPr>
            </a:pPr>
            <a:r>
              <a:t>MCE</a:t>
            </a:r>
          </a:p>
        </p:txBody>
      </p:sp>
      <p:sp>
        <p:nvSpPr>
          <p:cNvPr id="11" name="cal-brier">
            <a:extLst xmlns:a="http://schemas.openxmlformats.org/drawingml/2006/main">
              <a:ext uri="{FF2B5EF4-FFF2-40B4-BE49-F238E27FC236}">
                <a16:creationId xmlns:a16="http://schemas.microsoft.com/office/drawing/2014/main" id="{A25F530A-F925-4EEE-BC65-20918EA83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00625"/>
            <a:ext cx="3143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Brier  0.0140</a:t>
            </a:r>
          </a:p>
        </p:txBody>
      </p:sp>
      <p:sp>
        <p:nvSpPr>
          <p:cNvPr id="12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8F9E7044-5896-47E6-ABED-1A4797FC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3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EC146B76-CAD8-4423-B7D9-CBCD358F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54313680"/>
      </p:ext>
    </p:extLst>
  </p:cSld>
  <p:transition advClick="1">
    <p:extLst>
      <p:ext uri="{C676402C-5697-4E1C-873F-D02D1690AC5C}">
        <p159:morph xmlns:p159="http://schemas.microsoft.com/office/powerpoint/2015/09/main" option="byObject"/>
      </p:ext>
    </p:extLst>
  </p:transition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ackground">
            <a:extLst xmlns:a="http://schemas.openxmlformats.org/drawingml/2006/main">
              <a:ext uri="{FF2B5EF4-FFF2-40B4-BE49-F238E27FC236}">
                <a16:creationId xmlns:a16="http://schemas.microsoft.com/office/drawing/2014/main" id="{880DBC89-0400-4DF8-9D2C-6DD798ED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9BA9E187-48AA-494F-B976-B84A7107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EXPLAINABILITY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A3821F8-EC22-4F1D-95AE-462D835B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解释目标层会改变观察结果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6E8B949D-ACAB-4822-9B67-5115DE00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t>Grad-CAM 是相关性，不是因果</a:t>
            </a:r>
          </a:p>
        </p:txBody>
      </p:sp>
      <p:sp>
        <p:nvSpPr>
          <p:cNvPr id="5" name="!!explain-frame">
            <a:extLst xmlns:a="http://schemas.openxmlformats.org/drawingml/2006/main">
              <a:ext uri="{FF2B5EF4-FFF2-40B4-BE49-F238E27FC236}">
                <a16:creationId xmlns:a16="http://schemas.microsoft.com/office/drawing/2014/main" id="{B8BF1B6D-C385-4BC5-BCE4-57C4E308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143750" cy="361950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2C2C2E"/>
            </a:solidFill>
            <a:prstDash val="solid"/>
          </a:ln>
        </p:spPr>
      </p:sp>
      <p:pic>
        <p:nvPicPr>
          <p:cNvPr id="20" name="!!explain-visual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ad5ef803e41ed"/>
          <a:srcRect xmlns:a="http://schemas.openxmlformats.org/drawingml/2006/main" l="31588" t="0" r="315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476500"/>
            <a:ext cx="3181350" cy="2686050"/>
          </a:xfrm>
          <a:prstGeom xmlns:a="http://schemas.openxmlformats.org/drawingml/2006/main" prst="roundRect">
            <a:avLst>
              <a:gd name="adj" fmla="val 5674"/>
            </a:avLst>
          </a:prstGeom>
        </p:spPr>
      </p:pic>
      <p:pic>
        <p:nvPicPr>
          <p:cNvPr id="21" name="explain-visual-aft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e7a086aa74060"/>
          <a:srcRect xmlns:a="http://schemas.openxmlformats.org/drawingml/2006/main" l="31588" t="0" r="315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2476500"/>
            <a:ext cx="3181350" cy="2686050"/>
          </a:xfrm>
          <a:prstGeom xmlns:a="http://schemas.openxmlformats.org/drawingml/2006/main" prst="roundRect">
            <a:avLst>
              <a:gd name="adj" fmla="val 5674"/>
            </a:avLst>
          </a:prstGeom>
        </p:spPr>
      </p:pic>
      <p:sp>
        <p:nvSpPr>
          <p:cNvPr id="8" name="gradcam-before-label">
            <a:extLst xmlns:a="http://schemas.openxmlformats.org/drawingml/2006/main">
              <a:ext uri="{FF2B5EF4-FFF2-40B4-BE49-F238E27FC236}">
                <a16:creationId xmlns:a16="http://schemas.microsoft.com/office/drawing/2014/main" id="{E84C64FC-D8C4-4543-9092-FBE8BBE0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318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layer4.2.conv3</a:t>
            </a:r>
          </a:p>
        </p:txBody>
      </p:sp>
      <p:sp>
        <p:nvSpPr>
          <p:cNvPr id="9" name="gradcam-after-label">
            <a:extLst xmlns:a="http://schemas.openxmlformats.org/drawingml/2006/main">
              <a:ext uri="{FF2B5EF4-FFF2-40B4-BE49-F238E27FC236}">
                <a16:creationId xmlns:a16="http://schemas.microsoft.com/office/drawing/2014/main" id="{0E65A947-9715-4264-8AA0-34EBC891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257800"/>
            <a:ext cx="3181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layer4.2 · residual block output</a:t>
            </a:r>
          </a:p>
        </p:txBody>
      </p:sp>
      <p:sp>
        <p:nvSpPr>
          <p:cNvPr id="10" name="gradcam-noncausal">
            <a:extLst xmlns:a="http://schemas.openxmlformats.org/drawingml/2006/main">
              <a:ext uri="{FF2B5EF4-FFF2-40B4-BE49-F238E27FC236}">
                <a16:creationId xmlns:a16="http://schemas.microsoft.com/office/drawing/2014/main" id="{81A8427E-BCE3-474F-8F46-AB4B2CFF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295275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500" b="1">
                <a:solidFill>
                  <a:srgbClr val="FF9F0A"/>
                </a:solidFill>
                <a:latin typeface="PingFang SC"/>
                <a:ea typeface="PingFang SC"/>
                <a:cs typeface="PingFang SC"/>
              </a:defRPr>
            </a:pPr>
            <a:r>
              <a:t>非因果</a:t>
            </a:r>
          </a:p>
        </p:txBody>
      </p:sp>
      <p:sp>
        <p:nvSpPr>
          <p:cNvPr id="11" name="gradcam-copy">
            <a:extLst xmlns:a="http://schemas.openxmlformats.org/drawingml/2006/main">
              <a:ext uri="{FF2B5EF4-FFF2-40B4-BE49-F238E27FC236}">
                <a16:creationId xmlns:a16="http://schemas.microsoft.com/office/drawing/2014/main" id="{7F3E9D77-B600-4982-9728-0FA4BA9C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33800"/>
            <a:ext cx="333375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t>目标层修正改变观察结果；
热力图只支持空间相关性审阅。</a:t>
            </a:r>
          </a:p>
        </p:txBody>
      </p:sp>
      <p:sp>
        <p:nvSpPr>
          <p:cNvPr id="12" name="gradcam-rule">
            <a:extLst xmlns:a="http://schemas.openxmlformats.org/drawingml/2006/main">
              <a:ext uri="{FF2B5EF4-FFF2-40B4-BE49-F238E27FC236}">
                <a16:creationId xmlns:a16="http://schemas.microsoft.com/office/drawing/2014/main" id="{0902FFA9-AAD0-482B-A414-A94498E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76825"/>
            <a:ext cx="17526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997FF"/>
            </a:solidFill>
            <a:prstDash val="solid"/>
          </a:ln>
        </p:spPr>
      </p:sp>
      <p:sp>
        <p:nvSpPr>
          <p:cNvPr id="13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21160DAF-39B7-4CF1-AD49-18C9AD1B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4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222BEB27-B85E-40AF-BC43-232F3CC2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069074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ackground">
            <a:extLst xmlns:a="http://schemas.openxmlformats.org/drawingml/2006/main">
              <a:ext uri="{FF2B5EF4-FFF2-40B4-BE49-F238E27FC236}">
                <a16:creationId xmlns:a16="http://schemas.microsoft.com/office/drawing/2014/main" id="{5AB485F5-4519-4EBE-9B63-354569A6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" name="demo-kicker">
            <a:extLst xmlns:a="http://schemas.openxmlformats.org/drawingml/2006/main">
              <a:ext uri="{FF2B5EF4-FFF2-40B4-BE49-F238E27FC236}">
                <a16:creationId xmlns:a16="http://schemas.microsoft.com/office/drawing/2014/main" id="{A0C2A091-893B-4384-8ECE-7C93AB55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RESEARCH INTERFACE</a:t>
            </a:r>
          </a:p>
        </p:txBody>
      </p:sp>
      <p:sp>
        <p:nvSpPr>
          <p:cNvPr id="3" name="!!demo-title">
            <a:extLst xmlns:a="http://schemas.openxmlformats.org/drawingml/2006/main">
              <a:ext uri="{FF2B5EF4-FFF2-40B4-BE49-F238E27FC236}">
                <a16:creationId xmlns:a16="http://schemas.microsoft.com/office/drawing/2014/main" id="{13BA6174-89AB-4732-8777-78D67220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29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React Demo 也必须可审计</a:t>
            </a:r>
          </a:p>
        </p:txBody>
      </p:sp>
      <p:sp>
        <p:nvSpPr>
          <p:cNvPr id="4" name="demo-claim">
            <a:extLst xmlns:a="http://schemas.openxmlformats.org/drawingml/2006/main">
              <a:ext uri="{FF2B5EF4-FFF2-40B4-BE49-F238E27FC236}">
                <a16:creationId xmlns:a16="http://schemas.microsoft.com/office/drawing/2014/main" id="{7118C0FF-2CB1-4AF5-A223-A0207A58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6667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t>Top-5 · Grad-CAM · 安全边界</a:t>
            </a:r>
          </a:p>
        </p:txBody>
      </p:sp>
      <p:sp>
        <p:nvSpPr>
          <p:cNvPr id="5" name="!!demo-frame">
            <a:extLst xmlns:a="http://schemas.openxmlformats.org/drawingml/2006/main">
              <a:ext uri="{FF2B5EF4-FFF2-40B4-BE49-F238E27FC236}">
                <a16:creationId xmlns:a16="http://schemas.microsoft.com/office/drawing/2014/main" id="{269662DA-0909-4AF7-99F9-A867F251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95500"/>
            <a:ext cx="8115300" cy="4267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2C2C2E"/>
            </a:solidFill>
            <a:prstDash val="solid"/>
          </a:ln>
        </p:spPr>
      </p:sp>
      <p:pic>
        <p:nvPicPr>
          <p:cNvPr id="14" name="!!demo-her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aeb2c474f74250"/>
          <a:stretch xmlns:a="http://schemas.openxmlformats.org/drawingml/2006/main"/>
        </p:blipFill>
        <p:spPr>
          <a:xfrm xmlns:a="http://schemas.openxmlformats.org/drawingml/2006/main">
            <a:off x="3038901" y="2095500"/>
            <a:ext cx="6114197" cy="4267200"/>
          </a:xfrm>
          <a:prstGeom xmlns:a="http://schemas.openxmlformats.org/drawingml/2006/main" prst="roundRect">
            <a:avLst>
              <a:gd name="adj" fmla="val 4018"/>
            </a:avLst>
          </a:prstGeom>
        </p:spPr>
      </p:pic>
      <p:sp>
        <p:nvSpPr>
          <p:cNvPr id="7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E4F17294-B102-4BCA-AE26-3762726D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8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224105B5-C4DD-4413-9197-65727805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08114727"/>
      </p:ext>
    </p:extLst>
  </p:cSld>
  <p:transition advClick="1">
    <p:extLst>
      <p:ext uri="{C676402C-5697-4E1C-873F-D02D1690AC5C}">
        <p159:morph xmlns:p159="http://schemas.microsoft.com/office/powerpoint/2015/09/main" option="byObject"/>
      </p:ext>
    </p:extLst>
  </p:transition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ackground">
            <a:extLst xmlns:a="http://schemas.openxmlformats.org/drawingml/2006/main">
              <a:ext uri="{FF2B5EF4-FFF2-40B4-BE49-F238E27FC236}">
                <a16:creationId xmlns:a16="http://schemas.microsoft.com/office/drawing/2014/main" id="{C593DBD3-5F80-4850-A931-E98CA47D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" name="demo-kicker">
            <a:extLst xmlns:a="http://schemas.openxmlformats.org/drawingml/2006/main">
              <a:ext uri="{FF2B5EF4-FFF2-40B4-BE49-F238E27FC236}">
                <a16:creationId xmlns:a16="http://schemas.microsoft.com/office/drawing/2014/main" id="{7C1E5F48-C84C-4E4A-9E44-2C577D81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ENGINEERING EVIDENCE</a:t>
            </a:r>
          </a:p>
        </p:txBody>
      </p:sp>
      <p:sp>
        <p:nvSpPr>
          <p:cNvPr id="3" name="!!demo-title">
            <a:extLst xmlns:a="http://schemas.openxmlformats.org/drawingml/2006/main">
              <a:ext uri="{FF2B5EF4-FFF2-40B4-BE49-F238E27FC236}">
                <a16:creationId xmlns:a16="http://schemas.microsoft.com/office/drawing/2014/main" id="{DC213381-C274-4894-836C-C068EA54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5725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工程证据也必须注明条件</a:t>
            </a:r>
          </a:p>
        </p:txBody>
      </p:sp>
      <p:pic>
        <p:nvPicPr>
          <p:cNvPr id="19" name="!!demo-her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df4f03ef14924"/>
          <a:stretch xmlns:a="http://schemas.openxmlformats.org/drawingml/2006/main"/>
        </p:blipFill>
        <p:spPr>
          <a:xfrm xmlns:a="http://schemas.openxmlformats.org/drawingml/2006/main">
            <a:off x="820003" y="2095500"/>
            <a:ext cx="4913194" cy="3429000"/>
          </a:xfrm>
          <a:prstGeom xmlns:a="http://schemas.openxmlformats.org/drawingml/2006/main" prst="roundRect">
            <a:avLst>
              <a:gd name="adj" fmla="val 7222"/>
            </a:avLst>
          </a:prstGeom>
        </p:spPr>
      </p:pic>
      <p:sp>
        <p:nvSpPr>
          <p:cNvPr id="5" name="serve-rule-1">
            <a:extLst xmlns:a="http://schemas.openxmlformats.org/drawingml/2006/main">
              <a:ext uri="{FF2B5EF4-FFF2-40B4-BE49-F238E27FC236}">
                <a16:creationId xmlns:a16="http://schemas.microsoft.com/office/drawing/2014/main" id="{964999E8-B5E8-4230-A676-278BE413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05050"/>
            <a:ext cx="457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2C2E"/>
            </a:solidFill>
            <a:prstDash val="solid"/>
          </a:ln>
        </p:spPr>
      </p:sp>
      <p:sp>
        <p:nvSpPr>
          <p:cNvPr id="6" name="serve-1">
            <a:extLst xmlns:a="http://schemas.openxmlformats.org/drawingml/2006/main">
              <a:ext uri="{FF2B5EF4-FFF2-40B4-BE49-F238E27FC236}">
                <a16:creationId xmlns:a16="http://schemas.microsoft.com/office/drawing/2014/main" id="{CDE5A55C-9DF5-4B54-A45F-7CF43427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1714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t>MPS</a:t>
            </a:r>
          </a:p>
        </p:txBody>
      </p:sp>
      <p:sp>
        <p:nvSpPr>
          <p:cNvPr id="7" name="serve-1-copy">
            <a:extLst xmlns:a="http://schemas.openxmlformats.org/drawingml/2006/main">
              <a:ext uri="{FF2B5EF4-FFF2-40B4-BE49-F238E27FC236}">
                <a16:creationId xmlns:a16="http://schemas.microsoft.com/office/drawing/2014/main" id="{CD8817C3-FAA6-42AF-AAAE-C26A7803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47950"/>
            <a:ext cx="238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t>本地推理设备</a:t>
            </a:r>
          </a:p>
        </p:txBody>
      </p:sp>
      <p:sp>
        <p:nvSpPr>
          <p:cNvPr id="8" name="serve-rule-2">
            <a:extLst xmlns:a="http://schemas.openxmlformats.org/drawingml/2006/main">
              <a:ext uri="{FF2B5EF4-FFF2-40B4-BE49-F238E27FC236}">
                <a16:creationId xmlns:a16="http://schemas.microsoft.com/office/drawing/2014/main" id="{227CF58F-C4C0-499C-988C-560D4874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457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2C2E"/>
            </a:solidFill>
            <a:prstDash val="solid"/>
          </a:ln>
        </p:spPr>
      </p:sp>
      <p:sp>
        <p:nvSpPr>
          <p:cNvPr id="9" name="serve-2">
            <a:extLst xmlns:a="http://schemas.openxmlformats.org/drawingml/2006/main">
              <a:ext uri="{FF2B5EF4-FFF2-40B4-BE49-F238E27FC236}">
                <a16:creationId xmlns:a16="http://schemas.microsoft.com/office/drawing/2014/main" id="{9953B81D-8169-4687-BF66-9A3ED661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25717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t>linux/arm64</a:t>
            </a:r>
          </a:p>
        </p:txBody>
      </p:sp>
      <p:sp>
        <p:nvSpPr>
          <p:cNvPr id="10" name="serve-2-copy">
            <a:extLst xmlns:a="http://schemas.openxmlformats.org/drawingml/2006/main">
              <a:ext uri="{FF2B5EF4-FFF2-40B4-BE49-F238E27FC236}">
                <a16:creationId xmlns:a16="http://schemas.microsoft.com/office/drawing/2014/main" id="{65A634CB-DC53-4A8D-A42F-40A15023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95700"/>
            <a:ext cx="2152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30D158"/>
                </a:solidFill>
                <a:latin typeface="SF Pro Display"/>
                <a:ea typeface="SF Pro Display"/>
                <a:cs typeface="SF Pro Display"/>
              </a:defRPr>
            </a:pPr>
            <a:r>
              <a:t>Apple container · passed</a:t>
            </a:r>
          </a:p>
        </p:txBody>
      </p:sp>
      <p:sp>
        <p:nvSpPr>
          <p:cNvPr id="11" name="serve-rule-3">
            <a:extLst xmlns:a="http://schemas.openxmlformats.org/drawingml/2006/main">
              <a:ext uri="{FF2B5EF4-FFF2-40B4-BE49-F238E27FC236}">
                <a16:creationId xmlns:a16="http://schemas.microsoft.com/office/drawing/2014/main" id="{A61ACA32-4726-49F3-ACE1-705683CE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00550"/>
            <a:ext cx="45720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2C2E"/>
            </a:solidFill>
            <a:prstDash val="solid"/>
          </a:ln>
        </p:spPr>
      </p:sp>
      <p:sp>
        <p:nvSpPr>
          <p:cNvPr id="12" name="serve-3">
            <a:extLst xmlns:a="http://schemas.openxmlformats.org/drawingml/2006/main">
              <a:ext uri="{FF2B5EF4-FFF2-40B4-BE49-F238E27FC236}">
                <a16:creationId xmlns:a16="http://schemas.microsoft.com/office/drawing/2014/main" id="{CBCFBAD5-EAAE-4B33-848F-F79909BC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610100"/>
            <a:ext cx="2476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t>129.8 ms</a:t>
            </a:r>
          </a:p>
        </p:txBody>
      </p:sp>
      <p:sp>
        <p:nvSpPr>
          <p:cNvPr id="13" name="serve-3-copy">
            <a:extLst xmlns:a="http://schemas.openxmlformats.org/drawingml/2006/main">
              <a:ext uri="{FF2B5EF4-FFF2-40B4-BE49-F238E27FC236}">
                <a16:creationId xmlns:a16="http://schemas.microsoft.com/office/drawing/2014/main" id="{67CA92B0-3262-436A-A28D-86B18C63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14875"/>
            <a:ext cx="2190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FF9F0A"/>
                </a:solidFill>
                <a:latin typeface="PingFang SC"/>
                <a:ea typeface="PingFang SC"/>
                <a:cs typeface="PingFang SC"/>
              </a:defRPr>
            </a:pPr>
            <a:r>
              <a:t>固定合成图 · CPU 容器 · 单次</a:t>
            </a:r>
          </a:p>
        </p:txBody>
      </p:sp>
      <p:sp>
        <p:nvSpPr>
          <p:cNvPr id="14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DCA85600-4545-455C-AB34-1CB77F10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5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8877B6B7-C09E-4741-AE4B-D9F21BD9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539139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ackground">
            <a:extLst xmlns:a="http://schemas.openxmlformats.org/drawingml/2006/main">
              <a:ext uri="{FF2B5EF4-FFF2-40B4-BE49-F238E27FC236}">
                <a16:creationId xmlns:a16="http://schemas.microsoft.com/office/drawing/2014/main" id="{D8050D6E-BCA5-461F-96D5-C6013A2E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44D74D7C-98D5-449F-918B-AF904FDA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EXPLORATORY BRANCH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968BF0-C03B-47F5-BEDB-032F3AA7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VLM 是探索分支，不是主线替代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57307B8B-396A-4801-8C2B-540A4172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Qwen3-VL smoke exploration</a:t>
            </a:r>
          </a:p>
        </p:txBody>
      </p:sp>
      <p:sp>
        <p:nvSpPr>
          <p:cNvPr id="5" name="vlm-main-line">
            <a:extLst xmlns:a="http://schemas.openxmlformats.org/drawingml/2006/main">
              <a:ext uri="{FF2B5EF4-FFF2-40B4-BE49-F238E27FC236}">
                <a16:creationId xmlns:a16="http://schemas.microsoft.com/office/drawing/2014/main" id="{31CC0D57-36B4-42C3-920C-1E1066B6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552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71E3"/>
            </a:solidFill>
            <a:prstDash val="solid"/>
          </a:ln>
        </p:spPr>
      </p:sp>
      <p:sp>
        <p:nvSpPr>
          <p:cNvPr id="6" name="vlm-main">
            <a:extLst xmlns:a="http://schemas.openxmlformats.org/drawingml/2006/main">
              <a:ext uri="{FF2B5EF4-FFF2-40B4-BE49-F238E27FC236}">
                <a16:creationId xmlns:a16="http://schemas.microsoft.com/office/drawing/2014/main" id="{B9613875-71AC-45F5-B3D0-FD0E5BDE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81300"/>
            <a:ext cx="3619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Classifier mainline</a:t>
            </a:r>
          </a:p>
        </p:txBody>
      </p:sp>
      <p:sp>
        <p:nvSpPr>
          <p:cNvPr id="7" name="!!vlm-branch">
            <a:extLst xmlns:a="http://schemas.openxmlformats.org/drawingml/2006/main">
              <a:ext uri="{FF2B5EF4-FFF2-40B4-BE49-F238E27FC236}">
                <a16:creationId xmlns:a16="http://schemas.microsoft.com/office/drawing/2014/main" id="{EDF8613E-7068-4B7B-8746-F2BF9F6C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90900"/>
            <a:ext cx="333375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FF9F0A"/>
            </a:solidFill>
            <a:prstDash val="solid"/>
          </a:ln>
        </p:spPr>
      </p:sp>
      <p:sp>
        <p:nvSpPr>
          <p:cNvPr id="8" name="!!vlm-model">
            <a:extLst xmlns:a="http://schemas.openxmlformats.org/drawingml/2006/main">
              <a:ext uri="{FF2B5EF4-FFF2-40B4-BE49-F238E27FC236}">
                <a16:creationId xmlns:a16="http://schemas.microsoft.com/office/drawing/2014/main" id="{9891120C-7C1F-42CC-8427-7B19EC918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3143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Qwen3-VL</a:t>
            </a:r>
          </a:p>
        </p:txBody>
      </p:sp>
      <p:sp>
        <p:nvSpPr>
          <p:cNvPr id="9" name="vlm-smoke">
            <a:extLst xmlns:a="http://schemas.openxmlformats.org/drawingml/2006/main">
              <a:ext uri="{FF2B5EF4-FFF2-40B4-BE49-F238E27FC236}">
                <a16:creationId xmlns:a16="http://schemas.microsoft.com/office/drawing/2014/main" id="{ED472C5D-8DB1-4F51-981E-4057A2DD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76825"/>
            <a:ext cx="31432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86868B"/>
                </a:solidFill>
                <a:latin typeface="SF Pro Display"/>
                <a:ea typeface="SF Pro Display"/>
                <a:cs typeface="SF Pro Display"/>
              </a:defRPr>
            </a:pPr>
            <a:r>
              <a:t>4-bit · Apple Silicon · smoke exploration</a:t>
            </a:r>
          </a:p>
        </p:txBody>
      </p:sp>
      <p:sp>
        <p:nvSpPr>
          <p:cNvPr id="10" name="vlm-count">
            <a:extLst xmlns:a="http://schemas.openxmlformats.org/drawingml/2006/main">
              <a:ext uri="{FF2B5EF4-FFF2-40B4-BE49-F238E27FC236}">
                <a16:creationId xmlns:a16="http://schemas.microsoft.com/office/drawing/2014/main" id="{43B850F9-A37F-4AD4-AF33-2882DF6A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3619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1E3"/>
                </a:solidFill>
                <a:latin typeface="PingFang SC"/>
                <a:ea typeface="PingFang SC"/>
                <a:cs typeface="PingFang SC"/>
              </a:defRPr>
            </a:pPr>
            <a:r>
              <a:t>5 图 · 15 问</a:t>
            </a:r>
          </a:p>
        </p:txBody>
      </p:sp>
      <p:sp>
        <p:nvSpPr>
          <p:cNvPr id="11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070743F7-F9B8-4099-9282-F4842BBB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2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77321854-E52D-436B-ABFE-392B715B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34394211"/>
      </p:ext>
    </p:extLst>
  </p:cSld>
  <p:transition advClick="1">
    <p:extLst>
      <p:ext uri="{C676402C-5697-4E1C-873F-D02D1690AC5C}">
        <p159:morph xmlns:p159="http://schemas.microsoft.com/office/powerpoint/2015/09/main" option="byObject"/>
      </p:ext>
    </p:extLst>
  </p:transition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ackground">
            <a:extLst xmlns:a="http://schemas.openxmlformats.org/drawingml/2006/main">
              <a:ext uri="{FF2B5EF4-FFF2-40B4-BE49-F238E27FC236}">
                <a16:creationId xmlns:a16="http://schemas.microsoft.com/office/drawing/2014/main" id="{24C97F68-F587-4FAD-9F15-5D462064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" name="vlm-kicker">
            <a:extLst xmlns:a="http://schemas.openxmlformats.org/drawingml/2006/main">
              <a:ext uri="{FF2B5EF4-FFF2-40B4-BE49-F238E27FC236}">
                <a16:creationId xmlns:a16="http://schemas.microsoft.com/office/drawing/2014/main" id="{3E594C35-3F1E-4A6D-BF8C-F442C1253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CAPABILITY BOUNDARY</a:t>
            </a:r>
          </a:p>
        </p:txBody>
      </p:sp>
      <p:sp>
        <p:nvSpPr>
          <p:cNvPr id="3" name="!!vlm-model">
            <a:extLst xmlns:a="http://schemas.openxmlformats.org/drawingml/2006/main">
              <a:ext uri="{FF2B5EF4-FFF2-40B4-BE49-F238E27FC236}">
                <a16:creationId xmlns:a16="http://schemas.microsoft.com/office/drawing/2014/main" id="{EEA919BE-8C32-4542-B02A-20B6DD77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81200"/>
            <a:ext cx="5143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0" b="1">
                <a:solidFill>
                  <a:srgbClr val="FFFFFF"/>
                </a:solidFill>
                <a:latin typeface="SF Pro Display"/>
                <a:ea typeface="SF Pro Display"/>
                <a:cs typeface="SF Pro Display"/>
              </a:defRPr>
            </a:pPr>
            <a:r>
              <a:t>11/15</a:t>
            </a:r>
          </a:p>
        </p:txBody>
      </p:sp>
      <p:sp>
        <p:nvSpPr>
          <p:cNvPr id="4" name="!!vlm-branch">
            <a:extLst xmlns:a="http://schemas.openxmlformats.org/drawingml/2006/main">
              <a:ext uri="{FF2B5EF4-FFF2-40B4-BE49-F238E27FC236}">
                <a16:creationId xmlns:a16="http://schemas.microsoft.com/office/drawing/2014/main" id="{D52EF970-FB46-490C-8F01-C04BF5CA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81200"/>
            <a:ext cx="5143500" cy="167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0" b="1">
                <a:solidFill>
                  <a:srgbClr val="FF9F0A"/>
                </a:solidFill>
                <a:latin typeface="SF Pro Display"/>
                <a:ea typeface="SF Pro Display"/>
                <a:cs typeface="SF Pro Display"/>
              </a:defRPr>
            </a:pPr>
            <a:r>
              <a:t>1/5</a:t>
            </a:r>
          </a:p>
        </p:txBody>
      </p:sp>
      <p:sp>
        <p:nvSpPr>
          <p:cNvPr id="5" name="vlm-left-label">
            <a:extLst xmlns:a="http://schemas.openxmlformats.org/drawingml/2006/main">
              <a:ext uri="{FF2B5EF4-FFF2-40B4-BE49-F238E27FC236}">
                <a16:creationId xmlns:a16="http://schemas.microsoft.com/office/drawing/2014/main" id="{FB7DF451-03D1-44B6-A36D-77DD6FD0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0000"/>
            <a:ext cx="5143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choice / few-shot choice</a:t>
            </a:r>
          </a:p>
        </p:txBody>
      </p:sp>
      <p:sp>
        <p:nvSpPr>
          <p:cNvPr id="6" name="vlm-right-label">
            <a:extLst xmlns:a="http://schemas.openxmlformats.org/drawingml/2006/main">
              <a:ext uri="{FF2B5EF4-FFF2-40B4-BE49-F238E27FC236}">
                <a16:creationId xmlns:a16="http://schemas.microsoft.com/office/drawing/2014/main" id="{AE77ECE1-55DD-44A4-917B-FADF9991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5143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condition</a:t>
            </a:r>
          </a:p>
        </p:txBody>
      </p:sp>
      <p:sp>
        <p:nvSpPr>
          <p:cNvPr id="7" name="vlm-mid-rule">
            <a:extLst xmlns:a="http://schemas.openxmlformats.org/drawingml/2006/main">
              <a:ext uri="{FF2B5EF4-FFF2-40B4-BE49-F238E27FC236}">
                <a16:creationId xmlns:a16="http://schemas.microsoft.com/office/drawing/2014/main" id="{63BFAEA9-4E39-4C1D-9215-9BA7988C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953" cy="2933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2C2E"/>
            </a:solidFill>
            <a:prstDash val="solid"/>
          </a:ln>
        </p:spPr>
      </p:sp>
      <p:sp>
        <p:nvSpPr>
          <p:cNvPr id="8" name="vlm-boundary">
            <a:extLst xmlns:a="http://schemas.openxmlformats.org/drawingml/2006/main">
              <a:ext uri="{FF2B5EF4-FFF2-40B4-BE49-F238E27FC236}">
                <a16:creationId xmlns:a16="http://schemas.microsoft.com/office/drawing/2014/main" id="{7DC7CEC2-79AD-432F-B8DC-A06DCBE3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10150"/>
            <a:ext cx="12192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结构化选择减少漂移，但细粒度病害识别仍弱</a:t>
            </a:r>
          </a:p>
        </p:txBody>
      </p:sp>
      <p:sp>
        <p:nvSpPr>
          <p:cNvPr id="9" name="vlm-caution">
            <a:extLst xmlns:a="http://schemas.openxmlformats.org/drawingml/2006/main">
              <a:ext uri="{FF2B5EF4-FFF2-40B4-BE49-F238E27FC236}">
                <a16:creationId xmlns:a16="http://schemas.microsoft.com/office/drawing/2014/main" id="{6FDAF819-D2B2-4D35-B463-129744B0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38800"/>
            <a:ext cx="12192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t>同一 5 图 15 问 smoke · few-shot 不是微调 · 未完成 LoRA/QLoRA</a:t>
            </a:r>
          </a:p>
        </p:txBody>
      </p:sp>
      <p:sp>
        <p:nvSpPr>
          <p:cNvPr id="10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D0907E69-2E25-401E-983A-38048E79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1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705ABF94-F298-4C91-B591-6437B6F1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38604839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ackground">
            <a:extLst xmlns:a="http://schemas.openxmlformats.org/drawingml/2006/main">
              <a:ext uri="{FF2B5EF4-FFF2-40B4-BE49-F238E27FC236}">
                <a16:creationId xmlns:a16="http://schemas.microsoft.com/office/drawing/2014/main" id="{2344F15B-4CFD-4A4A-806C-B1E1136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7"/>
          </a:solidFill>
        </p:spPr>
      </p:sp>
      <p:sp>
        <p:nvSpPr>
          <p:cNvPr id="2" name="slide-eyebrow">
            <a:extLst xmlns:a="http://schemas.openxmlformats.org/drawingml/2006/main">
              <a:ext uri="{FF2B5EF4-FFF2-40B4-BE49-F238E27FC236}">
                <a16:creationId xmlns:a16="http://schemas.microsoft.com/office/drawing/2014/main" id="{D64363FD-4C47-49EE-8B52-63B23449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RELEASE CANDIDATE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1F8303-941E-4FC4-B54F-B23B55047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728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1D1F"/>
                </a:solidFill>
                <a:latin typeface="PingFang SC"/>
                <a:ea typeface="PingFang SC"/>
                <a:cs typeface="PingFang SC"/>
              </a:defRPr>
            </a:pPr>
            <a:r>
              <a:t>结果必须能被重新检查</a:t>
            </a:r>
          </a:p>
        </p:txBody>
      </p:sp>
      <p:sp>
        <p:nvSpPr>
          <p:cNvPr id="4" name="slide-claim">
            <a:extLst xmlns:a="http://schemas.openxmlformats.org/drawingml/2006/main">
              <a:ext uri="{FF2B5EF4-FFF2-40B4-BE49-F238E27FC236}">
                <a16:creationId xmlns:a16="http://schemas.microsoft.com/office/drawing/2014/main" id="{3F0E1FC8-47E2-43F5-BAF1-65F982AA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287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week8-rc1 · manifest · claim ledger</a:t>
            </a:r>
          </a:p>
        </p:txBody>
      </p:sp>
      <p:sp>
        <p:nvSpPr>
          <p:cNvPr id="5" name="release-spine">
            <a:extLst xmlns:a="http://schemas.openxmlformats.org/drawingml/2006/main">
              <a:ext uri="{FF2B5EF4-FFF2-40B4-BE49-F238E27FC236}">
                <a16:creationId xmlns:a16="http://schemas.microsoft.com/office/drawing/2014/main" id="{F7B39650-7310-4321-A2B8-0A6A9C7D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76500"/>
            <a:ext cx="953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0071E3"/>
            </a:solidFill>
            <a:prstDash val="solid"/>
          </a:ln>
        </p:spPr>
      </p:sp>
      <p:sp>
        <p:nvSpPr>
          <p:cNvPr id="6" name="release-a">
            <a:extLst xmlns:a="http://schemas.openxmlformats.org/drawingml/2006/main">
              <a:ext uri="{FF2B5EF4-FFF2-40B4-BE49-F238E27FC236}">
                <a16:creationId xmlns:a16="http://schemas.microsoft.com/office/drawing/2014/main" id="{5173879C-B5CF-4801-85DE-7A88E866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050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01</a:t>
            </a:r>
          </a:p>
        </p:txBody>
      </p:sp>
      <p:sp>
        <p:nvSpPr>
          <p:cNvPr id="7" name="release-a-title">
            <a:extLst xmlns:a="http://schemas.openxmlformats.org/drawingml/2006/main">
              <a:ext uri="{FF2B5EF4-FFF2-40B4-BE49-F238E27FC236}">
                <a16:creationId xmlns:a16="http://schemas.microsoft.com/office/drawing/2014/main" id="{B69CDFEE-49DD-4FEF-BFD8-D211EBC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6695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clean lane</a:t>
            </a:r>
          </a:p>
        </p:txBody>
      </p:sp>
      <p:sp>
        <p:nvSpPr>
          <p:cNvPr id="8" name="release-a-copy">
            <a:extLst xmlns:a="http://schemas.openxmlformats.org/drawingml/2006/main">
              <a:ext uri="{FF2B5EF4-FFF2-40B4-BE49-F238E27FC236}">
                <a16:creationId xmlns:a16="http://schemas.microsoft.com/office/drawing/2014/main" id="{6B7B907F-F6DA-4635-B6E3-3297D4AF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798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6868B"/>
                </a:solidFill>
                <a:latin typeface="SF Pro Display"/>
                <a:ea typeface="SF Pro Display"/>
                <a:cs typeface="SF Pro Display"/>
              </a:defRPr>
            </a:pPr>
            <a:r>
              <a:t>226 passed · Ruff · ty · claims · smoke · build · CLI help</a:t>
            </a:r>
          </a:p>
        </p:txBody>
      </p:sp>
      <p:sp>
        <p:nvSpPr>
          <p:cNvPr id="9" name="release-b">
            <a:extLst xmlns:a="http://schemas.openxmlformats.org/drawingml/2006/main">
              <a:ext uri="{FF2B5EF4-FFF2-40B4-BE49-F238E27FC236}">
                <a16:creationId xmlns:a16="http://schemas.microsoft.com/office/drawing/2014/main" id="{4632CD12-FA13-4621-BA03-36B3E825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099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02</a:t>
            </a:r>
          </a:p>
        </p:txBody>
      </p:sp>
      <p:sp>
        <p:nvSpPr>
          <p:cNvPr id="10" name="release-b-title">
            <a:extLst xmlns:a="http://schemas.openxmlformats.org/drawingml/2006/main">
              <a:ext uri="{FF2B5EF4-FFF2-40B4-BE49-F238E27FC236}">
                <a16:creationId xmlns:a16="http://schemas.microsoft.com/office/drawing/2014/main" id="{07239430-7059-4C6F-9C85-05C65613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371850"/>
            <a:ext cx="26670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manifest</a:t>
            </a:r>
          </a:p>
        </p:txBody>
      </p:sp>
      <p:sp>
        <p:nvSpPr>
          <p:cNvPr id="11" name="release-b-copy">
            <a:extLst xmlns:a="http://schemas.openxmlformats.org/drawingml/2006/main">
              <a:ext uri="{FF2B5EF4-FFF2-40B4-BE49-F238E27FC236}">
                <a16:creationId xmlns:a16="http://schemas.microsoft.com/office/drawing/2014/main" id="{373BB5EB-A55D-4993-8F5E-954480B72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924300"/>
            <a:ext cx="798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6868B"/>
                </a:solidFill>
                <a:latin typeface="SF Pro Display"/>
                <a:ea typeface="SF Pro Display"/>
                <a:cs typeface="SF Pro Display"/>
              </a:defRPr>
            </a:pPr>
            <a:r>
              <a:t>logical path · SHA-256 · size · status</a:t>
            </a:r>
          </a:p>
        </p:txBody>
      </p:sp>
      <p:sp>
        <p:nvSpPr>
          <p:cNvPr id="12" name="release-c">
            <a:extLst xmlns:a="http://schemas.openxmlformats.org/drawingml/2006/main">
              <a:ext uri="{FF2B5EF4-FFF2-40B4-BE49-F238E27FC236}">
                <a16:creationId xmlns:a16="http://schemas.microsoft.com/office/drawing/2014/main" id="{C040446E-0C45-4406-8612-926A5A15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666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03</a:t>
            </a:r>
          </a:p>
        </p:txBody>
      </p:sp>
      <p:sp>
        <p:nvSpPr>
          <p:cNvPr id="13" name="release-c-title">
            <a:extLst xmlns:a="http://schemas.openxmlformats.org/drawingml/2006/main">
              <a:ext uri="{FF2B5EF4-FFF2-40B4-BE49-F238E27FC236}">
                <a16:creationId xmlns:a16="http://schemas.microsoft.com/office/drawing/2014/main" id="{860EB50F-A264-4869-8879-64C8ED90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476750"/>
            <a:ext cx="32385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D1D1F"/>
                </a:solidFill>
                <a:latin typeface="SF Pro Display"/>
                <a:ea typeface="SF Pro Display"/>
                <a:cs typeface="SF Pro Display"/>
              </a:defRPr>
            </a:pPr>
            <a:r>
              <a:t>claim ledger</a:t>
            </a:r>
          </a:p>
        </p:txBody>
      </p:sp>
      <p:sp>
        <p:nvSpPr>
          <p:cNvPr id="14" name="release-c-copy">
            <a:extLst xmlns:a="http://schemas.openxmlformats.org/drawingml/2006/main">
              <a:ext uri="{FF2B5EF4-FFF2-40B4-BE49-F238E27FC236}">
                <a16:creationId xmlns:a16="http://schemas.microsoft.com/office/drawing/2014/main" id="{79C169A5-28D3-4D2D-B39A-063586D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029200"/>
            <a:ext cx="798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86868B"/>
                </a:solidFill>
                <a:latin typeface="PingFang SC"/>
                <a:ea typeface="PingFang SC"/>
                <a:cs typeface="PingFang SC"/>
              </a:defRPr>
            </a:pPr>
            <a:r>
              <a:t>每个公开数字都携带证据路径与必要边界</a:t>
            </a:r>
          </a:p>
        </p:txBody>
      </p:sp>
      <p:sp>
        <p:nvSpPr>
          <p:cNvPr id="15" name="release-badge">
            <a:extLst xmlns:a="http://schemas.openxmlformats.org/drawingml/2006/main">
              <a:ext uri="{FF2B5EF4-FFF2-40B4-BE49-F238E27FC236}">
                <a16:creationId xmlns:a16="http://schemas.microsoft.com/office/drawing/2014/main" id="{E2037A6F-3257-4129-8317-ECD9ECCD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47750"/>
            <a:ext cx="2381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0071E3"/>
                </a:solidFill>
                <a:latin typeface="SF Pro Display"/>
                <a:ea typeface="SF Pro Display"/>
                <a:cs typeface="SF Pro Display"/>
              </a:defRPr>
            </a:pPr>
            <a:r>
              <a:t>week8-rc1</a:t>
            </a:r>
          </a:p>
        </p:txBody>
      </p:sp>
      <p:sp>
        <p:nvSpPr>
          <p:cNvPr id="16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3652614B-25A5-4D60-B762-C6823587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7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DA5196C9-95BB-4AE1-92D7-9E724282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1A1A6"/>
                </a:solidFill>
                <a:latin typeface="SF Pro Display"/>
                <a:ea typeface="SF Pro Display"/>
                <a:cs typeface="SF Pro Display"/>
              </a:defRPr>
            </a:pPr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3739504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background">
            <a:extLst xmlns:a="http://schemas.openxmlformats.org/drawingml/2006/main">
              <a:ext uri="{FF2B5EF4-FFF2-40B4-BE49-F238E27FC236}">
                <a16:creationId xmlns:a16="http://schemas.microsoft.com/office/drawing/2014/main" id="{3F163742-D754-40D5-83C9-4397089B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" name="future-kicker">
            <a:extLst xmlns:a="http://schemas.openxmlformats.org/drawingml/2006/main">
              <a:ext uri="{FF2B5EF4-FFF2-40B4-BE49-F238E27FC236}">
                <a16:creationId xmlns:a16="http://schemas.microsoft.com/office/drawing/2014/main" id="{9EC20D01-F281-4118-8579-604E814C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429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NEXT RESEARCH</a:t>
            </a:r>
          </a:p>
        </p:txBody>
      </p:sp>
      <p:sp>
        <p:nvSpPr>
          <p:cNvPr id="3" name="future-title">
            <a:extLst xmlns:a="http://schemas.openxmlformats.org/drawingml/2006/main">
              <a:ext uri="{FF2B5EF4-FFF2-40B4-BE49-F238E27FC236}">
                <a16:creationId xmlns:a16="http://schemas.microsoft.com/office/drawing/2014/main" id="{41225400-9EBD-4AF7-B4F7-207A3196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2500"/>
            <a:ext cx="10477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下一步不是再堆功能</a:t>
            </a:r>
          </a:p>
        </p:txBody>
      </p:sp>
      <p:sp>
        <p:nvSpPr>
          <p:cNvPr id="4" name="future-1">
            <a:extLst xmlns:a="http://schemas.openxmlformats.org/drawingml/2006/main">
              <a:ext uri="{FF2B5EF4-FFF2-40B4-BE49-F238E27FC236}">
                <a16:creationId xmlns:a16="http://schemas.microsoft.com/office/drawing/2014/main" id="{CF3BED1F-8587-430F-994D-D2B7E08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01</a:t>
            </a:r>
          </a:p>
        </p:txBody>
      </p:sp>
      <p:sp>
        <p:nvSpPr>
          <p:cNvPr id="5" name="future-1-title">
            <a:extLst xmlns:a="http://schemas.openxmlformats.org/drawingml/2006/main">
              <a:ext uri="{FF2B5EF4-FFF2-40B4-BE49-F238E27FC236}">
                <a16:creationId xmlns:a16="http://schemas.microsoft.com/office/drawing/2014/main" id="{3286A92D-841D-4A46-B7F1-25E92242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0"/>
            <a:ext cx="4000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实体隔离 split</a:t>
            </a:r>
          </a:p>
        </p:txBody>
      </p:sp>
      <p:sp>
        <p:nvSpPr>
          <p:cNvPr id="6" name="future-1-line">
            <a:extLst xmlns:a="http://schemas.openxmlformats.org/drawingml/2006/main">
              <a:ext uri="{FF2B5EF4-FFF2-40B4-BE49-F238E27FC236}">
                <a16:creationId xmlns:a16="http://schemas.microsoft.com/office/drawing/2014/main" id="{7339E38F-DCC5-455C-824B-1032D8A1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971800"/>
            <a:ext cx="7810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2C2E"/>
            </a:solidFill>
            <a:prstDash val="solid"/>
          </a:ln>
        </p:spPr>
      </p:sp>
      <p:sp>
        <p:nvSpPr>
          <p:cNvPr id="7" name="future-2">
            <a:extLst xmlns:a="http://schemas.openxmlformats.org/drawingml/2006/main">
              <a:ext uri="{FF2B5EF4-FFF2-40B4-BE49-F238E27FC236}">
                <a16:creationId xmlns:a16="http://schemas.microsoft.com/office/drawing/2014/main" id="{0521049F-396E-4A76-ADAC-59D73F9A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997FF"/>
                </a:solidFill>
                <a:latin typeface="SF Pro Display"/>
                <a:ea typeface="SF Pro Display"/>
                <a:cs typeface="SF Pro Display"/>
              </a:defRPr>
            </a:pPr>
            <a:r>
              <a:t>02</a:t>
            </a:r>
          </a:p>
        </p:txBody>
      </p:sp>
      <p:sp>
        <p:nvSpPr>
          <p:cNvPr id="8" name="future-2-title">
            <a:extLst xmlns:a="http://schemas.openxmlformats.org/drawingml/2006/main">
              <a:ext uri="{FF2B5EF4-FFF2-40B4-BE49-F238E27FC236}">
                <a16:creationId xmlns:a16="http://schemas.microsoft.com/office/drawing/2014/main" id="{47F877F7-04E1-4295-B4D5-78BE0EF5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257550"/>
            <a:ext cx="4000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多 seed 确认</a:t>
            </a:r>
          </a:p>
        </p:txBody>
      </p:sp>
      <p:sp>
        <p:nvSpPr>
          <p:cNvPr id="9" name="future-2-line">
            <a:extLst xmlns:a="http://schemas.openxmlformats.org/drawingml/2006/main">
              <a:ext uri="{FF2B5EF4-FFF2-40B4-BE49-F238E27FC236}">
                <a16:creationId xmlns:a16="http://schemas.microsoft.com/office/drawing/2014/main" id="{BBF02619-56F5-4F12-ADF0-75F8DD4A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943350"/>
            <a:ext cx="6667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2C2E"/>
            </a:solidFill>
            <a:prstDash val="solid"/>
          </a:ln>
        </p:spPr>
      </p:sp>
      <p:sp>
        <p:nvSpPr>
          <p:cNvPr id="10" name="future-3">
            <a:extLst xmlns:a="http://schemas.openxmlformats.org/drawingml/2006/main">
              <a:ext uri="{FF2B5EF4-FFF2-40B4-BE49-F238E27FC236}">
                <a16:creationId xmlns:a16="http://schemas.microsoft.com/office/drawing/2014/main" id="{4BEBB075-4C7D-4116-97CE-33794968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F0A"/>
                </a:solidFill>
                <a:latin typeface="SF Pro Display"/>
                <a:ea typeface="SF Pro Display"/>
                <a:cs typeface="SF Pro Display"/>
              </a:defRPr>
            </a:pPr>
            <a:r>
              <a:t>03</a:t>
            </a:r>
          </a:p>
        </p:txBody>
      </p:sp>
      <p:sp>
        <p:nvSpPr>
          <p:cNvPr id="11" name="future-3-title">
            <a:extLst xmlns:a="http://schemas.openxmlformats.org/drawingml/2006/main">
              <a:ext uri="{FF2B5EF4-FFF2-40B4-BE49-F238E27FC236}">
                <a16:creationId xmlns:a16="http://schemas.microsoft.com/office/drawing/2014/main" id="{B53A8699-6559-4597-ADD2-1B569E82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29100"/>
            <a:ext cx="4000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田间数据验证</a:t>
            </a:r>
          </a:p>
        </p:txBody>
      </p:sp>
      <p:sp>
        <p:nvSpPr>
          <p:cNvPr id="12" name="future-3-line">
            <a:extLst xmlns:a="http://schemas.openxmlformats.org/drawingml/2006/main">
              <a:ext uri="{FF2B5EF4-FFF2-40B4-BE49-F238E27FC236}">
                <a16:creationId xmlns:a16="http://schemas.microsoft.com/office/drawing/2014/main" id="{1CCDE633-43E3-41F9-8483-A5C31490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14900"/>
            <a:ext cx="5524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2C2E"/>
            </a:solidFill>
            <a:prstDash val="solid"/>
          </a:ln>
        </p:spPr>
      </p:sp>
      <p:sp>
        <p:nvSpPr>
          <p:cNvPr id="13" name="future-4">
            <a:extLst xmlns:a="http://schemas.openxmlformats.org/drawingml/2006/main">
              <a:ext uri="{FF2B5EF4-FFF2-40B4-BE49-F238E27FC236}">
                <a16:creationId xmlns:a16="http://schemas.microsoft.com/office/drawing/2014/main" id="{9B64AD5F-0FE3-431E-AE18-CFA61729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76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9F0A"/>
                </a:solidFill>
                <a:latin typeface="SF Pro Display"/>
                <a:ea typeface="SF Pro Display"/>
                <a:cs typeface="SF Pro Display"/>
              </a:defRPr>
            </a:pPr>
            <a:r>
              <a:t>04</a:t>
            </a:r>
          </a:p>
        </p:txBody>
      </p:sp>
      <p:sp>
        <p:nvSpPr>
          <p:cNvPr id="14" name="future-4-title">
            <a:extLst xmlns:a="http://schemas.openxmlformats.org/drawingml/2006/main">
              <a:ext uri="{FF2B5EF4-FFF2-40B4-BE49-F238E27FC236}">
                <a16:creationId xmlns:a16="http://schemas.microsoft.com/office/drawing/2014/main" id="{A9FB132F-4A0C-410C-8DAF-83C8A434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00650"/>
            <a:ext cx="4000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t>完整人工审计</a:t>
            </a:r>
          </a:p>
        </p:txBody>
      </p:sp>
      <p:sp>
        <p:nvSpPr>
          <p:cNvPr id="15" name="future-close">
            <a:extLst xmlns:a="http://schemas.openxmlformats.org/drawingml/2006/main">
              <a:ext uri="{FF2B5EF4-FFF2-40B4-BE49-F238E27FC236}">
                <a16:creationId xmlns:a16="http://schemas.microsoft.com/office/drawing/2014/main" id="{2C62A7D3-5DC5-492A-881E-05BC8E89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19700"/>
            <a:ext cx="4762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400" b="1">
                <a:solidFill>
                  <a:srgbClr val="A1A1A6"/>
                </a:solidFill>
                <a:latin typeface="PingFang SC"/>
                <a:ea typeface="PingFang SC"/>
                <a:cs typeface="PingFang SC"/>
              </a:defRPr>
            </a:pPr>
            <a:r>
              <a:t>先补齐证据，再扩展功能。</a:t>
            </a:r>
          </a:p>
        </p:txBody>
      </p:sp>
      <p:sp>
        <p:nvSpPr>
          <p:cNvPr id="16" name="footer-wordmark">
            <a:extLst xmlns:a="http://schemas.openxmlformats.org/drawingml/2006/main">
              <a:ext uri="{FF2B5EF4-FFF2-40B4-BE49-F238E27FC236}">
                <a16:creationId xmlns:a16="http://schemas.microsoft.com/office/drawing/2014/main" id="{B682A42B-D573-4177-9CCA-008DF6BA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PlantDiseaseAI</a:t>
            </a:r>
          </a:p>
        </p:txBody>
      </p:sp>
      <p:sp>
        <p:nvSpPr>
          <p:cNvPr id="17" name="footer-slide-number">
            <a:extLst xmlns:a="http://schemas.openxmlformats.org/drawingml/2006/main">
              <a:ext uri="{FF2B5EF4-FFF2-40B4-BE49-F238E27FC236}">
                <a16:creationId xmlns:a16="http://schemas.microsoft.com/office/drawing/2014/main" id="{8DE3FACA-EB62-4C09-88D2-7D566E17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62700"/>
            <a:ext cx="3238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77588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2026-07-16T15:15:45.9450000Z</dcterms:created>
  <dcterms:modified xsi:type="dcterms:W3CDTF">2026-07-16T15:15:45.9450000Z</dcterms:modified>
</coreProperties>
</file>